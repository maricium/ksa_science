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3"/>
  </p:notesMasterIdLst>
  <p:sldIdLst>
    <p:sldId id="272" r:id="rId5"/>
    <p:sldId id="281" r:id="rId6"/>
    <p:sldId id="280" r:id="rId7"/>
    <p:sldId id="273" r:id="rId8"/>
    <p:sldId id="1421" r:id="rId9"/>
    <p:sldId id="1419" r:id="rId10"/>
    <p:sldId id="275" r:id="rId11"/>
    <p:sldId id="385" r:id="rId12"/>
    <p:sldId id="387" r:id="rId13"/>
    <p:sldId id="388" r:id="rId14"/>
    <p:sldId id="389" r:id="rId15"/>
    <p:sldId id="1422" r:id="rId16"/>
    <p:sldId id="293" r:id="rId17"/>
    <p:sldId id="381" r:id="rId18"/>
    <p:sldId id="382" r:id="rId19"/>
    <p:sldId id="357" r:id="rId20"/>
    <p:sldId id="409" r:id="rId21"/>
    <p:sldId id="410" r:id="rId22"/>
    <p:sldId id="392" r:id="rId23"/>
    <p:sldId id="395" r:id="rId24"/>
    <p:sldId id="396" r:id="rId25"/>
    <p:sldId id="393" r:id="rId26"/>
    <p:sldId id="394" r:id="rId27"/>
    <p:sldId id="397" r:id="rId28"/>
    <p:sldId id="279" r:id="rId29"/>
    <p:sldId id="1423" r:id="rId30"/>
    <p:sldId id="1424" r:id="rId31"/>
    <p:sldId id="1425" r:id="rId32"/>
    <p:sldId id="1426" r:id="rId33"/>
    <p:sldId id="1427" r:id="rId34"/>
    <p:sldId id="1428" r:id="rId35"/>
    <p:sldId id="1429" r:id="rId36"/>
    <p:sldId id="1430" r:id="rId37"/>
    <p:sldId id="1431" r:id="rId38"/>
    <p:sldId id="1432" r:id="rId39"/>
    <p:sldId id="1433" r:id="rId40"/>
    <p:sldId id="1434" r:id="rId41"/>
    <p:sldId id="3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4"/>
    <p:restoredTop sz="74500"/>
  </p:normalViewPr>
  <p:slideViewPr>
    <p:cSldViewPr snapToGrid="0">
      <p:cViewPr>
        <p:scale>
          <a:sx n="59" d="100"/>
          <a:sy n="59" d="100"/>
        </p:scale>
        <p:origin x="1192" y="8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B0610-311D-4348-915B-DDD1A9938AEC}" type="doc">
      <dgm:prSet loTypeId="urn:microsoft.com/office/officeart/2005/8/layout/chevron1" loCatId="process" qsTypeId="urn:microsoft.com/office/officeart/2005/8/quickstyle/simple1" qsCatId="simple" csTypeId="urn:microsoft.com/office/officeart/2005/8/colors/accent1_2" csCatId="accent1" phldr="1"/>
      <dgm:spPr/>
    </dgm:pt>
    <dgm:pt modelId="{94FF8DC1-DFE2-4E07-A857-EE722082E6D3}">
      <dgm:prSet phldrT="[Text]" phldr="0"/>
      <dgm:spPr/>
      <dgm:t>
        <a:bodyPr/>
        <a:lstStyle/>
        <a:p>
          <a:pPr rtl="0"/>
          <a:r>
            <a:rPr lang="en-US">
              <a:latin typeface="Aptos Display" panose="02110004020202020204"/>
            </a:rPr>
            <a:t>Lesson 1</a:t>
          </a:r>
          <a:endParaRPr lang="en-US"/>
        </a:p>
      </dgm:t>
    </dgm:pt>
    <dgm:pt modelId="{98700FB0-8142-45AF-A9DB-336DC6E4FF2E}" type="parTrans" cxnId="{07CB7721-BB66-45F0-BA6D-1132CACBC270}">
      <dgm:prSet/>
      <dgm:spPr/>
      <dgm:t>
        <a:bodyPr/>
        <a:lstStyle/>
        <a:p>
          <a:endParaRPr lang="en-US"/>
        </a:p>
      </dgm:t>
    </dgm:pt>
    <dgm:pt modelId="{4D5F3DE0-AEA4-470F-B496-327CC722D6AE}" type="sibTrans" cxnId="{07CB7721-BB66-45F0-BA6D-1132CACBC270}">
      <dgm:prSet/>
      <dgm:spPr/>
      <dgm:t>
        <a:bodyPr/>
        <a:lstStyle/>
        <a:p>
          <a:endParaRPr lang="en-US"/>
        </a:p>
      </dgm:t>
    </dgm:pt>
    <dgm:pt modelId="{8731E2D6-B6F0-4671-8C0F-F345E4EAE7EA}">
      <dgm:prSet phldrT="[Text]" phldr="0"/>
      <dgm:spPr/>
      <dgm:t>
        <a:bodyPr/>
        <a:lstStyle/>
        <a:p>
          <a:pPr rtl="0"/>
          <a:r>
            <a:rPr lang="en-US">
              <a:latin typeface="Aptos Display" panose="02110004020202020204"/>
            </a:rPr>
            <a:t>Lesson 2</a:t>
          </a:r>
        </a:p>
      </dgm:t>
    </dgm:pt>
    <dgm:pt modelId="{337CC7F5-FB13-4C57-A1A9-F99882EBFF13}" type="parTrans" cxnId="{807A06A0-C873-4B4A-B2A9-2F706D1FF34D}">
      <dgm:prSet/>
      <dgm:spPr/>
      <dgm:t>
        <a:bodyPr/>
        <a:lstStyle/>
        <a:p>
          <a:endParaRPr lang="en-US"/>
        </a:p>
      </dgm:t>
    </dgm:pt>
    <dgm:pt modelId="{9E1BF1F3-D241-4BD3-9912-EE4EB4FE4AD0}" type="sibTrans" cxnId="{807A06A0-C873-4B4A-B2A9-2F706D1FF34D}">
      <dgm:prSet/>
      <dgm:spPr/>
      <dgm:t>
        <a:bodyPr/>
        <a:lstStyle/>
        <a:p>
          <a:endParaRPr lang="en-US"/>
        </a:p>
      </dgm:t>
    </dgm:pt>
    <dgm:pt modelId="{5C329195-4BF1-4FAE-9B65-2268C4FF0177}">
      <dgm:prSet phldrT="[Text]" phldr="0"/>
      <dgm:spPr/>
      <dgm:t>
        <a:bodyPr/>
        <a:lstStyle/>
        <a:p>
          <a:pPr rtl="0"/>
          <a:r>
            <a:rPr lang="en-US">
              <a:latin typeface="Aptos Display" panose="02110004020202020204"/>
            </a:rPr>
            <a:t>Lesson 3</a:t>
          </a:r>
        </a:p>
      </dgm:t>
    </dgm:pt>
    <dgm:pt modelId="{179CF818-26A5-4364-8107-FC1DD8FD5AB3}" type="parTrans" cxnId="{4FFFA4CC-5036-4A5C-AF62-274EB3408F2D}">
      <dgm:prSet/>
      <dgm:spPr/>
      <dgm:t>
        <a:bodyPr/>
        <a:lstStyle/>
        <a:p>
          <a:endParaRPr lang="en-US"/>
        </a:p>
      </dgm:t>
    </dgm:pt>
    <dgm:pt modelId="{752A639A-8CC7-453B-B946-79E92EF462C6}" type="sibTrans" cxnId="{4FFFA4CC-5036-4A5C-AF62-274EB3408F2D}">
      <dgm:prSet/>
      <dgm:spPr/>
      <dgm:t>
        <a:bodyPr/>
        <a:lstStyle/>
        <a:p>
          <a:endParaRPr lang="en-US"/>
        </a:p>
      </dgm:t>
    </dgm:pt>
    <dgm:pt modelId="{A52461F9-6676-4EE9-97A1-CD4390B7A899}">
      <dgm:prSet phldr="0"/>
      <dgm:spPr/>
      <dgm:t>
        <a:bodyPr/>
        <a:lstStyle/>
        <a:p>
          <a:pPr rtl="0"/>
          <a:r>
            <a:rPr lang="en-US">
              <a:latin typeface="Aptos Display" panose="02110004020202020204"/>
            </a:rPr>
            <a:t>Lesson 4</a:t>
          </a:r>
        </a:p>
      </dgm:t>
    </dgm:pt>
    <dgm:pt modelId="{A19FE63A-6384-49DC-9085-626402609174}" type="parTrans" cxnId="{F68D6A07-3BA8-4B79-B18A-F0C483E12D83}">
      <dgm:prSet/>
      <dgm:spPr/>
      <dgm:t>
        <a:bodyPr/>
        <a:lstStyle/>
        <a:p>
          <a:endParaRPr lang="en-US"/>
        </a:p>
      </dgm:t>
    </dgm:pt>
    <dgm:pt modelId="{65E597CD-8CF1-49B6-8CC2-E42862CBAE4C}" type="sibTrans" cxnId="{F68D6A07-3BA8-4B79-B18A-F0C483E12D83}">
      <dgm:prSet/>
      <dgm:spPr/>
      <dgm:t>
        <a:bodyPr/>
        <a:lstStyle/>
        <a:p>
          <a:endParaRPr lang="en-US"/>
        </a:p>
      </dgm:t>
    </dgm:pt>
    <dgm:pt modelId="{9A193C4C-21B9-4EF6-8303-A913451C7365}">
      <dgm:prSet phldr="0"/>
      <dgm:spPr/>
      <dgm:t>
        <a:bodyPr/>
        <a:lstStyle/>
        <a:p>
          <a:pPr rtl="0"/>
          <a:r>
            <a:rPr lang="en-US">
              <a:latin typeface="Aptos Display" panose="02110004020202020204"/>
            </a:rPr>
            <a:t>Lesson 5</a:t>
          </a:r>
        </a:p>
      </dgm:t>
    </dgm:pt>
    <dgm:pt modelId="{1DF00475-CDC9-4168-9E50-A23E3DC7266C}" type="parTrans" cxnId="{73866023-ED0B-4EDF-B999-ABED7595BB32}">
      <dgm:prSet/>
      <dgm:spPr/>
      <dgm:t>
        <a:bodyPr/>
        <a:lstStyle/>
        <a:p>
          <a:endParaRPr lang="en-US"/>
        </a:p>
      </dgm:t>
    </dgm:pt>
    <dgm:pt modelId="{FF815E0A-5F33-4E02-9B58-E227E7B01CDE}" type="sibTrans" cxnId="{73866023-ED0B-4EDF-B999-ABED7595BB32}">
      <dgm:prSet/>
      <dgm:spPr/>
      <dgm:t>
        <a:bodyPr/>
        <a:lstStyle/>
        <a:p>
          <a:endParaRPr lang="en-US"/>
        </a:p>
      </dgm:t>
    </dgm:pt>
    <dgm:pt modelId="{03F5FEED-92F6-47A1-A88B-1653A57FE17A}">
      <dgm:prSet phldr="0"/>
      <dgm:spPr/>
      <dgm:t>
        <a:bodyPr/>
        <a:lstStyle/>
        <a:p>
          <a:pPr rtl="0"/>
          <a:r>
            <a:rPr lang="en-US">
              <a:latin typeface="Aptos Display" panose="02110004020202020204"/>
            </a:rPr>
            <a:t>Lesson 6</a:t>
          </a:r>
        </a:p>
      </dgm:t>
    </dgm:pt>
    <dgm:pt modelId="{3BCF4CE6-7ACA-4D2F-AC5B-4D1D90E55824}" type="parTrans" cxnId="{E5AADDE9-3773-4032-A7B9-885DDFAD8B97}">
      <dgm:prSet/>
      <dgm:spPr/>
      <dgm:t>
        <a:bodyPr/>
        <a:lstStyle/>
        <a:p>
          <a:endParaRPr lang="en-US"/>
        </a:p>
      </dgm:t>
    </dgm:pt>
    <dgm:pt modelId="{EF539413-B11F-4304-99A4-66005D187C6E}" type="sibTrans" cxnId="{E5AADDE9-3773-4032-A7B9-885DDFAD8B97}">
      <dgm:prSet/>
      <dgm:spPr/>
      <dgm:t>
        <a:bodyPr/>
        <a:lstStyle/>
        <a:p>
          <a:endParaRPr lang="en-US"/>
        </a:p>
      </dgm:t>
    </dgm:pt>
    <dgm:pt modelId="{668E6D2D-2A4B-4E0B-BFD2-D030B22D2C93}">
      <dgm:prSet phldr="0"/>
      <dgm:spPr/>
      <dgm:t>
        <a:bodyPr/>
        <a:lstStyle/>
        <a:p>
          <a:pPr rtl="0"/>
          <a:r>
            <a:rPr lang="en-US">
              <a:latin typeface="Aptos Display" panose="02110004020202020204"/>
            </a:rPr>
            <a:t>Lesson 8</a:t>
          </a:r>
        </a:p>
      </dgm:t>
    </dgm:pt>
    <dgm:pt modelId="{E8729609-8474-4F93-9322-9868A4503E5E}" type="parTrans" cxnId="{8B051765-9AEA-44C2-8BA5-BC5D2A784D07}">
      <dgm:prSet/>
      <dgm:spPr/>
      <dgm:t>
        <a:bodyPr/>
        <a:lstStyle/>
        <a:p>
          <a:endParaRPr lang="en-US"/>
        </a:p>
      </dgm:t>
    </dgm:pt>
    <dgm:pt modelId="{E413D3A7-5D9B-4C38-8A54-ED080E157E6D}" type="sibTrans" cxnId="{8B051765-9AEA-44C2-8BA5-BC5D2A784D07}">
      <dgm:prSet/>
      <dgm:spPr/>
      <dgm:t>
        <a:bodyPr/>
        <a:lstStyle/>
        <a:p>
          <a:endParaRPr lang="en-US"/>
        </a:p>
      </dgm:t>
    </dgm:pt>
    <dgm:pt modelId="{EA4350A7-521B-4006-947C-92F6CD8F489E}">
      <dgm:prSet phldr="0"/>
      <dgm:spPr/>
      <dgm:t>
        <a:bodyPr/>
        <a:lstStyle/>
        <a:p>
          <a:pPr rtl="0"/>
          <a:r>
            <a:rPr lang="en-US">
              <a:latin typeface="Aptos Display" panose="02110004020202020204"/>
            </a:rPr>
            <a:t>Lesson 9</a:t>
          </a:r>
        </a:p>
      </dgm:t>
    </dgm:pt>
    <dgm:pt modelId="{320FF8BA-F2BB-4139-909D-045AF6222395}" type="parTrans" cxnId="{0A1676ED-D067-4793-98D9-564BAE2FD75B}">
      <dgm:prSet/>
      <dgm:spPr/>
      <dgm:t>
        <a:bodyPr/>
        <a:lstStyle/>
        <a:p>
          <a:endParaRPr lang="en-US"/>
        </a:p>
      </dgm:t>
    </dgm:pt>
    <dgm:pt modelId="{BDAD7E01-BFCD-4DC7-AC09-202A787D99BB}" type="sibTrans" cxnId="{0A1676ED-D067-4793-98D9-564BAE2FD75B}">
      <dgm:prSet/>
      <dgm:spPr/>
      <dgm:t>
        <a:bodyPr/>
        <a:lstStyle/>
        <a:p>
          <a:endParaRPr lang="en-US"/>
        </a:p>
      </dgm:t>
    </dgm:pt>
    <dgm:pt modelId="{DA35A0F9-9656-4FA0-91C9-3A8CA933A4F9}">
      <dgm:prSet phldr="0"/>
      <dgm:spPr/>
      <dgm:t>
        <a:bodyPr/>
        <a:lstStyle/>
        <a:p>
          <a:pPr rtl="0"/>
          <a:r>
            <a:rPr lang="en-US">
              <a:latin typeface="Aptos Display" panose="02110004020202020204"/>
            </a:rPr>
            <a:t>Lesson 10</a:t>
          </a:r>
        </a:p>
      </dgm:t>
    </dgm:pt>
    <dgm:pt modelId="{5CE3DBDB-7431-447E-8A55-EB0425AFF8FF}" type="parTrans" cxnId="{6015110E-856E-4923-8265-192DCAE0654C}">
      <dgm:prSet/>
      <dgm:spPr/>
      <dgm:t>
        <a:bodyPr/>
        <a:lstStyle/>
        <a:p>
          <a:endParaRPr lang="en-US"/>
        </a:p>
      </dgm:t>
    </dgm:pt>
    <dgm:pt modelId="{5FA867F8-9D05-4E3E-96BD-8B008F35D90C}" type="sibTrans" cxnId="{6015110E-856E-4923-8265-192DCAE0654C}">
      <dgm:prSet/>
      <dgm:spPr/>
      <dgm:t>
        <a:bodyPr/>
        <a:lstStyle/>
        <a:p>
          <a:endParaRPr lang="en-US"/>
        </a:p>
      </dgm:t>
    </dgm:pt>
    <dgm:pt modelId="{A0040AD4-FF20-40CE-AE6C-2827E1B4FC99}">
      <dgm:prSet phldr="0"/>
      <dgm:spPr/>
      <dgm:t>
        <a:bodyPr/>
        <a:lstStyle/>
        <a:p>
          <a:pPr rtl="0"/>
          <a:r>
            <a:rPr lang="en-US">
              <a:latin typeface="Aptos Display" panose="02110004020202020204"/>
            </a:rPr>
            <a:t>Lesson 7</a:t>
          </a:r>
        </a:p>
      </dgm:t>
    </dgm:pt>
    <dgm:pt modelId="{4A8033A3-0C99-4356-9EE8-F5155DED00AE}" type="parTrans" cxnId="{3D35672C-EFE4-443B-9E2E-310026CEC04C}">
      <dgm:prSet/>
      <dgm:spPr/>
      <dgm:t>
        <a:bodyPr/>
        <a:lstStyle/>
        <a:p>
          <a:endParaRPr lang="en-US"/>
        </a:p>
      </dgm:t>
    </dgm:pt>
    <dgm:pt modelId="{62253709-0C06-4719-8708-911BC00A8974}" type="sibTrans" cxnId="{3D35672C-EFE4-443B-9E2E-310026CEC04C}">
      <dgm:prSet/>
      <dgm:spPr/>
      <dgm:t>
        <a:bodyPr/>
        <a:lstStyle/>
        <a:p>
          <a:endParaRPr lang="en-US"/>
        </a:p>
      </dgm:t>
    </dgm:pt>
    <dgm:pt modelId="{C8ACF9E2-E672-4C51-9494-F4DC60668984}" type="pres">
      <dgm:prSet presAssocID="{635B0610-311D-4348-915B-DDD1A9938AEC}" presName="Name0" presStyleCnt="0">
        <dgm:presLayoutVars>
          <dgm:dir/>
          <dgm:animLvl val="lvl"/>
          <dgm:resizeHandles val="exact"/>
        </dgm:presLayoutVars>
      </dgm:prSet>
      <dgm:spPr/>
    </dgm:pt>
    <dgm:pt modelId="{68B8EBFE-9EDA-45AC-8EBC-570918CF1F0A}" type="pres">
      <dgm:prSet presAssocID="{94FF8DC1-DFE2-4E07-A857-EE722082E6D3}" presName="parTxOnly" presStyleLbl="node1" presStyleIdx="0" presStyleCnt="10">
        <dgm:presLayoutVars>
          <dgm:chMax val="0"/>
          <dgm:chPref val="0"/>
          <dgm:bulletEnabled val="1"/>
        </dgm:presLayoutVars>
      </dgm:prSet>
      <dgm:spPr/>
    </dgm:pt>
    <dgm:pt modelId="{56180EC6-0166-471A-9DA1-C6886C0EB9C7}" type="pres">
      <dgm:prSet presAssocID="{4D5F3DE0-AEA4-470F-B496-327CC722D6AE}" presName="parTxOnlySpace" presStyleCnt="0"/>
      <dgm:spPr/>
    </dgm:pt>
    <dgm:pt modelId="{BB6DF1F9-503C-4015-95D9-C36337738F20}" type="pres">
      <dgm:prSet presAssocID="{8731E2D6-B6F0-4671-8C0F-F345E4EAE7EA}" presName="parTxOnly" presStyleLbl="node1" presStyleIdx="1" presStyleCnt="10">
        <dgm:presLayoutVars>
          <dgm:chMax val="0"/>
          <dgm:chPref val="0"/>
          <dgm:bulletEnabled val="1"/>
        </dgm:presLayoutVars>
      </dgm:prSet>
      <dgm:spPr/>
    </dgm:pt>
    <dgm:pt modelId="{F595DFB2-E8AF-427C-B4FF-10F9B97954B1}" type="pres">
      <dgm:prSet presAssocID="{9E1BF1F3-D241-4BD3-9912-EE4EB4FE4AD0}" presName="parTxOnlySpace" presStyleCnt="0"/>
      <dgm:spPr/>
    </dgm:pt>
    <dgm:pt modelId="{DE182856-3BE8-4EFE-A29A-5BEF77535E43}" type="pres">
      <dgm:prSet presAssocID="{5C329195-4BF1-4FAE-9B65-2268C4FF0177}" presName="parTxOnly" presStyleLbl="node1" presStyleIdx="2" presStyleCnt="10">
        <dgm:presLayoutVars>
          <dgm:chMax val="0"/>
          <dgm:chPref val="0"/>
          <dgm:bulletEnabled val="1"/>
        </dgm:presLayoutVars>
      </dgm:prSet>
      <dgm:spPr/>
    </dgm:pt>
    <dgm:pt modelId="{BE68944F-2D35-4C51-A4FD-D95E65C35504}" type="pres">
      <dgm:prSet presAssocID="{752A639A-8CC7-453B-B946-79E92EF462C6}" presName="parTxOnlySpace" presStyleCnt="0"/>
      <dgm:spPr/>
    </dgm:pt>
    <dgm:pt modelId="{14674A6A-7936-4E05-BD7A-0E91412AA42E}" type="pres">
      <dgm:prSet presAssocID="{A52461F9-6676-4EE9-97A1-CD4390B7A899}" presName="parTxOnly" presStyleLbl="node1" presStyleIdx="3" presStyleCnt="10">
        <dgm:presLayoutVars>
          <dgm:chMax val="0"/>
          <dgm:chPref val="0"/>
          <dgm:bulletEnabled val="1"/>
        </dgm:presLayoutVars>
      </dgm:prSet>
      <dgm:spPr/>
    </dgm:pt>
    <dgm:pt modelId="{DCBC511F-1DC0-4373-84A4-703EAB97E393}" type="pres">
      <dgm:prSet presAssocID="{65E597CD-8CF1-49B6-8CC2-E42862CBAE4C}" presName="parTxOnlySpace" presStyleCnt="0"/>
      <dgm:spPr/>
    </dgm:pt>
    <dgm:pt modelId="{1EDDAC8A-AF1B-41CF-BBA6-E7E6BBF11B52}" type="pres">
      <dgm:prSet presAssocID="{9A193C4C-21B9-4EF6-8303-A913451C7365}" presName="parTxOnly" presStyleLbl="node1" presStyleIdx="4" presStyleCnt="10">
        <dgm:presLayoutVars>
          <dgm:chMax val="0"/>
          <dgm:chPref val="0"/>
          <dgm:bulletEnabled val="1"/>
        </dgm:presLayoutVars>
      </dgm:prSet>
      <dgm:spPr/>
    </dgm:pt>
    <dgm:pt modelId="{19C10A48-7246-4BF4-BF07-32D8D275C2C4}" type="pres">
      <dgm:prSet presAssocID="{FF815E0A-5F33-4E02-9B58-E227E7B01CDE}" presName="parTxOnlySpace" presStyleCnt="0"/>
      <dgm:spPr/>
    </dgm:pt>
    <dgm:pt modelId="{1ACCC987-2AC2-4EE5-ACE7-6DDFA8547BDF}" type="pres">
      <dgm:prSet presAssocID="{03F5FEED-92F6-47A1-A88B-1653A57FE17A}" presName="parTxOnly" presStyleLbl="node1" presStyleIdx="5" presStyleCnt="10">
        <dgm:presLayoutVars>
          <dgm:chMax val="0"/>
          <dgm:chPref val="0"/>
          <dgm:bulletEnabled val="1"/>
        </dgm:presLayoutVars>
      </dgm:prSet>
      <dgm:spPr/>
    </dgm:pt>
    <dgm:pt modelId="{7B4CB7AE-D910-4943-877F-CC0737C3752F}" type="pres">
      <dgm:prSet presAssocID="{EF539413-B11F-4304-99A4-66005D187C6E}" presName="parTxOnlySpace" presStyleCnt="0"/>
      <dgm:spPr/>
    </dgm:pt>
    <dgm:pt modelId="{2746B5AD-1476-418A-9AD2-0D3C6FE0B6DD}" type="pres">
      <dgm:prSet presAssocID="{A0040AD4-FF20-40CE-AE6C-2827E1B4FC99}" presName="parTxOnly" presStyleLbl="node1" presStyleIdx="6" presStyleCnt="10">
        <dgm:presLayoutVars>
          <dgm:chMax val="0"/>
          <dgm:chPref val="0"/>
          <dgm:bulletEnabled val="1"/>
        </dgm:presLayoutVars>
      </dgm:prSet>
      <dgm:spPr/>
    </dgm:pt>
    <dgm:pt modelId="{9CD026E3-2C33-433B-B903-84E650E7B24A}" type="pres">
      <dgm:prSet presAssocID="{62253709-0C06-4719-8708-911BC00A8974}" presName="parTxOnlySpace" presStyleCnt="0"/>
      <dgm:spPr/>
    </dgm:pt>
    <dgm:pt modelId="{C061DE45-99C2-48D2-82E1-BBC67C312D8F}" type="pres">
      <dgm:prSet presAssocID="{668E6D2D-2A4B-4E0B-BFD2-D030B22D2C93}" presName="parTxOnly" presStyleLbl="node1" presStyleIdx="7" presStyleCnt="10">
        <dgm:presLayoutVars>
          <dgm:chMax val="0"/>
          <dgm:chPref val="0"/>
          <dgm:bulletEnabled val="1"/>
        </dgm:presLayoutVars>
      </dgm:prSet>
      <dgm:spPr/>
    </dgm:pt>
    <dgm:pt modelId="{BD9DA90E-9FB6-475B-BAE6-437E34CB48CF}" type="pres">
      <dgm:prSet presAssocID="{E413D3A7-5D9B-4C38-8A54-ED080E157E6D}" presName="parTxOnlySpace" presStyleCnt="0"/>
      <dgm:spPr/>
    </dgm:pt>
    <dgm:pt modelId="{626D6980-53B9-45C2-959B-62956FB9B1B1}" type="pres">
      <dgm:prSet presAssocID="{EA4350A7-521B-4006-947C-92F6CD8F489E}" presName="parTxOnly" presStyleLbl="node1" presStyleIdx="8" presStyleCnt="10">
        <dgm:presLayoutVars>
          <dgm:chMax val="0"/>
          <dgm:chPref val="0"/>
          <dgm:bulletEnabled val="1"/>
        </dgm:presLayoutVars>
      </dgm:prSet>
      <dgm:spPr/>
    </dgm:pt>
    <dgm:pt modelId="{A820EFC8-991D-41E3-8FFB-0F68461FC984}" type="pres">
      <dgm:prSet presAssocID="{BDAD7E01-BFCD-4DC7-AC09-202A787D99BB}" presName="parTxOnlySpace" presStyleCnt="0"/>
      <dgm:spPr/>
    </dgm:pt>
    <dgm:pt modelId="{9B3A1FB1-2662-46BE-B777-25ADCF97A8A6}" type="pres">
      <dgm:prSet presAssocID="{DA35A0F9-9656-4FA0-91C9-3A8CA933A4F9}" presName="parTxOnly" presStyleLbl="node1" presStyleIdx="9" presStyleCnt="10">
        <dgm:presLayoutVars>
          <dgm:chMax val="0"/>
          <dgm:chPref val="0"/>
          <dgm:bulletEnabled val="1"/>
        </dgm:presLayoutVars>
      </dgm:prSet>
      <dgm:spPr/>
    </dgm:pt>
  </dgm:ptLst>
  <dgm:cxnLst>
    <dgm:cxn modelId="{F68D6A07-3BA8-4B79-B18A-F0C483E12D83}" srcId="{635B0610-311D-4348-915B-DDD1A9938AEC}" destId="{A52461F9-6676-4EE9-97A1-CD4390B7A899}" srcOrd="3" destOrd="0" parTransId="{A19FE63A-6384-49DC-9085-626402609174}" sibTransId="{65E597CD-8CF1-49B6-8CC2-E42862CBAE4C}"/>
    <dgm:cxn modelId="{6015110E-856E-4923-8265-192DCAE0654C}" srcId="{635B0610-311D-4348-915B-DDD1A9938AEC}" destId="{DA35A0F9-9656-4FA0-91C9-3A8CA933A4F9}" srcOrd="9" destOrd="0" parTransId="{5CE3DBDB-7431-447E-8A55-EB0425AFF8FF}" sibTransId="{5FA867F8-9D05-4E3E-96BD-8B008F35D90C}"/>
    <dgm:cxn modelId="{F6F40D15-E5DC-4F62-BFD2-C8783837D827}" type="presOf" srcId="{03F5FEED-92F6-47A1-A88B-1653A57FE17A}" destId="{1ACCC987-2AC2-4EE5-ACE7-6DDFA8547BDF}" srcOrd="0" destOrd="0" presId="urn:microsoft.com/office/officeart/2005/8/layout/chevron1"/>
    <dgm:cxn modelId="{41BCA81B-C283-4D24-AB5A-B89E87274299}" type="presOf" srcId="{9A193C4C-21B9-4EF6-8303-A913451C7365}" destId="{1EDDAC8A-AF1B-41CF-BBA6-E7E6BBF11B52}" srcOrd="0" destOrd="0" presId="urn:microsoft.com/office/officeart/2005/8/layout/chevron1"/>
    <dgm:cxn modelId="{0551941C-B5FF-45A7-B61A-2DEA417CD071}" type="presOf" srcId="{5C329195-4BF1-4FAE-9B65-2268C4FF0177}" destId="{DE182856-3BE8-4EFE-A29A-5BEF77535E43}" srcOrd="0" destOrd="0" presId="urn:microsoft.com/office/officeart/2005/8/layout/chevron1"/>
    <dgm:cxn modelId="{07CB7721-BB66-45F0-BA6D-1132CACBC270}" srcId="{635B0610-311D-4348-915B-DDD1A9938AEC}" destId="{94FF8DC1-DFE2-4E07-A857-EE722082E6D3}" srcOrd="0" destOrd="0" parTransId="{98700FB0-8142-45AF-A9DB-336DC6E4FF2E}" sibTransId="{4D5F3DE0-AEA4-470F-B496-327CC722D6AE}"/>
    <dgm:cxn modelId="{73866023-ED0B-4EDF-B999-ABED7595BB32}" srcId="{635B0610-311D-4348-915B-DDD1A9938AEC}" destId="{9A193C4C-21B9-4EF6-8303-A913451C7365}" srcOrd="4" destOrd="0" parTransId="{1DF00475-CDC9-4168-9E50-A23E3DC7266C}" sibTransId="{FF815E0A-5F33-4E02-9B58-E227E7B01CDE}"/>
    <dgm:cxn modelId="{3D35672C-EFE4-443B-9E2E-310026CEC04C}" srcId="{635B0610-311D-4348-915B-DDD1A9938AEC}" destId="{A0040AD4-FF20-40CE-AE6C-2827E1B4FC99}" srcOrd="6" destOrd="0" parTransId="{4A8033A3-0C99-4356-9EE8-F5155DED00AE}" sibTransId="{62253709-0C06-4719-8708-911BC00A8974}"/>
    <dgm:cxn modelId="{8CD5122E-AD8B-44CD-B280-474B324D3E5C}" type="presOf" srcId="{668E6D2D-2A4B-4E0B-BFD2-D030B22D2C93}" destId="{C061DE45-99C2-48D2-82E1-BBC67C312D8F}" srcOrd="0" destOrd="0" presId="urn:microsoft.com/office/officeart/2005/8/layout/chevron1"/>
    <dgm:cxn modelId="{D9F9E14A-4F2C-47B7-B484-ACBDE640CCB1}" type="presOf" srcId="{A0040AD4-FF20-40CE-AE6C-2827E1B4FC99}" destId="{2746B5AD-1476-418A-9AD2-0D3C6FE0B6DD}" srcOrd="0" destOrd="0" presId="urn:microsoft.com/office/officeart/2005/8/layout/chevron1"/>
    <dgm:cxn modelId="{8B051765-9AEA-44C2-8BA5-BC5D2A784D07}" srcId="{635B0610-311D-4348-915B-DDD1A9938AEC}" destId="{668E6D2D-2A4B-4E0B-BFD2-D030B22D2C93}" srcOrd="7" destOrd="0" parTransId="{E8729609-8474-4F93-9322-9868A4503E5E}" sibTransId="{E413D3A7-5D9B-4C38-8A54-ED080E157E6D}"/>
    <dgm:cxn modelId="{57E41B68-DE42-4519-A27C-FFFE5166A7B5}" type="presOf" srcId="{8731E2D6-B6F0-4671-8C0F-F345E4EAE7EA}" destId="{BB6DF1F9-503C-4015-95D9-C36337738F20}" srcOrd="0" destOrd="0" presId="urn:microsoft.com/office/officeart/2005/8/layout/chevron1"/>
    <dgm:cxn modelId="{31B8F486-A499-4780-842C-910BCE849231}" type="presOf" srcId="{EA4350A7-521B-4006-947C-92F6CD8F489E}" destId="{626D6980-53B9-45C2-959B-62956FB9B1B1}" srcOrd="0" destOrd="0" presId="urn:microsoft.com/office/officeart/2005/8/layout/chevron1"/>
    <dgm:cxn modelId="{DB3BDF89-6FCF-4C1C-A145-DEB076AFF571}" type="presOf" srcId="{94FF8DC1-DFE2-4E07-A857-EE722082E6D3}" destId="{68B8EBFE-9EDA-45AC-8EBC-570918CF1F0A}" srcOrd="0" destOrd="0" presId="urn:microsoft.com/office/officeart/2005/8/layout/chevron1"/>
    <dgm:cxn modelId="{807A06A0-C873-4B4A-B2A9-2F706D1FF34D}" srcId="{635B0610-311D-4348-915B-DDD1A9938AEC}" destId="{8731E2D6-B6F0-4671-8C0F-F345E4EAE7EA}" srcOrd="1" destOrd="0" parTransId="{337CC7F5-FB13-4C57-A1A9-F99882EBFF13}" sibTransId="{9E1BF1F3-D241-4BD3-9912-EE4EB4FE4AD0}"/>
    <dgm:cxn modelId="{4FFFA4CC-5036-4A5C-AF62-274EB3408F2D}" srcId="{635B0610-311D-4348-915B-DDD1A9938AEC}" destId="{5C329195-4BF1-4FAE-9B65-2268C4FF0177}" srcOrd="2" destOrd="0" parTransId="{179CF818-26A5-4364-8107-FC1DD8FD5AB3}" sibTransId="{752A639A-8CC7-453B-B946-79E92EF462C6}"/>
    <dgm:cxn modelId="{6F2A08D6-4BD0-4B80-8AD4-6BF46D25EC12}" type="presOf" srcId="{A52461F9-6676-4EE9-97A1-CD4390B7A899}" destId="{14674A6A-7936-4E05-BD7A-0E91412AA42E}" srcOrd="0" destOrd="0" presId="urn:microsoft.com/office/officeart/2005/8/layout/chevron1"/>
    <dgm:cxn modelId="{B425ADE8-8392-46A7-B77B-DF3022E64A22}" type="presOf" srcId="{635B0610-311D-4348-915B-DDD1A9938AEC}" destId="{C8ACF9E2-E672-4C51-9494-F4DC60668984}" srcOrd="0" destOrd="0" presId="urn:microsoft.com/office/officeart/2005/8/layout/chevron1"/>
    <dgm:cxn modelId="{E5AADDE9-3773-4032-A7B9-885DDFAD8B97}" srcId="{635B0610-311D-4348-915B-DDD1A9938AEC}" destId="{03F5FEED-92F6-47A1-A88B-1653A57FE17A}" srcOrd="5" destOrd="0" parTransId="{3BCF4CE6-7ACA-4D2F-AC5B-4D1D90E55824}" sibTransId="{EF539413-B11F-4304-99A4-66005D187C6E}"/>
    <dgm:cxn modelId="{0A1676ED-D067-4793-98D9-564BAE2FD75B}" srcId="{635B0610-311D-4348-915B-DDD1A9938AEC}" destId="{EA4350A7-521B-4006-947C-92F6CD8F489E}" srcOrd="8" destOrd="0" parTransId="{320FF8BA-F2BB-4139-909D-045AF6222395}" sibTransId="{BDAD7E01-BFCD-4DC7-AC09-202A787D99BB}"/>
    <dgm:cxn modelId="{2D2919F6-E85C-4F29-B4E6-F8571D0C43F0}" type="presOf" srcId="{DA35A0F9-9656-4FA0-91C9-3A8CA933A4F9}" destId="{9B3A1FB1-2662-46BE-B777-25ADCF97A8A6}" srcOrd="0" destOrd="0" presId="urn:microsoft.com/office/officeart/2005/8/layout/chevron1"/>
    <dgm:cxn modelId="{20A2C029-AB44-489E-AA67-3E4C6BBE24CC}" type="presParOf" srcId="{C8ACF9E2-E672-4C51-9494-F4DC60668984}" destId="{68B8EBFE-9EDA-45AC-8EBC-570918CF1F0A}" srcOrd="0" destOrd="0" presId="urn:microsoft.com/office/officeart/2005/8/layout/chevron1"/>
    <dgm:cxn modelId="{4ADE2076-B658-425F-A9FD-D7940932552B}" type="presParOf" srcId="{C8ACF9E2-E672-4C51-9494-F4DC60668984}" destId="{56180EC6-0166-471A-9DA1-C6886C0EB9C7}" srcOrd="1" destOrd="0" presId="urn:microsoft.com/office/officeart/2005/8/layout/chevron1"/>
    <dgm:cxn modelId="{9A71AD0A-0597-4F84-9A98-A84EC79AC035}" type="presParOf" srcId="{C8ACF9E2-E672-4C51-9494-F4DC60668984}" destId="{BB6DF1F9-503C-4015-95D9-C36337738F20}" srcOrd="2" destOrd="0" presId="urn:microsoft.com/office/officeart/2005/8/layout/chevron1"/>
    <dgm:cxn modelId="{E5C41F61-4637-413F-B377-8008F06FE8FA}" type="presParOf" srcId="{C8ACF9E2-E672-4C51-9494-F4DC60668984}" destId="{F595DFB2-E8AF-427C-B4FF-10F9B97954B1}" srcOrd="3" destOrd="0" presId="urn:microsoft.com/office/officeart/2005/8/layout/chevron1"/>
    <dgm:cxn modelId="{CFA56C79-6DC5-402F-8257-4272D5E128DA}" type="presParOf" srcId="{C8ACF9E2-E672-4C51-9494-F4DC60668984}" destId="{DE182856-3BE8-4EFE-A29A-5BEF77535E43}" srcOrd="4" destOrd="0" presId="urn:microsoft.com/office/officeart/2005/8/layout/chevron1"/>
    <dgm:cxn modelId="{C7B09D1D-E59A-411D-BF0B-462ACD50162F}" type="presParOf" srcId="{C8ACF9E2-E672-4C51-9494-F4DC60668984}" destId="{BE68944F-2D35-4C51-A4FD-D95E65C35504}" srcOrd="5" destOrd="0" presId="urn:microsoft.com/office/officeart/2005/8/layout/chevron1"/>
    <dgm:cxn modelId="{66F7B5CA-AD1D-4C82-884E-27E72CE64ABC}" type="presParOf" srcId="{C8ACF9E2-E672-4C51-9494-F4DC60668984}" destId="{14674A6A-7936-4E05-BD7A-0E91412AA42E}" srcOrd="6" destOrd="0" presId="urn:microsoft.com/office/officeart/2005/8/layout/chevron1"/>
    <dgm:cxn modelId="{16179195-EF82-41E7-B333-17A5C821751C}" type="presParOf" srcId="{C8ACF9E2-E672-4C51-9494-F4DC60668984}" destId="{DCBC511F-1DC0-4373-84A4-703EAB97E393}" srcOrd="7" destOrd="0" presId="urn:microsoft.com/office/officeart/2005/8/layout/chevron1"/>
    <dgm:cxn modelId="{E4996F21-6A5F-4FF4-9AC8-8D0C239E3A4A}" type="presParOf" srcId="{C8ACF9E2-E672-4C51-9494-F4DC60668984}" destId="{1EDDAC8A-AF1B-41CF-BBA6-E7E6BBF11B52}" srcOrd="8" destOrd="0" presId="urn:microsoft.com/office/officeart/2005/8/layout/chevron1"/>
    <dgm:cxn modelId="{75E824AB-63CA-404D-A3B8-F3DE9D31ED00}" type="presParOf" srcId="{C8ACF9E2-E672-4C51-9494-F4DC60668984}" destId="{19C10A48-7246-4BF4-BF07-32D8D275C2C4}" srcOrd="9" destOrd="0" presId="urn:microsoft.com/office/officeart/2005/8/layout/chevron1"/>
    <dgm:cxn modelId="{F432075C-33AA-4016-B5D5-B1C9B7936DEF}" type="presParOf" srcId="{C8ACF9E2-E672-4C51-9494-F4DC60668984}" destId="{1ACCC987-2AC2-4EE5-ACE7-6DDFA8547BDF}" srcOrd="10" destOrd="0" presId="urn:microsoft.com/office/officeart/2005/8/layout/chevron1"/>
    <dgm:cxn modelId="{C438C6EC-54A5-459E-B90D-5538EBE291D4}" type="presParOf" srcId="{C8ACF9E2-E672-4C51-9494-F4DC60668984}" destId="{7B4CB7AE-D910-4943-877F-CC0737C3752F}" srcOrd="11" destOrd="0" presId="urn:microsoft.com/office/officeart/2005/8/layout/chevron1"/>
    <dgm:cxn modelId="{1E2795FA-0FB8-4C8F-BD03-05CCE7E6C955}" type="presParOf" srcId="{C8ACF9E2-E672-4C51-9494-F4DC60668984}" destId="{2746B5AD-1476-418A-9AD2-0D3C6FE0B6DD}" srcOrd="12" destOrd="0" presId="urn:microsoft.com/office/officeart/2005/8/layout/chevron1"/>
    <dgm:cxn modelId="{83C4AED2-6ED8-4049-B180-3ECF8604730D}" type="presParOf" srcId="{C8ACF9E2-E672-4C51-9494-F4DC60668984}" destId="{9CD026E3-2C33-433B-B903-84E650E7B24A}" srcOrd="13" destOrd="0" presId="urn:microsoft.com/office/officeart/2005/8/layout/chevron1"/>
    <dgm:cxn modelId="{38D21FF8-66A3-4705-90AE-9EFAE1AA437D}" type="presParOf" srcId="{C8ACF9E2-E672-4C51-9494-F4DC60668984}" destId="{C061DE45-99C2-48D2-82E1-BBC67C312D8F}" srcOrd="14" destOrd="0" presId="urn:microsoft.com/office/officeart/2005/8/layout/chevron1"/>
    <dgm:cxn modelId="{E04C5752-342C-44A4-A16A-D9ADD8532EB3}" type="presParOf" srcId="{C8ACF9E2-E672-4C51-9494-F4DC60668984}" destId="{BD9DA90E-9FB6-475B-BAE6-437E34CB48CF}" srcOrd="15" destOrd="0" presId="urn:microsoft.com/office/officeart/2005/8/layout/chevron1"/>
    <dgm:cxn modelId="{5C5FA0D0-85EA-45F1-9F33-753540F8A329}" type="presParOf" srcId="{C8ACF9E2-E672-4C51-9494-F4DC60668984}" destId="{626D6980-53B9-45C2-959B-62956FB9B1B1}" srcOrd="16" destOrd="0" presId="urn:microsoft.com/office/officeart/2005/8/layout/chevron1"/>
    <dgm:cxn modelId="{AD379D10-A805-460A-BC13-FF1AA7D76698}" type="presParOf" srcId="{C8ACF9E2-E672-4C51-9494-F4DC60668984}" destId="{A820EFC8-991D-41E3-8FFB-0F68461FC984}" srcOrd="17" destOrd="0" presId="urn:microsoft.com/office/officeart/2005/8/layout/chevron1"/>
    <dgm:cxn modelId="{81068EF3-42EC-4301-9474-75A40078DA72}" type="presParOf" srcId="{C8ACF9E2-E672-4C51-9494-F4DC60668984}" destId="{9B3A1FB1-2662-46BE-B777-25ADCF97A8A6}" srcOrd="1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8EBFE-9EDA-45AC-8EBC-570918CF1F0A}">
      <dsp:nvSpPr>
        <dsp:cNvPr id="0" name=""/>
        <dsp:cNvSpPr/>
      </dsp:nvSpPr>
      <dsp:spPr>
        <a:xfrm>
          <a:off x="1276"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1</a:t>
          </a:r>
          <a:endParaRPr lang="en-US" sz="1400" kern="1200"/>
        </a:p>
      </dsp:txBody>
      <dsp:txXfrm>
        <a:off x="231002" y="517706"/>
        <a:ext cx="689178" cy="459452"/>
      </dsp:txXfrm>
    </dsp:sp>
    <dsp:sp modelId="{BB6DF1F9-503C-4015-95D9-C36337738F20}">
      <dsp:nvSpPr>
        <dsp:cNvPr id="0" name=""/>
        <dsp:cNvSpPr/>
      </dsp:nvSpPr>
      <dsp:spPr>
        <a:xfrm>
          <a:off x="1035043"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2</a:t>
          </a:r>
        </a:p>
      </dsp:txBody>
      <dsp:txXfrm>
        <a:off x="1264769" y="517706"/>
        <a:ext cx="689178" cy="459452"/>
      </dsp:txXfrm>
    </dsp:sp>
    <dsp:sp modelId="{DE182856-3BE8-4EFE-A29A-5BEF77535E43}">
      <dsp:nvSpPr>
        <dsp:cNvPr id="0" name=""/>
        <dsp:cNvSpPr/>
      </dsp:nvSpPr>
      <dsp:spPr>
        <a:xfrm>
          <a:off x="2068810"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3</a:t>
          </a:r>
        </a:p>
      </dsp:txBody>
      <dsp:txXfrm>
        <a:off x="2298536" y="517706"/>
        <a:ext cx="689178" cy="459452"/>
      </dsp:txXfrm>
    </dsp:sp>
    <dsp:sp modelId="{14674A6A-7936-4E05-BD7A-0E91412AA42E}">
      <dsp:nvSpPr>
        <dsp:cNvPr id="0" name=""/>
        <dsp:cNvSpPr/>
      </dsp:nvSpPr>
      <dsp:spPr>
        <a:xfrm>
          <a:off x="3102577"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4</a:t>
          </a:r>
        </a:p>
      </dsp:txBody>
      <dsp:txXfrm>
        <a:off x="3332303" y="517706"/>
        <a:ext cx="689178" cy="459452"/>
      </dsp:txXfrm>
    </dsp:sp>
    <dsp:sp modelId="{1EDDAC8A-AF1B-41CF-BBA6-E7E6BBF11B52}">
      <dsp:nvSpPr>
        <dsp:cNvPr id="0" name=""/>
        <dsp:cNvSpPr/>
      </dsp:nvSpPr>
      <dsp:spPr>
        <a:xfrm>
          <a:off x="4136344"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5</a:t>
          </a:r>
        </a:p>
      </dsp:txBody>
      <dsp:txXfrm>
        <a:off x="4366070" y="517706"/>
        <a:ext cx="689178" cy="459452"/>
      </dsp:txXfrm>
    </dsp:sp>
    <dsp:sp modelId="{1ACCC987-2AC2-4EE5-ACE7-6DDFA8547BDF}">
      <dsp:nvSpPr>
        <dsp:cNvPr id="0" name=""/>
        <dsp:cNvSpPr/>
      </dsp:nvSpPr>
      <dsp:spPr>
        <a:xfrm>
          <a:off x="5170111"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6</a:t>
          </a:r>
        </a:p>
      </dsp:txBody>
      <dsp:txXfrm>
        <a:off x="5399837" y="517706"/>
        <a:ext cx="689178" cy="459452"/>
      </dsp:txXfrm>
    </dsp:sp>
    <dsp:sp modelId="{2746B5AD-1476-418A-9AD2-0D3C6FE0B6DD}">
      <dsp:nvSpPr>
        <dsp:cNvPr id="0" name=""/>
        <dsp:cNvSpPr/>
      </dsp:nvSpPr>
      <dsp:spPr>
        <a:xfrm>
          <a:off x="6203879"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7</a:t>
          </a:r>
        </a:p>
      </dsp:txBody>
      <dsp:txXfrm>
        <a:off x="6433605" y="517706"/>
        <a:ext cx="689178" cy="459452"/>
      </dsp:txXfrm>
    </dsp:sp>
    <dsp:sp modelId="{C061DE45-99C2-48D2-82E1-BBC67C312D8F}">
      <dsp:nvSpPr>
        <dsp:cNvPr id="0" name=""/>
        <dsp:cNvSpPr/>
      </dsp:nvSpPr>
      <dsp:spPr>
        <a:xfrm>
          <a:off x="7237646"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8</a:t>
          </a:r>
        </a:p>
      </dsp:txBody>
      <dsp:txXfrm>
        <a:off x="7467372" y="517706"/>
        <a:ext cx="689178" cy="459452"/>
      </dsp:txXfrm>
    </dsp:sp>
    <dsp:sp modelId="{626D6980-53B9-45C2-959B-62956FB9B1B1}">
      <dsp:nvSpPr>
        <dsp:cNvPr id="0" name=""/>
        <dsp:cNvSpPr/>
      </dsp:nvSpPr>
      <dsp:spPr>
        <a:xfrm>
          <a:off x="8271413"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9</a:t>
          </a:r>
        </a:p>
      </dsp:txBody>
      <dsp:txXfrm>
        <a:off x="8501139" y="517706"/>
        <a:ext cx="689178" cy="459452"/>
      </dsp:txXfrm>
    </dsp:sp>
    <dsp:sp modelId="{9B3A1FB1-2662-46BE-B777-25ADCF97A8A6}">
      <dsp:nvSpPr>
        <dsp:cNvPr id="0" name=""/>
        <dsp:cNvSpPr/>
      </dsp:nvSpPr>
      <dsp:spPr>
        <a:xfrm>
          <a:off x="9305180"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10</a:t>
          </a:r>
        </a:p>
      </dsp:txBody>
      <dsp:txXfrm>
        <a:off x="9534906" y="517706"/>
        <a:ext cx="689178" cy="45945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08.980"/>
    </inkml:context>
    <inkml:brush xml:id="br0">
      <inkml:brushProperty name="width" value="0.2" units="cm"/>
      <inkml:brushProperty name="height" value="0.2" units="cm"/>
      <inkml:brushProperty name="color" value="#F6630D"/>
    </inkml:brush>
  </inkml:definitions>
  <inkml:trace contextRef="#ctx0" brushRef="#br0">0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0.287"/>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1.456"/>
    </inkml:context>
    <inkml:brush xml:id="br0">
      <inkml:brushProperty name="width" value="0.2" units="cm"/>
      <inkml:brushProperty name="height" value="0.2" units="cm"/>
      <inkml:brushProperty name="color" value="#F6630D"/>
    </inkml:brush>
  </inkml:definitions>
  <inkml:trace contextRef="#ctx0" brushRef="#br0">0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5.333"/>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6.903"/>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7.925"/>
    </inkml:context>
    <inkml:brush xml:id="br0">
      <inkml:brushProperty name="width" value="0.2" units="cm"/>
      <inkml:brushProperty name="height" value="0.2" units="cm"/>
      <inkml:brushProperty name="color" value="#F6630D"/>
    </inkml:brush>
  </inkml:definitions>
  <inkml:trace contextRef="#ctx0" brushRef="#br0">1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19.440"/>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20:20.546"/>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45.501"/>
    </inkml:context>
    <inkml:brush xml:id="br0">
      <inkml:brushProperty name="width" value="0.2" units="cm"/>
      <inkml:brushProperty name="height" value="0.2" units="cm"/>
      <inkml:brushProperty name="color" value="#00A0D7"/>
    </inkml:brush>
  </inkml:definitions>
  <inkml:trace contextRef="#ctx0" brushRef="#br0">0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46.693"/>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48.242"/>
    </inkml:context>
    <inkml:brush xml:id="br0">
      <inkml:brushProperty name="width" value="0.2" units="cm"/>
      <inkml:brushProperty name="height" value="0.2" units="cm"/>
      <inkml:brushProperty name="color" value="#00A0D7"/>
    </inkml:brush>
  </inkml:definitions>
  <inkml:trace contextRef="#ctx0" brushRef="#br0">0 1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49.776"/>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1.217"/>
    </inkml:context>
    <inkml:brush xml:id="br0">
      <inkml:brushProperty name="width" value="0.2" units="cm"/>
      <inkml:brushProperty name="height" value="0.2" units="cm"/>
      <inkml:brushProperty name="color" value="#00A0D7"/>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2.604"/>
    </inkml:context>
    <inkml:brush xml:id="br0">
      <inkml:brushProperty name="width" value="0.2" units="cm"/>
      <inkml:brushProperty name="height" value="0.2" units="cm"/>
      <inkml:brushProperty name="color" value="#00A0D7"/>
    </inkml:brush>
  </inkml:definitions>
  <inkml:trace contextRef="#ctx0" brushRef="#br0">1 0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3.982"/>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5.322"/>
    </inkml:context>
    <inkml:brush xml:id="br0">
      <inkml:brushProperty name="width" value="0.2" units="cm"/>
      <inkml:brushProperty name="height" value="0.2" units="cm"/>
      <inkml:brushProperty name="color" value="#00A0D7"/>
    </inkml:brush>
  </inkml:definitions>
  <inkml:trace contextRef="#ctx0" brushRef="#br0">1 1 24575,'0'0'0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7.144"/>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1:58.540"/>
    </inkml:context>
    <inkml:brush xml:id="br0">
      <inkml:brushProperty name="width" value="0.2" units="cm"/>
      <inkml:brushProperty name="height" value="0.2" units="cm"/>
      <inkml:brushProperty name="color" value="#00A0D7"/>
    </inkml:brush>
  </inkml:definitions>
  <inkml:trace contextRef="#ctx0" brushRef="#br0">1 0 24575,'0'0'0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2:00.001"/>
    </inkml:context>
    <inkml:brush xml:id="br0">
      <inkml:brushProperty name="width" value="0.2" units="cm"/>
      <inkml:brushProperty name="height" value="0.2" units="cm"/>
      <inkml:brushProperty name="color" value="#00A0D7"/>
    </inkml:brush>
  </inkml:definitions>
  <inkml:trace contextRef="#ctx0" brushRef="#br0">1 1 24575,'0'0'0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2:01.329"/>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2:02.815"/>
    </inkml:context>
    <inkml:brush xml:id="br0">
      <inkml:brushProperty name="width" value="0.2" units="cm"/>
      <inkml:brushProperty name="height" value="0.2" units="cm"/>
      <inkml:brushProperty name="color" value="#00A0D7"/>
    </inkml:brush>
  </inkml:definitions>
  <inkml:trace contextRef="#ctx0" brushRef="#br0">0 0 24575,'0'0'0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2:05.010"/>
    </inkml:context>
    <inkml:brush xml:id="br0">
      <inkml:brushProperty name="width" value="0.2" units="cm"/>
      <inkml:brushProperty name="height" value="0.2" units="cm"/>
      <inkml:brushProperty name="color" value="#00A0D7"/>
    </inkml:brush>
  </inkml:definitions>
  <inkml:trace contextRef="#ctx0" brushRef="#br0">0 1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04.098"/>
    </inkml:context>
    <inkml:brush xml:id="br0">
      <inkml:brushProperty name="width" value="0.35" units="cm"/>
      <inkml:brushProperty name="height" value="0.35" units="cm"/>
      <inkml:brushProperty name="color" value="#00A0D7"/>
    </inkml:brush>
  </inkml:definitions>
  <inkml:trace contextRef="#ctx0" brushRef="#br0">1 1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05.800"/>
    </inkml:context>
    <inkml:brush xml:id="br0">
      <inkml:brushProperty name="width" value="0.35" units="cm"/>
      <inkml:brushProperty name="height" value="0.35" units="cm"/>
      <inkml:brushProperty name="color" value="#00A0D7"/>
    </inkml:brush>
  </inkml:definitions>
  <inkml:trace contextRef="#ctx0" brushRef="#br0">1 0 24575,'0'0'0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07.055"/>
    </inkml:context>
    <inkml:brush xml:id="br0">
      <inkml:brushProperty name="width" value="0.35" units="cm"/>
      <inkml:brushProperty name="height" value="0.35" units="cm"/>
      <inkml:brushProperty name="color" value="#00A0D7"/>
    </inkml:brush>
  </inkml:definitions>
  <inkml:trace contextRef="#ctx0" brushRef="#br0">1 1 24575,'0'0'0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13.623"/>
    </inkml:context>
    <inkml:brush xml:id="br0">
      <inkml:brushProperty name="width" value="0.35" units="cm"/>
      <inkml:brushProperty name="height" value="0.35" units="cm"/>
      <inkml:brushProperty name="color" value="#F6630D"/>
    </inkml:brush>
  </inkml:definitions>
  <inkml:trace contextRef="#ctx0" brushRef="#br0">0 0 24575,'0'0'0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17.646"/>
    </inkml:context>
    <inkml:brush xml:id="br0">
      <inkml:brushProperty name="width" value="0.35" units="cm"/>
      <inkml:brushProperty name="height" value="0.35" units="cm"/>
      <inkml:brushProperty name="color" value="#F6630D"/>
    </inkml:brush>
  </inkml:definitions>
  <inkml:trace contextRef="#ctx0" brushRef="#br0">0 1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37:19.835"/>
    </inkml:context>
    <inkml:brush xml:id="br0">
      <inkml:brushProperty name="width" value="0.35" units="cm"/>
      <inkml:brushProperty name="height" value="0.35" units="cm"/>
      <inkml:brushProperty name="color" value="#F6630D"/>
    </inkml:brush>
  </inkml:definitions>
  <inkml:trace contextRef="#ctx0" brushRef="#br0">1 0 24575,'0'0'0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04.108"/>
    </inkml:context>
    <inkml:brush xml:id="br0">
      <inkml:brushProperty name="width" value="0.05" units="cm"/>
      <inkml:brushProperty name="height" value="0.05" units="cm"/>
      <inkml:brushProperty name="color" value="#F6630D"/>
    </inkml:brush>
  </inkml:definitions>
  <inkml:trace contextRef="#ctx0" brushRef="#br0">1 1 24575,'0'0'0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07.838"/>
    </inkml:context>
    <inkml:brush xml:id="br0">
      <inkml:brushProperty name="width" value="0.05" units="cm"/>
      <inkml:brushProperty name="height" value="0.05" units="cm"/>
      <inkml:brushProperty name="color" value="#F6630D"/>
    </inkml:brush>
  </inkml:definitions>
  <inkml:trace contextRef="#ctx0" brushRef="#br0">1 0 24575,'0'0'0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09.406"/>
    </inkml:context>
    <inkml:brush xml:id="br0">
      <inkml:brushProperty name="width" value="0.05" units="cm"/>
      <inkml:brushProperty name="height" value="0.05" units="cm"/>
      <inkml:brushProperty name="color" value="#F6630D"/>
    </inkml:brush>
  </inkml:definitions>
  <inkml:trace contextRef="#ctx0" brushRef="#br0">0 1 24575,'0'0'0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42.485"/>
    </inkml:context>
    <inkml:brush xml:id="br0">
      <inkml:brushProperty name="width" value="0.2" units="cm"/>
      <inkml:brushProperty name="height" value="0.2" units="cm"/>
      <inkml:brushProperty name="color" value="#F6630D"/>
    </inkml:brush>
  </inkml:definitions>
  <inkml:trace contextRef="#ctx0" brushRef="#br0">0 0 24575,'0'0'0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44.772"/>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45.070"/>
    </inkml:context>
    <inkml:brush xml:id="br0">
      <inkml:brushProperty name="width" value="0.2" units="cm"/>
      <inkml:brushProperty name="height" value="0.2" units="cm"/>
      <inkml:brushProperty name="color" value="#F6630D"/>
    </inkml:brush>
  </inkml:definitions>
  <inkml:trace contextRef="#ctx0" brushRef="#br0">0 0 24575,'0'0'0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51.022"/>
    </inkml:context>
    <inkml:brush xml:id="br0">
      <inkml:brushProperty name="width" value="0.2" units="cm"/>
      <inkml:brushProperty name="height" value="0.2" units="cm"/>
      <inkml:brushProperty name="color" value="#F6630D"/>
    </inkml:brush>
  </inkml:definitions>
  <inkml:trace contextRef="#ctx0" brushRef="#br0">1 1 24575,'0'0'0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51.095"/>
    </inkml:context>
    <inkml:brush xml:id="br0">
      <inkml:brushProperty name="width" value="0.2" units="cm"/>
      <inkml:brushProperty name="height" value="0.2" units="cm"/>
      <inkml:brushProperty name="color" value="#F6630D"/>
    </inkml:brush>
  </inkml:definitions>
  <inkml:trace contextRef="#ctx0" brushRef="#br0">1 1 24575,'0'0'0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52.058"/>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4:53.062"/>
    </inkml:context>
    <inkml:brush xml:id="br0">
      <inkml:brushProperty name="width" value="0.2" units="cm"/>
      <inkml:brushProperty name="height" value="0.2" units="cm"/>
      <inkml:brushProperty name="color" value="#F6630D"/>
    </inkml:brush>
  </inkml:definitions>
  <inkml:trace contextRef="#ctx0" brushRef="#br0">0 1 24575,'0'0'0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5:12.298"/>
    </inkml:context>
    <inkml:brush xml:id="br0">
      <inkml:brushProperty name="width" value="0.2" units="cm"/>
      <inkml:brushProperty name="height" value="0.2" units="cm"/>
      <inkml:brushProperty name="color" value="#AB008B"/>
    </inkml:brush>
  </inkml:definitions>
  <inkml:trace contextRef="#ctx0" brushRef="#br0">1 1 24575,'0'0'0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5:14.257"/>
    </inkml:context>
    <inkml:brush xml:id="br0">
      <inkml:brushProperty name="width" value="0.2" units="cm"/>
      <inkml:brushProperty name="height" value="0.2" units="cm"/>
      <inkml:brushProperty name="color" value="#AB008B"/>
    </inkml:brush>
  </inkml:definitions>
  <inkml:trace contextRef="#ctx0" brushRef="#br0">0 1 24575,'0'0'0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25T12:45:15.320"/>
    </inkml:context>
    <inkml:brush xml:id="br0">
      <inkml:brushProperty name="width" value="0.2" units="cm"/>
      <inkml:brushProperty name="height" value="0.2" units="cm"/>
      <inkml:brushProperty name="color" value="#AB008B"/>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9FC01E-F06A-6A4E-8839-3224B3335339}" type="datetimeFigureOut">
              <a:rPr lang="en-US" smtClean="0"/>
              <a:t>1/26/26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C02FAF-5122-C245-974D-1AD19803020E}" type="slidenum">
              <a:rPr lang="en-US" smtClean="0"/>
              <a:t>‹#›</a:t>
            </a:fld>
            <a:endParaRPr lang="en-US"/>
          </a:p>
        </p:txBody>
      </p:sp>
    </p:spTree>
    <p:extLst>
      <p:ext uri="{BB962C8B-B14F-4D97-AF65-F5344CB8AC3E}">
        <p14:creationId xmlns:p14="http://schemas.microsoft.com/office/powerpoint/2010/main" val="3538267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aSb5PNwrRx0"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98D9-067E-80BF-E301-A98B35347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6A728-04D3-99C0-0001-0AEA6F304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E4FD1-613A-3139-99DA-2C0FCADE93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0E85E3C6-42C8-EFB4-8296-3564567FCDC0}"/>
              </a:ext>
            </a:extLst>
          </p:cNvPr>
          <p:cNvSpPr>
            <a:spLocks noGrp="1"/>
          </p:cNvSpPr>
          <p:nvPr>
            <p:ph type="sldNum" sz="quarter" idx="5"/>
          </p:nvPr>
        </p:nvSpPr>
        <p:spPr/>
        <p:txBody>
          <a:bodyPr/>
          <a:lstStyle/>
          <a:p>
            <a:fld id="{02C02FAF-5122-C245-974D-1AD19803020E}" type="slidenum">
              <a:rPr lang="en-US" smtClean="0"/>
              <a:t>1</a:t>
            </a:fld>
            <a:endParaRPr lang="en-US"/>
          </a:p>
        </p:txBody>
      </p:sp>
    </p:spTree>
    <p:extLst>
      <p:ext uri="{BB962C8B-B14F-4D97-AF65-F5344CB8AC3E}">
        <p14:creationId xmlns:p14="http://schemas.microsoft.com/office/powerpoint/2010/main" val="2912752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7513-9015-BAB1-B4CE-95A222F8C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E011F-C639-F48A-F4F3-F250898D9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75264-3EC8-CC68-3B48-6A5CF38155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069FE5F-6410-5541-0F38-EA6B07898522}"/>
              </a:ext>
            </a:extLst>
          </p:cNvPr>
          <p:cNvSpPr>
            <a:spLocks noGrp="1"/>
          </p:cNvSpPr>
          <p:nvPr>
            <p:ph type="sldNum" sz="quarter" idx="5"/>
          </p:nvPr>
        </p:nvSpPr>
        <p:spPr/>
        <p:txBody>
          <a:bodyPr/>
          <a:lstStyle/>
          <a:p>
            <a:fld id="{02C02FAF-5122-C245-974D-1AD19803020E}" type="slidenum">
              <a:rPr lang="en-US" smtClean="0"/>
              <a:t>2</a:t>
            </a:fld>
            <a:endParaRPr lang="en-US"/>
          </a:p>
        </p:txBody>
      </p:sp>
    </p:spTree>
    <p:extLst>
      <p:ext uri="{BB962C8B-B14F-4D97-AF65-F5344CB8AC3E}">
        <p14:creationId xmlns:p14="http://schemas.microsoft.com/office/powerpoint/2010/main" val="3106400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46ABE-10A3-B7C9-E595-0F1D5F2E0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6A93B-C14B-DFBE-43AF-7FAF3D57A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6C7B6-2F40-0444-AD00-E7E2C0C4F2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2C51C87-BCC6-9CC5-39CD-116B09C2B688}"/>
              </a:ext>
            </a:extLst>
          </p:cNvPr>
          <p:cNvSpPr>
            <a:spLocks noGrp="1"/>
          </p:cNvSpPr>
          <p:nvPr>
            <p:ph type="sldNum" sz="quarter" idx="5"/>
          </p:nvPr>
        </p:nvSpPr>
        <p:spPr/>
        <p:txBody>
          <a:bodyPr/>
          <a:lstStyle/>
          <a:p>
            <a:fld id="{02C02FAF-5122-C245-974D-1AD19803020E}" type="slidenum">
              <a:rPr lang="en-US" smtClean="0"/>
              <a:t>3</a:t>
            </a:fld>
            <a:endParaRPr lang="en-US"/>
          </a:p>
        </p:txBody>
      </p:sp>
    </p:spTree>
    <p:extLst>
      <p:ext uri="{BB962C8B-B14F-4D97-AF65-F5344CB8AC3E}">
        <p14:creationId xmlns:p14="http://schemas.microsoft.com/office/powerpoint/2010/main" val="3750068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5A023-12AE-BC88-673F-1D948A46B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BD744-1119-D5D7-E67C-A2B269C39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325CD-D110-4DAC-000B-965AE8E05D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Teachers remember to input the quiz score</a:t>
            </a:r>
          </a:p>
        </p:txBody>
      </p:sp>
      <p:sp>
        <p:nvSpPr>
          <p:cNvPr id="4" name="Slide Number Placeholder 3">
            <a:extLst>
              <a:ext uri="{FF2B5EF4-FFF2-40B4-BE49-F238E27FC236}">
                <a16:creationId xmlns:a16="http://schemas.microsoft.com/office/drawing/2014/main" id="{0EE80A83-87A8-911F-600B-D432B217AAFB}"/>
              </a:ext>
            </a:extLst>
          </p:cNvPr>
          <p:cNvSpPr>
            <a:spLocks noGrp="1"/>
          </p:cNvSpPr>
          <p:nvPr>
            <p:ph type="sldNum" sz="quarter" idx="5"/>
          </p:nvPr>
        </p:nvSpPr>
        <p:spPr/>
        <p:txBody>
          <a:bodyPr/>
          <a:lstStyle/>
          <a:p>
            <a:fld id="{02C02FAF-5122-C245-974D-1AD19803020E}" type="slidenum">
              <a:rPr lang="en-US" smtClean="0"/>
              <a:t>4</a:t>
            </a:fld>
            <a:endParaRPr lang="en-US"/>
          </a:p>
        </p:txBody>
      </p:sp>
    </p:spTree>
    <p:extLst>
      <p:ext uri="{BB962C8B-B14F-4D97-AF65-F5344CB8AC3E}">
        <p14:creationId xmlns:p14="http://schemas.microsoft.com/office/powerpoint/2010/main" val="983263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9B3E6-1A7E-5D25-05DA-E916FE930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B7533-52B9-7F0E-FAE7-390BCAB0F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FA993-A106-3C3D-9057-8882534881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11.2 5.19</a:t>
            </a:r>
          </a:p>
        </p:txBody>
      </p:sp>
      <p:sp>
        <p:nvSpPr>
          <p:cNvPr id="4" name="Slide Number Placeholder 3">
            <a:extLst>
              <a:ext uri="{FF2B5EF4-FFF2-40B4-BE49-F238E27FC236}">
                <a16:creationId xmlns:a16="http://schemas.microsoft.com/office/drawing/2014/main" id="{8BE2AF2B-C328-504F-03ED-FBFC6C1C0157}"/>
              </a:ext>
            </a:extLst>
          </p:cNvPr>
          <p:cNvSpPr>
            <a:spLocks noGrp="1"/>
          </p:cNvSpPr>
          <p:nvPr>
            <p:ph type="sldNum" sz="quarter" idx="5"/>
          </p:nvPr>
        </p:nvSpPr>
        <p:spPr/>
        <p:txBody>
          <a:bodyPr/>
          <a:lstStyle/>
          <a:p>
            <a:fld id="{02C02FAF-5122-C245-974D-1AD19803020E}" type="slidenum">
              <a:rPr lang="en-US" smtClean="0"/>
              <a:t>7</a:t>
            </a:fld>
            <a:endParaRPr lang="en-US"/>
          </a:p>
        </p:txBody>
      </p:sp>
    </p:spTree>
    <p:extLst>
      <p:ext uri="{BB962C8B-B14F-4D97-AF65-F5344CB8AC3E}">
        <p14:creationId xmlns:p14="http://schemas.microsoft.com/office/powerpoint/2010/main" val="888112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Copper prices have increased rapidly since 2003. </a:t>
            </a:r>
            <a:r>
              <a:rPr lang="en-US" i="1" dirty="0"/>
              <a:t>Why do you think this is? </a:t>
            </a:r>
            <a:r>
              <a:rPr lang="en-US" b="1" i="1" dirty="0"/>
              <a:t>Copper-rich ores are becoming more scarce.</a:t>
            </a:r>
          </a:p>
          <a:p>
            <a:r>
              <a:rPr lang="en-US" b="0" i="0" dirty="0"/>
              <a:t>We have mined copper ores for many years to extract the copper from them. Copper ores are non-renewable.</a:t>
            </a:r>
          </a:p>
          <a:p>
            <a:r>
              <a:rPr lang="en-US" b="0" i="0" dirty="0"/>
              <a:t>We use a huge amount of copper worldwide , mostly for electrical equipment such as wiring and motors.</a:t>
            </a:r>
          </a:p>
          <a:p>
            <a:endParaRPr lang="en-US" b="0" i="0"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0362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Model teacher exposition:</a:t>
            </a:r>
          </a:p>
          <a:p>
            <a:r>
              <a:rPr lang="en-GB" b="0" dirty="0"/>
              <a:t>Some copper ores contain a high percentage of copper, and some some copper ores contain less copper.</a:t>
            </a:r>
          </a:p>
          <a:p>
            <a:r>
              <a:rPr lang="en-GB" b="0" dirty="0"/>
              <a:t>In 1950, the ores we used to get copper had 90% copper! By 2010, we were using ores that contain just 30% copper.</a:t>
            </a:r>
          </a:p>
          <a:p>
            <a:r>
              <a:rPr lang="en-GB" b="0" dirty="0"/>
              <a:t>If ores contain a small percentage of copper it can be extremely expensive to extract (and sometimes not worth it). We call copper ores with a low percentage of copper ‘low-grade copper ores’.</a:t>
            </a:r>
          </a:p>
          <a:p>
            <a:r>
              <a:rPr lang="en-GB" b="0" dirty="0"/>
              <a:t>Because high-grade copper ores are becoming more scarce, scientists have had to find some effective ways to extract copper from low grade ores. The two methods we will learn about today are bioleaching and phytomining.</a:t>
            </a:r>
          </a:p>
          <a:p>
            <a:r>
              <a:rPr lang="en-GB" b="0" dirty="0"/>
              <a:t>Using these methods means that we don’t need to mine for ores or to create large quarries. Obtaining raw materials from the Earth by quarrying and mining causes environmental impacts, such as contamination of nearby water sources, noise pollution, habitat loss, deforestation, and the quarries look unattractive.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1112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A video can be used to support students’ understanding of bioleaching e.g. </a:t>
            </a:r>
            <a:r>
              <a:rPr lang="en-GB" sz="1200" dirty="0">
                <a:hlinkClick r:id="rId3"/>
              </a:rPr>
              <a:t>https://www.youtube.com/watch?v=aSb5PNwrRx0</a:t>
            </a:r>
            <a:r>
              <a:rPr lang="en-GB" sz="1200" dirty="0">
                <a:latin typeface="Century Gothic" panose="020B0502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latin typeface="Century Gothic" panose="020B0502020202020204" pitchFamily="34" charset="0"/>
              </a:rPr>
              <a:t>Model teacher exposition: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latin typeface="Century Gothic" panose="020B0502020202020204" pitchFamily="34" charset="0"/>
              </a:rPr>
              <a:t>Bioleaching is a method to extract metals from their ore using living organisms such as bacteria.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1" dirty="0">
                <a:latin typeface="Century Gothic" panose="020B0502020202020204" pitchFamily="34" charset="0"/>
              </a:rPr>
              <a:t>What about the word ‘bioleaching’ gives us a clue as to its meaning? </a:t>
            </a:r>
            <a:r>
              <a:rPr lang="en-GB" sz="1200" b="1" i="1" dirty="0">
                <a:latin typeface="Century Gothic" panose="020B0502020202020204" pitchFamily="34" charset="0"/>
              </a:rPr>
              <a:t>‘Bio’ means living thing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latin typeface="Century Gothic" panose="020B0502020202020204" pitchFamily="34" charset="0"/>
              </a:rPr>
              <a:t>For bioleaching to occur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latin typeface="Century Gothic" panose="020B0502020202020204" pitchFamily="34" charset="0"/>
              </a:rPr>
              <a:t>First, bacteria are added to low-grade ores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latin typeface="Century Gothic" panose="020B0502020202020204" pitchFamily="34" charset="0"/>
              </a:rPr>
              <a:t>Then, these bacteria feed on that ore and create a solution of ions called a leachate. The image here shows a large pool of leachate.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dirty="0">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latin typeface="Century Gothic" panose="020B0502020202020204" pitchFamily="34" charset="0"/>
              </a:rPr>
              <a:t>Finally, this solution containing copper ions is processed to extract the copper. This can be done by a displacement reaction or by electrolysis. For example, copper can be obtained from solutions of copper compounds by displacement using scrap iron or by electrolysis.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dirty="0">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dirty="0">
                <a:latin typeface="Century Gothic" panose="020B0502020202020204" pitchFamily="34" charset="0"/>
              </a:rPr>
              <a:t>This method currently produces 20-25% of all copper </a:t>
            </a:r>
            <a:r>
              <a:rPr lang="en-GB" sz="1200" b="0" i="0" dirty="0" err="1">
                <a:latin typeface="Century Gothic" panose="020B0502020202020204" pitchFamily="34" charset="0"/>
              </a:rPr>
              <a:t>tht</a:t>
            </a:r>
            <a:r>
              <a:rPr lang="en-GB" sz="1200" b="0" i="0" dirty="0">
                <a:latin typeface="Century Gothic" panose="020B0502020202020204" pitchFamily="34" charset="0"/>
              </a:rPr>
              <a:t> e currently extract from ores. However, scientists have a long way to go to make this a fast process. Currently, it can take years!</a:t>
            </a:r>
          </a:p>
          <a:p>
            <a:r>
              <a:rPr lang="en-GB" baseline="0" dirty="0"/>
              <a:t> </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98401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diagrams are provided on a separate document that can be printed to support students to make notes on the steps of phytomining.</a:t>
            </a:r>
          </a:p>
          <a:p>
            <a:endParaRPr lang="en-GB" dirty="0"/>
          </a:p>
          <a:p>
            <a:r>
              <a:rPr lang="en-GB" b="1" dirty="0"/>
              <a:t>Model teacher exposition:</a:t>
            </a:r>
          </a:p>
          <a:p>
            <a:r>
              <a:rPr lang="en-GB" b="0" dirty="0"/>
              <a:t>The second method of extracting metal from a low-grade ore is phytomining. Phytomining is used to extract copper metal from the low grade ore in soil, using plants.</a:t>
            </a:r>
          </a:p>
          <a:p>
            <a:r>
              <a:rPr lang="en-GB" b="1" dirty="0"/>
              <a:t>Hand out the phytomining storyboard.</a:t>
            </a:r>
          </a:p>
          <a:p>
            <a:r>
              <a:rPr lang="en-GB" b="0" dirty="0"/>
              <a:t>I am going to go through each step, to tell you about phytomining. I would like you to listen carefully, and annotate (write) into the storyboard sheet to record the most important information for each stage. You may use labels, written text, or drawings to add this information to your storyboard.</a:t>
            </a:r>
          </a:p>
          <a:p>
            <a:r>
              <a:rPr lang="en-GB" b="0" dirty="0"/>
              <a:t>Step 1: Soil contains low grade copper ore. Plants absorb the metal ions from the soil, using their roots, and store them.</a:t>
            </a:r>
          </a:p>
          <a:p>
            <a:r>
              <a:rPr lang="en-GB" b="0" dirty="0"/>
              <a:t>Step 2: The plants are burned in oxygen. This produces waste carbon dioxide gas (CO</a:t>
            </a:r>
            <a:r>
              <a:rPr lang="en-GB" b="0" baseline="-25000" dirty="0"/>
              <a:t>2</a:t>
            </a:r>
            <a:r>
              <a:rPr lang="en-GB" b="0" baseline="0" dirty="0"/>
              <a:t>).</a:t>
            </a:r>
          </a:p>
          <a:p>
            <a:r>
              <a:rPr lang="en-GB" b="0" baseline="0" dirty="0"/>
              <a:t>Step 3:The oxygen gas reacts with the copper ions in the plant, to make copper oxide (CuO). This looks like black ash. Copper oxide is an ore of copper.</a:t>
            </a:r>
          </a:p>
          <a:p>
            <a:r>
              <a:rPr lang="en-GB" b="0" baseline="0" dirty="0"/>
              <a:t>Step 4: This copper oxide is added to sulphuric acid to form copper sulphate solution (a blue liquid). CuO + H</a:t>
            </a:r>
            <a:r>
              <a:rPr lang="en-GB" b="0" baseline="-25000" dirty="0"/>
              <a:t>2</a:t>
            </a:r>
            <a:r>
              <a:rPr lang="en-GB" b="0" baseline="0" dirty="0"/>
              <a:t>SO</a:t>
            </a:r>
            <a:r>
              <a:rPr lang="en-GB" b="0" baseline="-25000" dirty="0"/>
              <a:t>4</a:t>
            </a:r>
            <a:r>
              <a:rPr lang="en-GB" b="0" baseline="0" dirty="0"/>
              <a:t> → CuSO</a:t>
            </a:r>
            <a:r>
              <a:rPr lang="en-GB" b="0" baseline="-25000" dirty="0"/>
              <a:t>4</a:t>
            </a:r>
            <a:r>
              <a:rPr lang="en-GB" b="0" baseline="0" dirty="0"/>
              <a:t> + H</a:t>
            </a:r>
            <a:r>
              <a:rPr lang="en-GB" b="0" baseline="-25000" dirty="0"/>
              <a:t>2</a:t>
            </a:r>
            <a:r>
              <a:rPr lang="en-GB" b="0" baseline="0" dirty="0"/>
              <a:t>O</a:t>
            </a:r>
          </a:p>
          <a:p>
            <a:r>
              <a:rPr lang="en-GB" b="0" baseline="0" dirty="0"/>
              <a:t>Step 5: Electrolysis is used to extract pure copper from the copper sulphate solution. The copper ions are discharged at the cathode (negative electrode). </a:t>
            </a:r>
            <a:endParaRPr lang="en-GB" b="0"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4119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E062C-610E-A05F-1194-016E886DB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4F4F2-8E2C-256D-461C-498DFECCE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5A905-B2C2-2EAE-B39F-6ADEDA7DCD93}"/>
              </a:ext>
            </a:extLst>
          </p:cNvPr>
          <p:cNvSpPr>
            <a:spLocks noGrp="1"/>
          </p:cNvSpPr>
          <p:nvPr>
            <p:ph type="body" idx="1"/>
          </p:nvPr>
        </p:nvSpPr>
        <p:spPr/>
        <p:txBody>
          <a:bodyPr/>
          <a:lstStyle/>
          <a:p>
            <a:r>
              <a:rPr lang="en-US" dirty="0"/>
              <a:t>in mining, humans and machines do the work.</a:t>
            </a:r>
            <a:br>
              <a:rPr lang="en-US" dirty="0"/>
            </a:br>
            <a:r>
              <a:rPr lang="en-US" dirty="0"/>
              <a:t>In bioleaching and </a:t>
            </a:r>
            <a:r>
              <a:rPr lang="en-US" dirty="0" err="1"/>
              <a:t>phytomining</a:t>
            </a:r>
            <a:r>
              <a:rPr lang="en-US" dirty="0"/>
              <a:t>, we let </a:t>
            </a:r>
            <a:r>
              <a:rPr lang="en-US" b="1" dirty="0"/>
              <a:t>living organisms do the work for us</a:t>
            </a:r>
            <a:r>
              <a:rPr lang="en-US" dirty="0"/>
              <a:t>.</a:t>
            </a:r>
            <a:endParaRPr lang="en-GB" b="0" dirty="0"/>
          </a:p>
        </p:txBody>
      </p:sp>
      <p:sp>
        <p:nvSpPr>
          <p:cNvPr id="4" name="Slide Number Placeholder 3">
            <a:extLst>
              <a:ext uri="{FF2B5EF4-FFF2-40B4-BE49-F238E27FC236}">
                <a16:creationId xmlns:a16="http://schemas.microsoft.com/office/drawing/2014/main" id="{AF61F29C-35D8-37D9-A41A-8A4ED6895A6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8203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r>
              <a:rPr lang="en-GB" b="1" dirty="0"/>
              <a:t>Answer: </a:t>
            </a:r>
            <a:r>
              <a:rPr lang="en-GB" b="0" dirty="0"/>
              <a:t>it is incorrect because bioleaching uses bacteria and not plants.</a:t>
            </a:r>
            <a:r>
              <a:rPr lang="en-GB" b="1" dirty="0"/>
              <a: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73513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baseline="0"/>
              <a:t>Purpose: </a:t>
            </a:r>
            <a:r>
              <a:rPr lang="en-GB" b="0" baseline="0"/>
              <a:t>This is a knowledge drill. The purpose of this is to check that the critical knowledge is secure before pupils move onto independent practice.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GB" b="1" baseline="0"/>
              <a:t>Suggested guidance:</a:t>
            </a:r>
            <a:r>
              <a:rPr lang="en-GB" b="0" baseline="0"/>
              <a:t> There are a range of ways this could be done depending on time and ability range of the class: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Mini whiteboards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full sentences in exercise books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short answers in exercise books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In the pupil workbook</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pair talk</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cold call</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endParaRPr lang="en-GB" b="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a:p>
        </p:txBody>
      </p:sp>
      <p:sp>
        <p:nvSpPr>
          <p:cNvPr id="4" name="Slide Number Placeholder 3"/>
          <p:cNvSpPr>
            <a:spLocks noGrp="1"/>
          </p:cNvSpPr>
          <p:nvPr>
            <p:ph type="sldNum" sz="quarter" idx="10"/>
          </p:nvPr>
        </p:nvSpPr>
        <p:spPr/>
        <p:txBody>
          <a:bodyPr/>
          <a:lstStyle/>
          <a:p>
            <a:fld id="{4B7F327E-D879-4193-B0D7-BEE89950DB5C}" type="slidenum">
              <a:rPr lang="en-GB" smtClean="0"/>
              <a:t>14</a:t>
            </a:fld>
            <a:endParaRPr lang="en-GB"/>
          </a:p>
        </p:txBody>
      </p:sp>
    </p:spTree>
    <p:extLst>
      <p:ext uri="{BB962C8B-B14F-4D97-AF65-F5344CB8AC3E}">
        <p14:creationId xmlns:p14="http://schemas.microsoft.com/office/powerpoint/2010/main" val="2708395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baseline="0"/>
              <a:t>Purpose: </a:t>
            </a:r>
            <a:r>
              <a:rPr lang="en-GB" b="0" baseline="0"/>
              <a:t>This is a knowledge drill. The purpose of this is to check that the critical knowledge is secure before pupils move onto independent practice.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0" marR="0" lvl="0" indent="0" algn="l" defTabSz="914400" rtl="0" eaLnBrk="1" fontAlgn="auto" latinLnBrk="0" hangingPunct="1">
              <a:lnSpc>
                <a:spcPct val="100000"/>
              </a:lnSpc>
              <a:spcBef>
                <a:spcPts val="0"/>
              </a:spcBef>
              <a:spcAft>
                <a:spcPts val="0"/>
              </a:spcAft>
              <a:buClrTx/>
              <a:buSzTx/>
              <a:buFontTx/>
              <a:buNone/>
              <a:tabLst/>
              <a:defRPr/>
            </a:pPr>
            <a:r>
              <a:rPr lang="en-GB" b="1" baseline="0"/>
              <a:t>Suggested guidance:</a:t>
            </a:r>
            <a:r>
              <a:rPr lang="en-GB" b="0" baseline="0"/>
              <a:t> There are a range of ways this could be done depending on time and ability range of the class: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Mini whiteboards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full sentences in exercise books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short answers in exercise books</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In the pupil workbook</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pair talk</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en-GB" b="0" baseline="0"/>
              <a:t>As cold call</a:t>
            </a:r>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endParaRPr lang="en-GB" b="1"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baseline="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a:p>
        </p:txBody>
      </p:sp>
      <p:sp>
        <p:nvSpPr>
          <p:cNvPr id="4" name="Slide Number Placeholder 3"/>
          <p:cNvSpPr>
            <a:spLocks noGrp="1"/>
          </p:cNvSpPr>
          <p:nvPr>
            <p:ph type="sldNum" sz="quarter" idx="10"/>
          </p:nvPr>
        </p:nvSpPr>
        <p:spPr/>
        <p:txBody>
          <a:bodyPr/>
          <a:lstStyle/>
          <a:p>
            <a:fld id="{4B7F327E-D879-4193-B0D7-BEE89950DB5C}" type="slidenum">
              <a:rPr lang="en-GB" smtClean="0"/>
              <a:t>15</a:t>
            </a:fld>
            <a:endParaRPr lang="en-GB"/>
          </a:p>
        </p:txBody>
      </p:sp>
    </p:spTree>
    <p:extLst>
      <p:ext uri="{BB962C8B-B14F-4D97-AF65-F5344CB8AC3E}">
        <p14:creationId xmlns:p14="http://schemas.microsoft.com/office/powerpoint/2010/main" val="1257251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models the process of answering a </a:t>
            </a:r>
            <a:r>
              <a:rPr lang="en-GB" b="1"/>
              <a:t>describe</a:t>
            </a:r>
            <a:r>
              <a:rPr lang="en-GB"/>
              <a:t> question.</a:t>
            </a:r>
          </a:p>
          <a:p>
            <a:endParaRPr lang="en-GB"/>
          </a:p>
          <a:p>
            <a:r>
              <a:rPr lang="en-GB"/>
              <a:t>Firstly, students are presented with a generic </a:t>
            </a:r>
            <a:r>
              <a:rPr lang="en-GB" b="1"/>
              <a:t>describe</a:t>
            </a:r>
            <a:r>
              <a:rPr lang="en-GB"/>
              <a:t> question, along with a model answer. Students are also given some simple guidance to follow for producing their own describe answer.</a:t>
            </a:r>
          </a:p>
          <a:p>
            <a:endParaRPr lang="en-GB"/>
          </a:p>
          <a:p>
            <a:r>
              <a:rPr lang="en-GB"/>
              <a:t>The generic question and answer should be used by the teacher to remind students of </a:t>
            </a:r>
          </a:p>
          <a:p>
            <a:pPr>
              <a:buFont typeface="Arial" panose="020B0604020202020204" pitchFamily="34" charset="0"/>
              <a:buChar char="•"/>
            </a:pPr>
            <a:r>
              <a:rPr lang="en-GB"/>
              <a:t>the key features of a great answer</a:t>
            </a:r>
          </a:p>
          <a:p>
            <a:pPr>
              <a:buFont typeface="Arial" panose="020B0604020202020204" pitchFamily="34" charset="0"/>
              <a:buChar char="•"/>
            </a:pPr>
            <a:r>
              <a:rPr lang="en-GB"/>
              <a:t>how to structure their answer</a:t>
            </a:r>
          </a:p>
          <a:p>
            <a:pPr>
              <a:buFont typeface="Arial" panose="020B0604020202020204" pitchFamily="34" charset="0"/>
              <a:buChar char="•"/>
            </a:pPr>
            <a:r>
              <a:rPr lang="en-GB"/>
              <a:t>why the model answer is a good example</a:t>
            </a:r>
          </a:p>
          <a:p>
            <a:pPr>
              <a:buFont typeface="Arial" panose="020B0604020202020204" pitchFamily="34" charset="0"/>
              <a:buChar char="•"/>
            </a:pPr>
            <a:endParaRPr lang="en-GB"/>
          </a:p>
          <a:p>
            <a:pPr marL="228600" indent="0">
              <a:buFont typeface="Arial" panose="020B0604020202020204" pitchFamily="34" charset="0"/>
              <a:buNone/>
            </a:pPr>
            <a:r>
              <a:rPr lang="en-GB"/>
              <a:t>Following this, students will be required to apply this process to answer their own describe question, which will appear in place of the generic questions. This describe question will be specific to the topic students are learning about in the lesson. Give students time to write their own answer to this, ensuring that they use the guidance provided. To further scaffold this task for students, it may be appropriate to:</a:t>
            </a:r>
          </a:p>
          <a:p>
            <a:pPr marL="400050" indent="-171450">
              <a:buFont typeface="Arial" panose="020B0604020202020204" pitchFamily="34" charset="0"/>
              <a:buChar char="•"/>
            </a:pPr>
            <a:r>
              <a:rPr lang="en-GB"/>
              <a:t>pair students up to write an answer together</a:t>
            </a:r>
          </a:p>
          <a:p>
            <a:pPr marL="400050" indent="-171450">
              <a:buFont typeface="Arial" panose="020B0604020202020204" pitchFamily="34" charset="0"/>
              <a:buChar char="•"/>
            </a:pPr>
            <a:r>
              <a:rPr lang="en-GB"/>
              <a:t>list for students the key words you would like them to include in the answer</a:t>
            </a:r>
          </a:p>
          <a:p>
            <a:pPr marL="400050" indent="-171450">
              <a:buFont typeface="Arial" panose="020B0604020202020204" pitchFamily="34" charset="0"/>
              <a:buChar char="•"/>
            </a:pPr>
            <a:r>
              <a:rPr lang="en-GB"/>
              <a:t>provide a writing frame or ‘points to include’ for students</a:t>
            </a:r>
          </a:p>
          <a:p>
            <a:pPr marL="228600" indent="0">
              <a:buFont typeface="Arial" panose="020B0604020202020204" pitchFamily="34" charset="0"/>
              <a:buNone/>
            </a:pPr>
            <a:endParaRPr lang="en-GB"/>
          </a:p>
          <a:p>
            <a:pPr marL="228600" indent="0">
              <a:buFont typeface="Arial" panose="020B0604020202020204" pitchFamily="34" charset="0"/>
              <a:buNone/>
            </a:pPr>
            <a:r>
              <a:rPr lang="en-GB"/>
              <a:t>A model answer for this question will appear. Teachers should review the model answer with students by referencing the guidance in the green box. For example ‘we can see item 1 in the guidance is to use bullet points to keep your answer clear. Notice in the model answer here we have done just that’. Or ‘item 2 in the guidance here says that we should use scientific keywords in the answer. Has this been achieved in the model answer? Where can we see this?’.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16</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8101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models the process of answering a </a:t>
            </a:r>
            <a:r>
              <a:rPr lang="en-GB" b="1"/>
              <a:t>describe</a:t>
            </a:r>
            <a:r>
              <a:rPr lang="en-GB"/>
              <a:t> question.</a:t>
            </a:r>
          </a:p>
          <a:p>
            <a:endParaRPr lang="en-GB"/>
          </a:p>
          <a:p>
            <a:r>
              <a:rPr lang="en-GB"/>
              <a:t>Firstly, students are presented with a generic </a:t>
            </a:r>
            <a:r>
              <a:rPr lang="en-GB" b="1"/>
              <a:t>describe</a:t>
            </a:r>
            <a:r>
              <a:rPr lang="en-GB"/>
              <a:t> question, along with a model answer. Students are also given some simple guidance to follow for producing their own describe answer.</a:t>
            </a:r>
          </a:p>
          <a:p>
            <a:endParaRPr lang="en-GB"/>
          </a:p>
          <a:p>
            <a:r>
              <a:rPr lang="en-GB"/>
              <a:t>The generic question and answer should be used by the teacher to remind students of </a:t>
            </a:r>
          </a:p>
          <a:p>
            <a:pPr>
              <a:buFont typeface="Arial" panose="020B0604020202020204" pitchFamily="34" charset="0"/>
              <a:buChar char="•"/>
            </a:pPr>
            <a:r>
              <a:rPr lang="en-GB"/>
              <a:t>the key features of a great answer</a:t>
            </a:r>
          </a:p>
          <a:p>
            <a:pPr>
              <a:buFont typeface="Arial" panose="020B0604020202020204" pitchFamily="34" charset="0"/>
              <a:buChar char="•"/>
            </a:pPr>
            <a:r>
              <a:rPr lang="en-GB"/>
              <a:t>how to structure their answer</a:t>
            </a:r>
          </a:p>
          <a:p>
            <a:pPr>
              <a:buFont typeface="Arial" panose="020B0604020202020204" pitchFamily="34" charset="0"/>
              <a:buChar char="•"/>
            </a:pPr>
            <a:r>
              <a:rPr lang="en-GB"/>
              <a:t>why the model answer is a good example</a:t>
            </a:r>
          </a:p>
          <a:p>
            <a:pPr>
              <a:buFont typeface="Arial" panose="020B0604020202020204" pitchFamily="34" charset="0"/>
              <a:buChar char="•"/>
            </a:pPr>
            <a:endParaRPr lang="en-GB"/>
          </a:p>
          <a:p>
            <a:pPr marL="228600" indent="0">
              <a:buFont typeface="Arial" panose="020B0604020202020204" pitchFamily="34" charset="0"/>
              <a:buNone/>
            </a:pPr>
            <a:r>
              <a:rPr lang="en-GB"/>
              <a:t>Following this, students will be required to apply this process to answer their own describe question, which will appear in place of the generic questions. This describe question will be specific to the topic students are learning about in the lesson. Give students time to write their own answer to this, ensuring that they use the guidance provided. To further scaffold this task for students, it may be appropriate to:</a:t>
            </a:r>
          </a:p>
          <a:p>
            <a:pPr marL="400050" indent="-171450">
              <a:buFont typeface="Arial" panose="020B0604020202020204" pitchFamily="34" charset="0"/>
              <a:buChar char="•"/>
            </a:pPr>
            <a:r>
              <a:rPr lang="en-GB"/>
              <a:t>pair students up to write an answer together</a:t>
            </a:r>
          </a:p>
          <a:p>
            <a:pPr marL="400050" indent="-171450">
              <a:buFont typeface="Arial" panose="020B0604020202020204" pitchFamily="34" charset="0"/>
              <a:buChar char="•"/>
            </a:pPr>
            <a:r>
              <a:rPr lang="en-GB"/>
              <a:t>list for students the key words you would like them to include in the answer</a:t>
            </a:r>
          </a:p>
          <a:p>
            <a:pPr marL="400050" indent="-171450">
              <a:buFont typeface="Arial" panose="020B0604020202020204" pitchFamily="34" charset="0"/>
              <a:buChar char="•"/>
            </a:pPr>
            <a:r>
              <a:rPr lang="en-GB"/>
              <a:t>provide a writing frame or ‘points to include’ for students</a:t>
            </a:r>
          </a:p>
          <a:p>
            <a:pPr marL="228600" indent="0">
              <a:buFont typeface="Arial" panose="020B0604020202020204" pitchFamily="34" charset="0"/>
              <a:buNone/>
            </a:pPr>
            <a:endParaRPr lang="en-GB"/>
          </a:p>
          <a:p>
            <a:pPr marL="228600" indent="0">
              <a:buFont typeface="Arial" panose="020B0604020202020204" pitchFamily="34" charset="0"/>
              <a:buNone/>
            </a:pPr>
            <a:r>
              <a:rPr lang="en-GB"/>
              <a:t>A model answer for this question will appear. Teachers should review the model answer with students by referencing the guidance in the green box. For example ‘we can see item 1 in the guidance is to use bullet points to keep your answer clear. Notice in the model answer here we have done just that’. Or ‘item 2 in the guidance here says that we should use scientific keywords in the answer. Has this been achieved in the model answer? Where can we see this?’.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42105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slide models the process of answering a </a:t>
            </a:r>
            <a:r>
              <a:rPr lang="en-GB" b="1"/>
              <a:t>describe</a:t>
            </a:r>
            <a:r>
              <a:rPr lang="en-GB"/>
              <a:t> question.</a:t>
            </a:r>
          </a:p>
          <a:p>
            <a:endParaRPr lang="en-GB"/>
          </a:p>
          <a:p>
            <a:r>
              <a:rPr lang="en-GB"/>
              <a:t>Firstly, students are presented with a generic </a:t>
            </a:r>
            <a:r>
              <a:rPr lang="en-GB" b="1"/>
              <a:t>describe</a:t>
            </a:r>
            <a:r>
              <a:rPr lang="en-GB"/>
              <a:t> question, along with a model answer. Students are also given some simple guidance to follow for producing their own describe answer.</a:t>
            </a:r>
          </a:p>
          <a:p>
            <a:endParaRPr lang="en-GB"/>
          </a:p>
          <a:p>
            <a:r>
              <a:rPr lang="en-GB"/>
              <a:t>The generic question and answer should be used by the teacher to remind students of </a:t>
            </a:r>
          </a:p>
          <a:p>
            <a:pPr>
              <a:buFont typeface="Arial" panose="020B0604020202020204" pitchFamily="34" charset="0"/>
              <a:buChar char="•"/>
            </a:pPr>
            <a:r>
              <a:rPr lang="en-GB"/>
              <a:t>the key features of a great answer</a:t>
            </a:r>
          </a:p>
          <a:p>
            <a:pPr>
              <a:buFont typeface="Arial" panose="020B0604020202020204" pitchFamily="34" charset="0"/>
              <a:buChar char="•"/>
            </a:pPr>
            <a:r>
              <a:rPr lang="en-GB"/>
              <a:t>how to structure their answer</a:t>
            </a:r>
          </a:p>
          <a:p>
            <a:pPr>
              <a:buFont typeface="Arial" panose="020B0604020202020204" pitchFamily="34" charset="0"/>
              <a:buChar char="•"/>
            </a:pPr>
            <a:r>
              <a:rPr lang="en-GB"/>
              <a:t>why the model answer is a good example</a:t>
            </a:r>
          </a:p>
          <a:p>
            <a:pPr>
              <a:buFont typeface="Arial" panose="020B0604020202020204" pitchFamily="34" charset="0"/>
              <a:buChar char="•"/>
            </a:pPr>
            <a:endParaRPr lang="en-GB"/>
          </a:p>
          <a:p>
            <a:pPr marL="228600" indent="0">
              <a:buFont typeface="Arial" panose="020B0604020202020204" pitchFamily="34" charset="0"/>
              <a:buNone/>
            </a:pPr>
            <a:r>
              <a:rPr lang="en-GB"/>
              <a:t>Following this, students will be required to apply this process to answer their own describe question, which will appear in place of the generic questions. This describe question will be specific to the topic students are learning about in the lesson. Give students time to write their own answer to this, ensuring that they use the guidance provided. To further scaffold this task for students, it may be appropriate to:</a:t>
            </a:r>
          </a:p>
          <a:p>
            <a:pPr marL="400050" indent="-171450">
              <a:buFont typeface="Arial" panose="020B0604020202020204" pitchFamily="34" charset="0"/>
              <a:buChar char="•"/>
            </a:pPr>
            <a:r>
              <a:rPr lang="en-GB"/>
              <a:t>pair students up to write an answer together</a:t>
            </a:r>
          </a:p>
          <a:p>
            <a:pPr marL="400050" indent="-171450">
              <a:buFont typeface="Arial" panose="020B0604020202020204" pitchFamily="34" charset="0"/>
              <a:buChar char="•"/>
            </a:pPr>
            <a:r>
              <a:rPr lang="en-GB"/>
              <a:t>list for students the key words you would like them to include in the answer</a:t>
            </a:r>
          </a:p>
          <a:p>
            <a:pPr marL="400050" indent="-171450">
              <a:buFont typeface="Arial" panose="020B0604020202020204" pitchFamily="34" charset="0"/>
              <a:buChar char="•"/>
            </a:pPr>
            <a:r>
              <a:rPr lang="en-GB"/>
              <a:t>provide a writing frame or ‘points to include’ for students</a:t>
            </a:r>
          </a:p>
          <a:p>
            <a:pPr marL="228600" indent="0">
              <a:buFont typeface="Arial" panose="020B0604020202020204" pitchFamily="34" charset="0"/>
              <a:buNone/>
            </a:pPr>
            <a:endParaRPr lang="en-GB"/>
          </a:p>
          <a:p>
            <a:pPr marL="228600" indent="0">
              <a:buFont typeface="Arial" panose="020B0604020202020204" pitchFamily="34" charset="0"/>
              <a:buNone/>
            </a:pPr>
            <a:r>
              <a:rPr lang="en-GB"/>
              <a:t>A model answer for this question will appear. Teachers should review the model answer with students by referencing the guidance in the green box. For example ‘we can see item 1 in the guidance is to use bullet points to keep your answer clear. Notice in the model answer here we have done just that’. Or ‘item 2 in the guidance here says that we should use scientific keywords in the answer. Has this been achieved in the model answer? Where can we see this?’.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11973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4079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77964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Step 1: Soil contains low grade copper ore. Plants absorb the metal ions from the soil, using their roots, and store them.</a:t>
            </a:r>
          </a:p>
          <a:p>
            <a:r>
              <a:rPr lang="en-GB" b="0" dirty="0"/>
              <a:t>Step 2: The plants are burned in oxygen. This produces waste carbon dioxide gas (CO</a:t>
            </a:r>
            <a:r>
              <a:rPr lang="en-GB" b="0" baseline="-25000" dirty="0"/>
              <a:t>2</a:t>
            </a:r>
            <a:r>
              <a:rPr lang="en-GB" b="0" baseline="0" dirty="0"/>
              <a:t>).</a:t>
            </a:r>
          </a:p>
          <a:p>
            <a:r>
              <a:rPr lang="en-GB" b="0" baseline="0" dirty="0"/>
              <a:t>Step 3:The oxygen gas reacts with the copper ions in the plant, to make copper oxide (</a:t>
            </a:r>
            <a:r>
              <a:rPr lang="en-GB" b="0" baseline="0" dirty="0" err="1"/>
              <a:t>CuO</a:t>
            </a:r>
            <a:r>
              <a:rPr lang="en-GB" b="0" baseline="0" dirty="0"/>
              <a:t>). This looks like black ash. Copper oxide is an ore of copper.</a:t>
            </a:r>
          </a:p>
          <a:p>
            <a:r>
              <a:rPr lang="en-GB" b="0" baseline="0" dirty="0"/>
              <a:t>Step 4: This copper oxide is added to sulphuric acid to form copper sulphate solution (a blue liquid). </a:t>
            </a:r>
            <a:r>
              <a:rPr lang="en-GB" b="0" baseline="0" dirty="0" err="1"/>
              <a:t>CuO</a:t>
            </a:r>
            <a:r>
              <a:rPr lang="en-GB" b="0" baseline="0" dirty="0"/>
              <a:t> + H</a:t>
            </a:r>
            <a:r>
              <a:rPr lang="en-GB" b="0" baseline="-25000" dirty="0"/>
              <a:t>2</a:t>
            </a:r>
            <a:r>
              <a:rPr lang="en-GB" b="0" baseline="0" dirty="0"/>
              <a:t>SO</a:t>
            </a:r>
            <a:r>
              <a:rPr lang="en-GB" b="0" baseline="-25000" dirty="0"/>
              <a:t>4</a:t>
            </a:r>
            <a:r>
              <a:rPr lang="en-GB" b="0" baseline="0" dirty="0"/>
              <a:t> → CuSO</a:t>
            </a:r>
            <a:r>
              <a:rPr lang="en-GB" b="0" baseline="-25000" dirty="0"/>
              <a:t>4</a:t>
            </a:r>
            <a:r>
              <a:rPr lang="en-GB" b="0" baseline="0" dirty="0"/>
              <a:t> + H</a:t>
            </a:r>
            <a:r>
              <a:rPr lang="en-GB" b="0" baseline="-25000" dirty="0"/>
              <a:t>2</a:t>
            </a:r>
            <a:r>
              <a:rPr lang="en-GB" b="0" baseline="0" dirty="0"/>
              <a:t>O</a:t>
            </a:r>
          </a:p>
          <a:p>
            <a:r>
              <a:rPr lang="en-GB" b="0" baseline="0" dirty="0"/>
              <a:t>Step 5: Electrolysis is used to extract pure copper from the copper sulphate solution. The copper ions are discharged at the cathode (negative electrode). </a:t>
            </a:r>
            <a:endParaRPr lang="en-GB" b="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6788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42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50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34150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7A17-D85F-053F-62DB-BBBE0156E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B3219-57C5-EFA6-EA47-F8B318CEA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A725C6-58FF-4ADA-E92E-8211133AE0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2D3F3B8D-F0AA-A1DF-A3FA-73F72ADA941F}"/>
              </a:ext>
            </a:extLst>
          </p:cNvPr>
          <p:cNvSpPr>
            <a:spLocks noGrp="1"/>
          </p:cNvSpPr>
          <p:nvPr>
            <p:ph type="sldNum" sz="quarter" idx="5"/>
          </p:nvPr>
        </p:nvSpPr>
        <p:spPr/>
        <p:txBody>
          <a:bodyPr/>
          <a:lstStyle/>
          <a:p>
            <a:fld id="{02C02FAF-5122-C245-974D-1AD19803020E}" type="slidenum">
              <a:rPr lang="en-US" smtClean="0"/>
              <a:t>25</a:t>
            </a:fld>
            <a:endParaRPr lang="en-US"/>
          </a:p>
        </p:txBody>
      </p:sp>
    </p:spTree>
    <p:extLst>
      <p:ext uri="{BB962C8B-B14F-4D97-AF65-F5344CB8AC3E}">
        <p14:creationId xmlns:p14="http://schemas.microsoft.com/office/powerpoint/2010/main" val="1207906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F603-64E7-1901-4B62-3FB864871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7BDC7-FED8-21DF-FAE5-AC06ED26B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91719-77DD-622D-58F4-03960D8207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86FD45B-8431-A0F9-3DEE-E6C6044FA0AF}"/>
              </a:ext>
            </a:extLst>
          </p:cNvPr>
          <p:cNvSpPr>
            <a:spLocks noGrp="1"/>
          </p:cNvSpPr>
          <p:nvPr>
            <p:ph type="sldNum" sz="quarter" idx="5"/>
          </p:nvPr>
        </p:nvSpPr>
        <p:spPr/>
        <p:txBody>
          <a:bodyPr/>
          <a:lstStyle/>
          <a:p>
            <a:fld id="{02C02FAF-5122-C245-974D-1AD19803020E}" type="slidenum">
              <a:rPr lang="en-US" smtClean="0"/>
              <a:t>26</a:t>
            </a:fld>
            <a:endParaRPr lang="en-US"/>
          </a:p>
        </p:txBody>
      </p:sp>
    </p:spTree>
    <p:extLst>
      <p:ext uri="{BB962C8B-B14F-4D97-AF65-F5344CB8AC3E}">
        <p14:creationId xmlns:p14="http://schemas.microsoft.com/office/powerpoint/2010/main" val="3199781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9DCE3-7333-22E3-77CC-AF4B920D7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6267F-8165-809F-6D67-434758821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A9300-778E-F70D-0D67-CC4E8A223C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4121FCB-D467-F4E3-3688-7911589FEE8D}"/>
              </a:ext>
            </a:extLst>
          </p:cNvPr>
          <p:cNvSpPr>
            <a:spLocks noGrp="1"/>
          </p:cNvSpPr>
          <p:nvPr>
            <p:ph type="sldNum" sz="quarter" idx="5"/>
          </p:nvPr>
        </p:nvSpPr>
        <p:spPr/>
        <p:txBody>
          <a:bodyPr/>
          <a:lstStyle/>
          <a:p>
            <a:fld id="{02C02FAF-5122-C245-974D-1AD19803020E}" type="slidenum">
              <a:rPr lang="en-US" smtClean="0"/>
              <a:t>27</a:t>
            </a:fld>
            <a:endParaRPr lang="en-US"/>
          </a:p>
        </p:txBody>
      </p:sp>
    </p:spTree>
    <p:extLst>
      <p:ext uri="{BB962C8B-B14F-4D97-AF65-F5344CB8AC3E}">
        <p14:creationId xmlns:p14="http://schemas.microsoft.com/office/powerpoint/2010/main" val="38000998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1B07-5536-8342-2738-15699BBD3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DE9B6-93E3-5384-8DCA-2C9E109BC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65D13-5210-FEBB-2B74-B8000858C1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BBF57D0-1DFF-5A74-9F5B-0EDCC4B9308F}"/>
              </a:ext>
            </a:extLst>
          </p:cNvPr>
          <p:cNvSpPr>
            <a:spLocks noGrp="1"/>
          </p:cNvSpPr>
          <p:nvPr>
            <p:ph type="sldNum" sz="quarter" idx="5"/>
          </p:nvPr>
        </p:nvSpPr>
        <p:spPr/>
        <p:txBody>
          <a:bodyPr/>
          <a:lstStyle/>
          <a:p>
            <a:fld id="{02C02FAF-5122-C245-974D-1AD19803020E}" type="slidenum">
              <a:rPr lang="en-US" smtClean="0"/>
              <a:t>28</a:t>
            </a:fld>
            <a:endParaRPr lang="en-US"/>
          </a:p>
        </p:txBody>
      </p:sp>
    </p:spTree>
    <p:extLst>
      <p:ext uri="{BB962C8B-B14F-4D97-AF65-F5344CB8AC3E}">
        <p14:creationId xmlns:p14="http://schemas.microsoft.com/office/powerpoint/2010/main" val="1704964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CCD04-5E5A-8E51-3CC4-BB6B46639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F7F0D-CC90-E6DD-2EAE-B92C483C2B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EA636-1570-3A71-7945-3268CF26E9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58EE252-E122-9A6C-0D4B-0B051168C336}"/>
              </a:ext>
            </a:extLst>
          </p:cNvPr>
          <p:cNvSpPr>
            <a:spLocks noGrp="1"/>
          </p:cNvSpPr>
          <p:nvPr>
            <p:ph type="sldNum" sz="quarter" idx="5"/>
          </p:nvPr>
        </p:nvSpPr>
        <p:spPr/>
        <p:txBody>
          <a:bodyPr/>
          <a:lstStyle/>
          <a:p>
            <a:fld id="{02C02FAF-5122-C245-974D-1AD19803020E}" type="slidenum">
              <a:rPr lang="en-US" smtClean="0"/>
              <a:t>29</a:t>
            </a:fld>
            <a:endParaRPr lang="en-US"/>
          </a:p>
        </p:txBody>
      </p:sp>
    </p:spTree>
    <p:extLst>
      <p:ext uri="{BB962C8B-B14F-4D97-AF65-F5344CB8AC3E}">
        <p14:creationId xmlns:p14="http://schemas.microsoft.com/office/powerpoint/2010/main" val="1421704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0510-4201-59FD-D8AA-D02F31832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A2BBA-341F-34A3-80D5-73642CCD8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96568-B41F-3170-896E-B9E2015894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BA510DF-FA7D-D9E1-A170-8372500B4BAC}"/>
              </a:ext>
            </a:extLst>
          </p:cNvPr>
          <p:cNvSpPr>
            <a:spLocks noGrp="1"/>
          </p:cNvSpPr>
          <p:nvPr>
            <p:ph type="sldNum" sz="quarter" idx="5"/>
          </p:nvPr>
        </p:nvSpPr>
        <p:spPr/>
        <p:txBody>
          <a:bodyPr/>
          <a:lstStyle/>
          <a:p>
            <a:fld id="{02C02FAF-5122-C245-974D-1AD19803020E}" type="slidenum">
              <a:rPr lang="en-US" smtClean="0"/>
              <a:t>30</a:t>
            </a:fld>
            <a:endParaRPr lang="en-US"/>
          </a:p>
        </p:txBody>
      </p:sp>
    </p:spTree>
    <p:extLst>
      <p:ext uri="{BB962C8B-B14F-4D97-AF65-F5344CB8AC3E}">
        <p14:creationId xmlns:p14="http://schemas.microsoft.com/office/powerpoint/2010/main" val="3583513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5193-1E67-2401-5DAD-B898AE959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76D4A-16CE-AC89-D176-F260F7B33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E15D7-285E-F90C-EC45-B6238B1E1F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9F5D921-04D1-C2B1-BFF8-A33FCC81AC48}"/>
              </a:ext>
            </a:extLst>
          </p:cNvPr>
          <p:cNvSpPr>
            <a:spLocks noGrp="1"/>
          </p:cNvSpPr>
          <p:nvPr>
            <p:ph type="sldNum" sz="quarter" idx="5"/>
          </p:nvPr>
        </p:nvSpPr>
        <p:spPr/>
        <p:txBody>
          <a:bodyPr/>
          <a:lstStyle/>
          <a:p>
            <a:fld id="{02C02FAF-5122-C245-974D-1AD19803020E}" type="slidenum">
              <a:rPr lang="en-US" smtClean="0"/>
              <a:t>31</a:t>
            </a:fld>
            <a:endParaRPr lang="en-US"/>
          </a:p>
        </p:txBody>
      </p:sp>
    </p:spTree>
    <p:extLst>
      <p:ext uri="{BB962C8B-B14F-4D97-AF65-F5344CB8AC3E}">
        <p14:creationId xmlns:p14="http://schemas.microsoft.com/office/powerpoint/2010/main" val="19126395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E3A62-1370-7CA5-FD94-1C69743AF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08586-75C4-BA19-1C9C-4D49CE0BB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1CB91-9EF8-2657-86EC-725FE3CE7F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B41B658-42EB-DB12-FC78-D6A6FD5A2F7C}"/>
              </a:ext>
            </a:extLst>
          </p:cNvPr>
          <p:cNvSpPr>
            <a:spLocks noGrp="1"/>
          </p:cNvSpPr>
          <p:nvPr>
            <p:ph type="sldNum" sz="quarter" idx="5"/>
          </p:nvPr>
        </p:nvSpPr>
        <p:spPr/>
        <p:txBody>
          <a:bodyPr/>
          <a:lstStyle/>
          <a:p>
            <a:fld id="{02C02FAF-5122-C245-974D-1AD19803020E}" type="slidenum">
              <a:rPr lang="en-US" smtClean="0"/>
              <a:t>32</a:t>
            </a:fld>
            <a:endParaRPr lang="en-US"/>
          </a:p>
        </p:txBody>
      </p:sp>
    </p:spTree>
    <p:extLst>
      <p:ext uri="{BB962C8B-B14F-4D97-AF65-F5344CB8AC3E}">
        <p14:creationId xmlns:p14="http://schemas.microsoft.com/office/powerpoint/2010/main" val="32578254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CD4C8-3283-8447-33E5-237B6C6FC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5F22E-FCB2-8176-178F-93EAC26E9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E1FC3-BC0F-894A-E995-3B4574F316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151AEBD-AE1E-298F-B15D-92D153D542D4}"/>
              </a:ext>
            </a:extLst>
          </p:cNvPr>
          <p:cNvSpPr>
            <a:spLocks noGrp="1"/>
          </p:cNvSpPr>
          <p:nvPr>
            <p:ph type="sldNum" sz="quarter" idx="5"/>
          </p:nvPr>
        </p:nvSpPr>
        <p:spPr/>
        <p:txBody>
          <a:bodyPr/>
          <a:lstStyle/>
          <a:p>
            <a:fld id="{02C02FAF-5122-C245-974D-1AD19803020E}" type="slidenum">
              <a:rPr lang="en-US" smtClean="0"/>
              <a:t>33</a:t>
            </a:fld>
            <a:endParaRPr lang="en-US"/>
          </a:p>
        </p:txBody>
      </p:sp>
    </p:spTree>
    <p:extLst>
      <p:ext uri="{BB962C8B-B14F-4D97-AF65-F5344CB8AC3E}">
        <p14:creationId xmlns:p14="http://schemas.microsoft.com/office/powerpoint/2010/main" val="516875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86A41-A4ED-5653-5260-ED2173ED9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DB223-4FDF-E4CA-241F-55FA8430C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92D1A4-AF1B-09D4-9D07-AA4EA44A5C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E43959E-036C-1442-6C56-4BF912C351DE}"/>
              </a:ext>
            </a:extLst>
          </p:cNvPr>
          <p:cNvSpPr>
            <a:spLocks noGrp="1"/>
          </p:cNvSpPr>
          <p:nvPr>
            <p:ph type="sldNum" sz="quarter" idx="5"/>
          </p:nvPr>
        </p:nvSpPr>
        <p:spPr/>
        <p:txBody>
          <a:bodyPr/>
          <a:lstStyle/>
          <a:p>
            <a:fld id="{02C02FAF-5122-C245-974D-1AD19803020E}" type="slidenum">
              <a:rPr lang="en-US" smtClean="0"/>
              <a:t>34</a:t>
            </a:fld>
            <a:endParaRPr lang="en-US"/>
          </a:p>
        </p:txBody>
      </p:sp>
    </p:spTree>
    <p:extLst>
      <p:ext uri="{BB962C8B-B14F-4D97-AF65-F5344CB8AC3E}">
        <p14:creationId xmlns:p14="http://schemas.microsoft.com/office/powerpoint/2010/main" val="31843246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0ACC-0D6C-9994-4B35-FC7F7E7CA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1B41D-2F81-8F71-BF5E-105BB8CAE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15198-387D-9963-22AE-DDF5F65360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FC40C2A-25D1-0DD4-8CA9-C595ACF49B06}"/>
              </a:ext>
            </a:extLst>
          </p:cNvPr>
          <p:cNvSpPr>
            <a:spLocks noGrp="1"/>
          </p:cNvSpPr>
          <p:nvPr>
            <p:ph type="sldNum" sz="quarter" idx="5"/>
          </p:nvPr>
        </p:nvSpPr>
        <p:spPr/>
        <p:txBody>
          <a:bodyPr/>
          <a:lstStyle/>
          <a:p>
            <a:fld id="{02C02FAF-5122-C245-974D-1AD19803020E}" type="slidenum">
              <a:rPr lang="en-US" smtClean="0"/>
              <a:t>35</a:t>
            </a:fld>
            <a:endParaRPr lang="en-US"/>
          </a:p>
        </p:txBody>
      </p:sp>
    </p:spTree>
    <p:extLst>
      <p:ext uri="{BB962C8B-B14F-4D97-AF65-F5344CB8AC3E}">
        <p14:creationId xmlns:p14="http://schemas.microsoft.com/office/powerpoint/2010/main" val="35169205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7862A-DE25-4B7C-2C7A-71E48EA80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0C7DF-5015-128D-51FE-BF5133B1C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9FF8F-F64E-90ED-A68F-6F2A2D6914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1644345-210A-05A3-08E7-04A481BD9A3E}"/>
              </a:ext>
            </a:extLst>
          </p:cNvPr>
          <p:cNvSpPr>
            <a:spLocks noGrp="1"/>
          </p:cNvSpPr>
          <p:nvPr>
            <p:ph type="sldNum" sz="quarter" idx="5"/>
          </p:nvPr>
        </p:nvSpPr>
        <p:spPr/>
        <p:txBody>
          <a:bodyPr/>
          <a:lstStyle/>
          <a:p>
            <a:fld id="{02C02FAF-5122-C245-974D-1AD19803020E}" type="slidenum">
              <a:rPr lang="en-US" smtClean="0"/>
              <a:t>36</a:t>
            </a:fld>
            <a:endParaRPr lang="en-US"/>
          </a:p>
        </p:txBody>
      </p:sp>
    </p:spTree>
    <p:extLst>
      <p:ext uri="{BB962C8B-B14F-4D97-AF65-F5344CB8AC3E}">
        <p14:creationId xmlns:p14="http://schemas.microsoft.com/office/powerpoint/2010/main" val="10249354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CCF3-0490-018D-2D33-7652CAA03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50A41-11E2-0E40-5CE2-25AEF29B3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D0961-5389-AF31-0146-5E772CD433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A230C98-14A6-532F-1B91-7B815CAB4A2F}"/>
              </a:ext>
            </a:extLst>
          </p:cNvPr>
          <p:cNvSpPr>
            <a:spLocks noGrp="1"/>
          </p:cNvSpPr>
          <p:nvPr>
            <p:ph type="sldNum" sz="quarter" idx="5"/>
          </p:nvPr>
        </p:nvSpPr>
        <p:spPr/>
        <p:txBody>
          <a:bodyPr/>
          <a:lstStyle/>
          <a:p>
            <a:fld id="{02C02FAF-5122-C245-974D-1AD19803020E}" type="slidenum">
              <a:rPr lang="en-US" smtClean="0"/>
              <a:t>37</a:t>
            </a:fld>
            <a:endParaRPr lang="en-US"/>
          </a:p>
        </p:txBody>
      </p:sp>
    </p:spTree>
    <p:extLst>
      <p:ext uri="{BB962C8B-B14F-4D97-AF65-F5344CB8AC3E}">
        <p14:creationId xmlns:p14="http://schemas.microsoft.com/office/powerpoint/2010/main" val="3018532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mj-lt"/>
              <a:buNone/>
            </a:pPr>
            <a:r>
              <a:rPr lang="en-GB" b="1" dirty="0"/>
              <a:t>Q1. Answer: A</a:t>
            </a:r>
          </a:p>
          <a:p>
            <a:pPr marL="0" marR="0" lvl="0" indent="0" algn="l" rtl="0">
              <a:lnSpc>
                <a:spcPct val="100000"/>
              </a:lnSpc>
              <a:spcBef>
                <a:spcPts val="0"/>
              </a:spcBef>
              <a:spcAft>
                <a:spcPts val="0"/>
              </a:spcAft>
              <a:buClr>
                <a:schemeClr val="dk1"/>
              </a:buClr>
              <a:buSzPts val="1200"/>
              <a:buFont typeface="+mj-lt"/>
              <a:buNone/>
            </a:pPr>
            <a:r>
              <a:rPr lang="en-GB" b="0" dirty="0"/>
              <a:t>If students answer B or C, they are unable to define the methods of extracting metals from ores. </a:t>
            </a:r>
            <a:r>
              <a:rPr lang="en-GB" i="1" dirty="0"/>
              <a:t>To fix-it, ask students to review their notes and then to define each term.</a:t>
            </a:r>
          </a:p>
          <a:p>
            <a:pPr marL="0" marR="0" lvl="0" indent="0" algn="l" rtl="0">
              <a:lnSpc>
                <a:spcPct val="100000"/>
              </a:lnSpc>
              <a:spcBef>
                <a:spcPts val="0"/>
              </a:spcBef>
              <a:spcAft>
                <a:spcPts val="0"/>
              </a:spcAft>
              <a:buClr>
                <a:schemeClr val="dk1"/>
              </a:buClr>
              <a:buSzPts val="1200"/>
              <a:buFont typeface="+mj-lt"/>
              <a:buNone/>
            </a:pPr>
            <a:r>
              <a:rPr lang="en-GB" b="1" i="0" dirty="0"/>
              <a:t>Q2. </a:t>
            </a:r>
            <a:r>
              <a:rPr lang="en-GB" b="1" dirty="0"/>
              <a:t>Answer: B</a:t>
            </a:r>
          </a:p>
          <a:p>
            <a:pPr marL="0" marR="0" lvl="0" indent="0" algn="l" rtl="0">
              <a:lnSpc>
                <a:spcPct val="100000"/>
              </a:lnSpc>
              <a:spcBef>
                <a:spcPts val="0"/>
              </a:spcBef>
              <a:spcAft>
                <a:spcPts val="0"/>
              </a:spcAft>
              <a:buClr>
                <a:schemeClr val="dk1"/>
              </a:buClr>
              <a:buSzPts val="1200"/>
              <a:buFont typeface="+mj-lt"/>
              <a:buNone/>
            </a:pPr>
            <a:r>
              <a:rPr lang="en-GB" b="0" dirty="0"/>
              <a:t>If students answer A or C, they do not understand why alternative methods of extraction are needed. </a:t>
            </a:r>
            <a:r>
              <a:rPr lang="en-GB" i="1" dirty="0"/>
              <a:t>To fix-it, show students the graphs on slides 8 and 9 of this </a:t>
            </a:r>
            <a:r>
              <a:rPr lang="en-GB" i="1" dirty="0" err="1"/>
              <a:t>powerpoint</a:t>
            </a:r>
            <a:r>
              <a:rPr lang="en-GB" i="1" dirty="0"/>
              <a:t> and ask them to explain what they tell us.</a:t>
            </a:r>
            <a:endParaRPr lang="en-GB" b="0" i="1" dirty="0"/>
          </a:p>
          <a:p>
            <a:pPr marL="0" marR="0" lvl="0" indent="0" algn="l" rtl="0">
              <a:lnSpc>
                <a:spcPct val="100000"/>
              </a:lnSpc>
              <a:spcBef>
                <a:spcPts val="0"/>
              </a:spcBef>
              <a:spcAft>
                <a:spcPts val="0"/>
              </a:spcAft>
              <a:buClr>
                <a:schemeClr val="dk1"/>
              </a:buClr>
              <a:buSzPts val="1200"/>
              <a:buFont typeface="+mj-lt"/>
              <a:buNone/>
            </a:pPr>
            <a:r>
              <a:rPr lang="en-GB" b="1" i="0" dirty="0"/>
              <a:t>Q3. </a:t>
            </a:r>
            <a:r>
              <a:rPr lang="en-GB" b="1" dirty="0"/>
              <a:t>Answer: A</a:t>
            </a:r>
          </a:p>
          <a:p>
            <a:pPr marL="0" marR="0" lvl="0" indent="0" algn="l" rtl="0">
              <a:lnSpc>
                <a:spcPct val="100000"/>
              </a:lnSpc>
              <a:spcBef>
                <a:spcPts val="0"/>
              </a:spcBef>
              <a:spcAft>
                <a:spcPts val="0"/>
              </a:spcAft>
              <a:buClr>
                <a:schemeClr val="dk1"/>
              </a:buClr>
              <a:buSzPts val="1200"/>
              <a:buFont typeface="+mj-lt"/>
              <a:buNone/>
            </a:pPr>
            <a:r>
              <a:rPr lang="en-GB" b="0" dirty="0"/>
              <a:t>If students answer B or C, they are unable to describe a disadvantage of traditional mining. </a:t>
            </a:r>
            <a:r>
              <a:rPr lang="en-GB" i="1" dirty="0"/>
              <a:t>To fix-it, ask students to create a table that compares traditional mining with phytomining, including any environmental effects.</a:t>
            </a:r>
            <a:endParaRPr lang="en-GB" b="0" i="1" dirty="0"/>
          </a:p>
          <a:p>
            <a:pPr marL="0" marR="0" lvl="0" indent="0" algn="l" rtl="0">
              <a:lnSpc>
                <a:spcPct val="100000"/>
              </a:lnSpc>
              <a:spcBef>
                <a:spcPts val="0"/>
              </a:spcBef>
              <a:spcAft>
                <a:spcPts val="0"/>
              </a:spcAft>
              <a:buClr>
                <a:schemeClr val="dk1"/>
              </a:buClr>
              <a:buSzPts val="1200"/>
              <a:buFont typeface="+mj-lt"/>
              <a:buNone/>
            </a:pPr>
            <a:endParaRPr lang="en-GB" b="0" i="1"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38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0689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DEE5E-A815-70E0-2EDF-D22920BD430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0F47AEF-F72F-1B52-D1F7-0697BCE557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D3096F2-679A-246E-CE3D-C496EED9F839}"/>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6EA775D9-0248-5F87-7EB0-426CC8CC5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7B8D-B6E4-5B1B-4C94-164E760730E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1436092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D284-A00B-D915-B5D3-20592B3D556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0EADB8E-3E38-46E1-2B34-127AC16A3AD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02BBEF4-81A0-581D-57F5-7768C8346339}"/>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499F59F8-364B-3BA5-037B-616D1810D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014E60-572B-DE8F-B504-E147F3C0573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2599311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FBA2-D266-E178-6F4B-620C6EA8010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2766EB-27AD-F9D5-A2A5-747F8231E7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D37229E-2ACA-5E68-AD62-95B66CB0CBE0}"/>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AD656608-98B3-8DE5-6C55-8BBD8006B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AAB4F-7E8B-7B37-8AB2-FC73C4835C4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8103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03579-BB3A-AD0F-55E7-C34EBF2054A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D787B77-5FED-2C3A-2124-76394F4D1DB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987E952-9AD1-843F-26D3-E6BE7AAB3BD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47FB7F9-7551-8D68-B7A4-35209D87787A}"/>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6" name="Footer Placeholder 5">
            <a:extLst>
              <a:ext uri="{FF2B5EF4-FFF2-40B4-BE49-F238E27FC236}">
                <a16:creationId xmlns:a16="http://schemas.microsoft.com/office/drawing/2014/main" id="{06AAC358-4953-5286-A46E-8161D106B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F83A7-F35D-262A-133F-CF911DCF777B}"/>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1909534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94C13-7F19-8B7E-1D0C-68139799264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EE68698-3E97-310E-860B-C7ECFBD949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065526-EDB0-E68A-24B1-4E28C30C74B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1F2B2E-C987-766C-FF05-EC6BB4104A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5931A8D-FFDC-0E23-E243-62CA25E8E4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61DBC5-0B62-3D4A-1312-63364FA9BF65}"/>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8" name="Footer Placeholder 7">
            <a:extLst>
              <a:ext uri="{FF2B5EF4-FFF2-40B4-BE49-F238E27FC236}">
                <a16:creationId xmlns:a16="http://schemas.microsoft.com/office/drawing/2014/main" id="{A9963FEF-485A-FA4B-12F7-F0E6E15885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447799-1FE8-54FB-605A-03FBAE785378}"/>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057889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9B0D-FF47-9BA5-0D12-F675E98CD31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8F25A8-AE34-8027-8228-03591DE9A940}"/>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4" name="Footer Placeholder 3">
            <a:extLst>
              <a:ext uri="{FF2B5EF4-FFF2-40B4-BE49-F238E27FC236}">
                <a16:creationId xmlns:a16="http://schemas.microsoft.com/office/drawing/2014/main" id="{90440D74-C734-861E-4358-F01029338C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EE0D9E-8BCA-CF59-72BD-E08955BF8D04}"/>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521350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F75D6F-32CC-C049-ED2C-EE68833632DC}"/>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3" name="Footer Placeholder 2">
            <a:extLst>
              <a:ext uri="{FF2B5EF4-FFF2-40B4-BE49-F238E27FC236}">
                <a16:creationId xmlns:a16="http://schemas.microsoft.com/office/drawing/2014/main" id="{ECBB5AA6-563B-A63C-05C2-1998208CD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B646A8-E0F5-F68A-2660-305CF5A21708}"/>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289210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EF5A-3278-E474-2FF8-AB13E1F571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79A47BF-3BBA-9D7C-FF98-85F4258A3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9192947-5889-9061-D30F-ED06DF288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656BD4-CE93-B227-4BF2-C79F947E7A1B}"/>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6" name="Footer Placeholder 5">
            <a:extLst>
              <a:ext uri="{FF2B5EF4-FFF2-40B4-BE49-F238E27FC236}">
                <a16:creationId xmlns:a16="http://schemas.microsoft.com/office/drawing/2014/main" id="{3A721D44-2280-B9F0-B137-B6F0F1CEF4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BA9734-2FB2-1051-13DA-550B5F549326}"/>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51968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BBF8-FF4F-7157-FBE7-8D01993EEC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D7A8E93-48D5-328F-14A0-B205A2E87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5346B4-D7FB-EBDF-434E-0AF852D28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5C2412-159D-7E1B-89EA-978036DAC9C1}"/>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6" name="Footer Placeholder 5">
            <a:extLst>
              <a:ext uri="{FF2B5EF4-FFF2-40B4-BE49-F238E27FC236}">
                <a16:creationId xmlns:a16="http://schemas.microsoft.com/office/drawing/2014/main" id="{8473249E-820A-2332-29B2-96E644AA9A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8D880-8FB6-A11E-1E89-2E4761941724}"/>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664952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F6387-367A-48ED-9408-863E64174B5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37E30E-05A3-7B9C-4153-9028CF907C2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0B45CF2-2956-1BC9-60F4-98D1A6819CC3}"/>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095FB57C-FA07-6B4C-C61C-D68FB9E0D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F3AB8-51BD-A9FB-7133-C2B077082C5A}"/>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974054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517435-BF8D-43C9-8067-76354F3F10E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6E05E63-A0CB-5B83-4A16-C1E39B86CB0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401809-25B4-3791-6B43-F99A71CBF8AB}"/>
              </a:ext>
            </a:extLst>
          </p:cNvPr>
          <p:cNvSpPr>
            <a:spLocks noGrp="1"/>
          </p:cNvSpPr>
          <p:nvPr>
            <p:ph type="dt" sz="half" idx="10"/>
          </p:nvPr>
        </p:nvSpPr>
        <p:spPr/>
        <p:txBody>
          <a:body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8504DA8F-B795-1A5E-10B2-DD3859226D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23E2C-500D-7057-C5D2-0A8A1A5432BA}"/>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743519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Introduc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CC60F1-53C2-2F45-BA74-D0D91DCBB869}"/>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013E8-2729-5B47-8374-30CE1D248EBB}"/>
              </a:ext>
            </a:extLst>
          </p:cNvPr>
          <p:cNvSpPr>
            <a:spLocks noGrp="1"/>
          </p:cNvSpPr>
          <p:nvPr>
            <p:ph type="title" hasCustomPrompt="1"/>
          </p:nvPr>
        </p:nvSpPr>
        <p:spPr>
          <a:xfrm>
            <a:off x="540000" y="0"/>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FB8F997C-5D99-6F43-B0D2-545450812158}"/>
              </a:ext>
            </a:extLst>
          </p:cNvPr>
          <p:cNvSpPr txBox="1"/>
          <p:nvPr/>
        </p:nvSpPr>
        <p:spPr>
          <a:xfrm rot="16200000">
            <a:off x="8433600" y="3099600"/>
            <a:ext cx="6858000"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Introduction</a:t>
            </a:r>
          </a:p>
        </p:txBody>
      </p:sp>
    </p:spTree>
    <p:extLst>
      <p:ext uri="{BB962C8B-B14F-4D97-AF65-F5344CB8AC3E}">
        <p14:creationId xmlns:p14="http://schemas.microsoft.com/office/powerpoint/2010/main" val="149939135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alk Tas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CC60F1-53C2-2F45-BA74-D0D91DCBB869}"/>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013E8-2729-5B47-8374-30CE1D248EBB}"/>
              </a:ext>
            </a:extLst>
          </p:cNvPr>
          <p:cNvSpPr>
            <a:spLocks noGrp="1"/>
          </p:cNvSpPr>
          <p:nvPr>
            <p:ph type="title" hasCustomPrompt="1"/>
          </p:nvPr>
        </p:nvSpPr>
        <p:spPr>
          <a:xfrm>
            <a:off x="540000" y="0"/>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FB8F997C-5D99-6F43-B0D2-545450812158}"/>
              </a:ext>
            </a:extLst>
          </p:cNvPr>
          <p:cNvSpPr txBox="1"/>
          <p:nvPr/>
        </p:nvSpPr>
        <p:spPr>
          <a:xfrm rot="16200000">
            <a:off x="8433600" y="3099600"/>
            <a:ext cx="6858000"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Talk Task</a:t>
            </a:r>
          </a:p>
        </p:txBody>
      </p:sp>
    </p:spTree>
    <p:extLst>
      <p:ext uri="{BB962C8B-B14F-4D97-AF65-F5344CB8AC3E}">
        <p14:creationId xmlns:p14="http://schemas.microsoft.com/office/powerpoint/2010/main" val="1958284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heck for understand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9EA7AB-2A8A-FC4D-9B64-1ACEDF370C9C}"/>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420EA5B-6D37-7E44-9227-CDD97B420EC1}"/>
              </a:ext>
            </a:extLst>
          </p:cNvPr>
          <p:cNvSpPr txBox="1"/>
          <p:nvPr/>
        </p:nvSpPr>
        <p:spPr>
          <a:xfrm rot="16200000">
            <a:off x="8433599" y="3099599"/>
            <a:ext cx="6858002"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Check for understanding</a:t>
            </a:r>
          </a:p>
        </p:txBody>
      </p:sp>
      <p:sp>
        <p:nvSpPr>
          <p:cNvPr id="11" name="Title 1">
            <a:extLst>
              <a:ext uri="{FF2B5EF4-FFF2-40B4-BE49-F238E27FC236}">
                <a16:creationId xmlns:a16="http://schemas.microsoft.com/office/drawing/2014/main" id="{D87BFAE8-7424-494C-9FA6-BAD98DAD859B}"/>
              </a:ext>
            </a:extLst>
          </p:cNvPr>
          <p:cNvSpPr>
            <a:spLocks noGrp="1"/>
          </p:cNvSpPr>
          <p:nvPr>
            <p:ph type="title" hasCustomPrompt="1"/>
          </p:nvPr>
        </p:nvSpPr>
        <p:spPr>
          <a:xfrm>
            <a:off x="540000" y="-1"/>
            <a:ext cx="10620000" cy="720000"/>
          </a:xfrm>
        </p:spPr>
        <p:txBody>
          <a:bodyPr lIns="0" tIns="0" rIns="0" bIns="0" anchor="b" anchorCtr="0">
            <a:normAutofit/>
          </a:bodyPr>
          <a:lstStyle>
            <a:lvl1pPr>
              <a:defRPr sz="2600" b="1"/>
            </a:lvl1pPr>
          </a:lstStyle>
          <a:p>
            <a:r>
              <a:rPr lang="en-GB"/>
              <a:t>Title</a:t>
            </a:r>
            <a:endParaRPr lang="en-US"/>
          </a:p>
        </p:txBody>
      </p:sp>
    </p:spTree>
    <p:extLst>
      <p:ext uri="{BB962C8B-B14F-4D97-AF65-F5344CB8AC3E}">
        <p14:creationId xmlns:p14="http://schemas.microsoft.com/office/powerpoint/2010/main" val="369633019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Writing like a scientis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09F4D3-268D-A348-9CCE-B00080DD209D}"/>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FA7EA8-D77D-DF48-BF87-55505558A5B4}"/>
              </a:ext>
            </a:extLst>
          </p:cNvPr>
          <p:cNvSpPr>
            <a:spLocks noGrp="1"/>
          </p:cNvSpPr>
          <p:nvPr>
            <p:ph type="title" hasCustomPrompt="1"/>
          </p:nvPr>
        </p:nvSpPr>
        <p:spPr>
          <a:xfrm>
            <a:off x="540000" y="-2"/>
            <a:ext cx="10620000" cy="720000"/>
          </a:xfrm>
        </p:spPr>
        <p:txBody>
          <a:bodyPr lIns="0" tIns="0" rIns="0" bIns="0" anchor="b" anchorCtr="0">
            <a:normAutofit/>
          </a:bodyPr>
          <a:lstStyle>
            <a:lvl1pPr>
              <a:defRPr sz="2600" b="1"/>
            </a:lvl1pPr>
          </a:lstStyle>
          <a:p>
            <a:r>
              <a:rPr lang="en-GB"/>
              <a:t>Title</a:t>
            </a:r>
            <a:endParaRPr lang="en-US"/>
          </a:p>
        </p:txBody>
      </p:sp>
      <p:sp>
        <p:nvSpPr>
          <p:cNvPr id="6" name="Rectangle 5">
            <a:extLst>
              <a:ext uri="{FF2B5EF4-FFF2-40B4-BE49-F238E27FC236}">
                <a16:creationId xmlns:a16="http://schemas.microsoft.com/office/drawing/2014/main" id="{0A8ECAB4-71DA-CB41-A1F1-B0F326B7C6D5}"/>
              </a:ext>
            </a:extLst>
          </p:cNvPr>
          <p:cNvSpPr/>
          <p:nvPr userDrawn="1"/>
        </p:nvSpPr>
        <p:spPr>
          <a:xfrm>
            <a:off x="6690167" y="905813"/>
            <a:ext cx="4533291" cy="5036695"/>
          </a:xfrm>
          <a:prstGeom prst="rect">
            <a:avLst/>
          </a:prstGeom>
          <a:solidFill>
            <a:srgbClr val="009193">
              <a:alpha val="3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0F039E2-8C92-C14C-82CE-0794D9BF40A9}"/>
              </a:ext>
            </a:extLst>
          </p:cNvPr>
          <p:cNvSpPr txBox="1"/>
          <p:nvPr/>
        </p:nvSpPr>
        <p:spPr>
          <a:xfrm rot="16200000">
            <a:off x="8433599" y="3099599"/>
            <a:ext cx="6858002" cy="658800"/>
          </a:xfrm>
          <a:prstGeom prst="rect">
            <a:avLst/>
          </a:prstGeom>
          <a:solidFill>
            <a:srgbClr val="002060"/>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Writing like a scientist</a:t>
            </a:r>
          </a:p>
        </p:txBody>
      </p:sp>
      <p:sp>
        <p:nvSpPr>
          <p:cNvPr id="12" name="Oval 11">
            <a:extLst>
              <a:ext uri="{FF2B5EF4-FFF2-40B4-BE49-F238E27FC236}">
                <a16:creationId xmlns:a16="http://schemas.microsoft.com/office/drawing/2014/main" id="{58119CD6-A5DA-0745-B17E-EB19681E9387}"/>
              </a:ext>
            </a:extLst>
          </p:cNvPr>
          <p:cNvSpPr/>
          <p:nvPr/>
        </p:nvSpPr>
        <p:spPr>
          <a:xfrm>
            <a:off x="10271208" y="5508000"/>
            <a:ext cx="1350000" cy="1350000"/>
          </a:xfrm>
          <a:prstGeom prst="ellipse">
            <a:avLst/>
          </a:prstGeom>
          <a:solidFill>
            <a:schemeClr val="accent3"/>
          </a:solidFill>
          <a:ln>
            <a:noFill/>
          </a:ln>
          <a:effectLst>
            <a:glow rad="266700">
              <a:schemeClr val="accent1">
                <a:alpha val="2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1420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Activit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1E1B9E-7C95-3148-8A95-67EC5EC2388E}"/>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86193F-4CCD-C844-A34E-2805FE7AE763}"/>
              </a:ext>
            </a:extLst>
          </p:cNvPr>
          <p:cNvSpPr>
            <a:spLocks noGrp="1"/>
          </p:cNvSpPr>
          <p:nvPr>
            <p:ph type="title" hasCustomPrompt="1"/>
          </p:nvPr>
        </p:nvSpPr>
        <p:spPr>
          <a:xfrm>
            <a:off x="540000" y="-1"/>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1E5D10FB-422B-FF46-9A52-79F8348D7380}"/>
              </a:ext>
            </a:extLst>
          </p:cNvPr>
          <p:cNvSpPr txBox="1"/>
          <p:nvPr/>
        </p:nvSpPr>
        <p:spPr>
          <a:xfrm rot="16200000">
            <a:off x="8433599" y="3099601"/>
            <a:ext cx="6858002"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Activity</a:t>
            </a:r>
          </a:p>
        </p:txBody>
      </p:sp>
    </p:spTree>
    <p:extLst>
      <p:ext uri="{BB962C8B-B14F-4D97-AF65-F5344CB8AC3E}">
        <p14:creationId xmlns:p14="http://schemas.microsoft.com/office/powerpoint/2010/main" val="222748436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Exit ticke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F8D11-A98B-FB43-A02A-0E01508CFEFA}"/>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9B7E32-F1A6-034E-A449-0418D7DA131D}"/>
              </a:ext>
            </a:extLst>
          </p:cNvPr>
          <p:cNvSpPr>
            <a:spLocks noGrp="1"/>
          </p:cNvSpPr>
          <p:nvPr>
            <p:ph type="title" hasCustomPrompt="1"/>
          </p:nvPr>
        </p:nvSpPr>
        <p:spPr>
          <a:xfrm>
            <a:off x="540000" y="-3570"/>
            <a:ext cx="10620000" cy="720000"/>
          </a:xfrm>
        </p:spPr>
        <p:txBody>
          <a:bodyPr lIns="0" tIns="0" rIns="0" bIns="0" anchor="b" anchorCtr="0">
            <a:normAutofit/>
          </a:bodyPr>
          <a:lstStyle>
            <a:lvl1pPr>
              <a:defRPr sz="2600" b="1"/>
            </a:lvl1pPr>
          </a:lstStyle>
          <a:p>
            <a:r>
              <a:rPr lang="en-GB"/>
              <a:t>Title</a:t>
            </a:r>
            <a:endParaRPr lang="en-US"/>
          </a:p>
        </p:txBody>
      </p:sp>
      <p:sp>
        <p:nvSpPr>
          <p:cNvPr id="19" name="TextBox 18">
            <a:extLst>
              <a:ext uri="{FF2B5EF4-FFF2-40B4-BE49-F238E27FC236}">
                <a16:creationId xmlns:a16="http://schemas.microsoft.com/office/drawing/2014/main" id="{527B9016-1EB5-F141-8466-77AF25D7B637}"/>
              </a:ext>
            </a:extLst>
          </p:cNvPr>
          <p:cNvSpPr txBox="1"/>
          <p:nvPr/>
        </p:nvSpPr>
        <p:spPr>
          <a:xfrm rot="16200000">
            <a:off x="8433598" y="3099604"/>
            <a:ext cx="6858003"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Exit ticket</a:t>
            </a:r>
          </a:p>
        </p:txBody>
      </p:sp>
    </p:spTree>
    <p:extLst>
      <p:ext uri="{BB962C8B-B14F-4D97-AF65-F5344CB8AC3E}">
        <p14:creationId xmlns:p14="http://schemas.microsoft.com/office/powerpoint/2010/main" val="360639004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A01084-1856-7B24-83CC-11314E522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1B5E70D-BA20-D5CF-D322-CA8195632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966582-06EE-AAFF-7C97-ACD0EF00F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E8A18-A033-FC4E-B349-469E93CD6A56}" type="datetimeFigureOut">
              <a:rPr lang="en-US" smtClean="0"/>
              <a:t>1/26/26</a:t>
            </a:fld>
            <a:endParaRPr lang="en-US"/>
          </a:p>
        </p:txBody>
      </p:sp>
      <p:sp>
        <p:nvSpPr>
          <p:cNvPr id="5" name="Footer Placeholder 4">
            <a:extLst>
              <a:ext uri="{FF2B5EF4-FFF2-40B4-BE49-F238E27FC236}">
                <a16:creationId xmlns:a16="http://schemas.microsoft.com/office/drawing/2014/main" id="{16345E95-B277-1BE9-26A6-DE97C7BA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C65A5D-4873-EED4-B08F-224488850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3C38CA-C264-2646-AEFF-4E207A0A6A18}" type="slidenum">
              <a:rPr lang="en-US" smtClean="0"/>
              <a:t>‹#›</a:t>
            </a:fld>
            <a:endParaRPr lang="en-US"/>
          </a:p>
        </p:txBody>
      </p:sp>
    </p:spTree>
    <p:extLst>
      <p:ext uri="{BB962C8B-B14F-4D97-AF65-F5344CB8AC3E}">
        <p14:creationId xmlns:p14="http://schemas.microsoft.com/office/powerpoint/2010/main" val="46707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customXml" Target="../ink/ink12.xml"/><Relationship Id="rId26" Type="http://schemas.openxmlformats.org/officeDocument/2006/relationships/customXml" Target="../ink/ink20.xml"/><Relationship Id="rId39" Type="http://schemas.openxmlformats.org/officeDocument/2006/relationships/image" Target="../media/image19.png"/><Relationship Id="rId21" Type="http://schemas.openxmlformats.org/officeDocument/2006/relationships/customXml" Target="../ink/ink15.xml"/><Relationship Id="rId34" Type="http://schemas.openxmlformats.org/officeDocument/2006/relationships/image" Target="../media/image17.png"/><Relationship Id="rId42" Type="http://schemas.openxmlformats.org/officeDocument/2006/relationships/customXml" Target="../ink/ink32.xml"/><Relationship Id="rId47" Type="http://schemas.openxmlformats.org/officeDocument/2006/relationships/customXml" Target="../ink/ink37.xml"/><Relationship Id="rId50" Type="http://schemas.openxmlformats.org/officeDocument/2006/relationships/image" Target="../media/image20.png"/><Relationship Id="rId55" Type="http://schemas.openxmlformats.org/officeDocument/2006/relationships/image" Target="../media/image23.png"/><Relationship Id="rId7" Type="http://schemas.openxmlformats.org/officeDocument/2006/relationships/customXml" Target="../ink/ink3.xml"/><Relationship Id="rId2" Type="http://schemas.openxmlformats.org/officeDocument/2006/relationships/notesSlide" Target="../notesSlides/notesSlide9.xml"/><Relationship Id="rId16" Type="http://schemas.openxmlformats.org/officeDocument/2006/relationships/customXml" Target="../ink/ink10.xml"/><Relationship Id="rId29" Type="http://schemas.openxmlformats.org/officeDocument/2006/relationships/customXml" Target="../ink/ink23.xml"/><Relationship Id="rId11" Type="http://schemas.openxmlformats.org/officeDocument/2006/relationships/customXml" Target="../ink/ink7.xml"/><Relationship Id="rId24" Type="http://schemas.openxmlformats.org/officeDocument/2006/relationships/customXml" Target="../ink/ink18.xml"/><Relationship Id="rId32" Type="http://schemas.openxmlformats.org/officeDocument/2006/relationships/customXml" Target="../ink/ink25.xml"/><Relationship Id="rId37" Type="http://schemas.openxmlformats.org/officeDocument/2006/relationships/image" Target="../media/image18.png"/><Relationship Id="rId40" Type="http://schemas.openxmlformats.org/officeDocument/2006/relationships/customXml" Target="../ink/ink30.xml"/><Relationship Id="rId45" Type="http://schemas.openxmlformats.org/officeDocument/2006/relationships/customXml" Target="../ink/ink35.xml"/><Relationship Id="rId53" Type="http://schemas.openxmlformats.org/officeDocument/2006/relationships/image" Target="../media/image21.png"/><Relationship Id="rId5" Type="http://schemas.openxmlformats.org/officeDocument/2006/relationships/image" Target="../media/image13.png"/><Relationship Id="rId10" Type="http://schemas.openxmlformats.org/officeDocument/2006/relationships/customXml" Target="../ink/ink6.xml"/><Relationship Id="rId19" Type="http://schemas.openxmlformats.org/officeDocument/2006/relationships/customXml" Target="../ink/ink13.xml"/><Relationship Id="rId31" Type="http://schemas.openxmlformats.org/officeDocument/2006/relationships/customXml" Target="../ink/ink24.xml"/><Relationship Id="rId44" Type="http://schemas.openxmlformats.org/officeDocument/2006/relationships/customXml" Target="../ink/ink34.xml"/><Relationship Id="rId52" Type="http://schemas.openxmlformats.org/officeDocument/2006/relationships/customXml" Target="../ink/ink41.xml"/><Relationship Id="rId4" Type="http://schemas.openxmlformats.org/officeDocument/2006/relationships/customXml" Target="../ink/ink1.xml"/><Relationship Id="rId9" Type="http://schemas.openxmlformats.org/officeDocument/2006/relationships/customXml" Target="../ink/ink5.xml"/><Relationship Id="rId14" Type="http://schemas.openxmlformats.org/officeDocument/2006/relationships/customXml" Target="../ink/ink9.xml"/><Relationship Id="rId22" Type="http://schemas.openxmlformats.org/officeDocument/2006/relationships/customXml" Target="../ink/ink16.xml"/><Relationship Id="rId27" Type="http://schemas.openxmlformats.org/officeDocument/2006/relationships/customXml" Target="../ink/ink21.xml"/><Relationship Id="rId30" Type="http://schemas.openxmlformats.org/officeDocument/2006/relationships/image" Target="../media/image16.png"/><Relationship Id="rId35" Type="http://schemas.openxmlformats.org/officeDocument/2006/relationships/customXml" Target="../ink/ink27.xml"/><Relationship Id="rId43" Type="http://schemas.openxmlformats.org/officeDocument/2006/relationships/customXml" Target="../ink/ink33.xml"/><Relationship Id="rId48" Type="http://schemas.openxmlformats.org/officeDocument/2006/relationships/customXml" Target="../ink/ink38.xml"/><Relationship Id="rId8" Type="http://schemas.openxmlformats.org/officeDocument/2006/relationships/customXml" Target="../ink/ink4.xml"/><Relationship Id="rId51" Type="http://schemas.openxmlformats.org/officeDocument/2006/relationships/customXml" Target="../ink/ink40.xml"/><Relationship Id="rId3" Type="http://schemas.openxmlformats.org/officeDocument/2006/relationships/image" Target="../media/image12.png"/><Relationship Id="rId12" Type="http://schemas.openxmlformats.org/officeDocument/2006/relationships/customXml" Target="../ink/ink8.xml"/><Relationship Id="rId17" Type="http://schemas.openxmlformats.org/officeDocument/2006/relationships/customXml" Target="../ink/ink11.xml"/><Relationship Id="rId25" Type="http://schemas.openxmlformats.org/officeDocument/2006/relationships/customXml" Target="../ink/ink19.xml"/><Relationship Id="rId33" Type="http://schemas.openxmlformats.org/officeDocument/2006/relationships/customXml" Target="../ink/ink26.xml"/><Relationship Id="rId38" Type="http://schemas.openxmlformats.org/officeDocument/2006/relationships/customXml" Target="../ink/ink29.xml"/><Relationship Id="rId46" Type="http://schemas.openxmlformats.org/officeDocument/2006/relationships/customXml" Target="../ink/ink36.xml"/><Relationship Id="rId20" Type="http://schemas.openxmlformats.org/officeDocument/2006/relationships/customXml" Target="../ink/ink14.xml"/><Relationship Id="rId41" Type="http://schemas.openxmlformats.org/officeDocument/2006/relationships/customXml" Target="../ink/ink31.xml"/><Relationship Id="rId54"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customXml" Target="../ink/ink2.xml"/><Relationship Id="rId15" Type="http://schemas.openxmlformats.org/officeDocument/2006/relationships/image" Target="../media/image15.png"/><Relationship Id="rId23" Type="http://schemas.openxmlformats.org/officeDocument/2006/relationships/customXml" Target="../ink/ink17.xml"/><Relationship Id="rId28" Type="http://schemas.openxmlformats.org/officeDocument/2006/relationships/customXml" Target="../ink/ink22.xml"/><Relationship Id="rId36" Type="http://schemas.openxmlformats.org/officeDocument/2006/relationships/customXml" Target="../ink/ink28.xml"/><Relationship Id="rId49" Type="http://schemas.openxmlformats.org/officeDocument/2006/relationships/customXml" Target="../ink/ink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png"/><Relationship Id="rId7"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33507-344C-16F3-5498-313688B82D1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496445F-86FF-091F-B71F-67FE3A3C65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Obtaining Raw Materials</a:t>
            </a:r>
          </a:p>
        </p:txBody>
      </p:sp>
      <p:pic>
        <p:nvPicPr>
          <p:cNvPr id="16" name="Picture 15">
            <a:extLst>
              <a:ext uri="{FF2B5EF4-FFF2-40B4-BE49-F238E27FC236}">
                <a16:creationId xmlns:a16="http://schemas.microsoft.com/office/drawing/2014/main" id="{C0C111FB-7DB9-C19A-7715-D1B84DC4E84F}"/>
              </a:ext>
            </a:extLst>
          </p:cNvPr>
          <p:cNvPicPr>
            <a:picLocks noChangeAspect="1"/>
          </p:cNvPicPr>
          <p:nvPr/>
        </p:nvPicPr>
        <p:blipFill>
          <a:blip r:embed="rId3"/>
          <a:srcRect t="6897" b="55236"/>
          <a:stretch>
            <a:fillRect/>
          </a:stretch>
        </p:blipFill>
        <p:spPr>
          <a:xfrm>
            <a:off x="-101546" y="22733"/>
            <a:ext cx="12293546" cy="6812533"/>
          </a:xfrm>
          <a:prstGeom prst="rect">
            <a:avLst/>
          </a:prstGeom>
        </p:spPr>
      </p:pic>
      <p:sp>
        <p:nvSpPr>
          <p:cNvPr id="11" name="Rectangle 10">
            <a:extLst>
              <a:ext uri="{FF2B5EF4-FFF2-40B4-BE49-F238E27FC236}">
                <a16:creationId xmlns:a16="http://schemas.microsoft.com/office/drawing/2014/main" id="{7F7B686C-D991-827B-D5F4-1241F8935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Obtaining Raw Materials</a:t>
            </a:r>
          </a:p>
        </p:txBody>
      </p:sp>
      <p:sp>
        <p:nvSpPr>
          <p:cNvPr id="13" name="Rectangle 12">
            <a:extLst>
              <a:ext uri="{FF2B5EF4-FFF2-40B4-BE49-F238E27FC236}">
                <a16:creationId xmlns:a16="http://schemas.microsoft.com/office/drawing/2014/main" id="{2DA7708B-62FC-5940-5E28-67E1E5875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Obtaining Raw Materials</a:t>
            </a:r>
          </a:p>
        </p:txBody>
      </p:sp>
      <p:sp>
        <p:nvSpPr>
          <p:cNvPr id="5" name="Title 1">
            <a:extLst>
              <a:ext uri="{FF2B5EF4-FFF2-40B4-BE49-F238E27FC236}">
                <a16:creationId xmlns:a16="http://schemas.microsoft.com/office/drawing/2014/main" id="{44C8DBE8-B378-0886-C124-68FD626A5D59}"/>
              </a:ext>
            </a:extLst>
          </p:cNvPr>
          <p:cNvSpPr txBox="1">
            <a:spLocks/>
          </p:cNvSpPr>
          <p:nvPr/>
        </p:nvSpPr>
        <p:spPr>
          <a:xfrm>
            <a:off x="4717869" y="752118"/>
            <a:ext cx="10515600" cy="8117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a:solidFill>
                  <a:srgbClr val="000000"/>
                </a:solidFill>
              </a:rPr>
              <a:t>(HT) Obtaining Raw Materials</a:t>
            </a:r>
          </a:p>
        </p:txBody>
      </p:sp>
      <p:sp>
        <p:nvSpPr>
          <p:cNvPr id="7" name="TextBox 6">
            <a:extLst>
              <a:ext uri="{FF2B5EF4-FFF2-40B4-BE49-F238E27FC236}">
                <a16:creationId xmlns:a16="http://schemas.microsoft.com/office/drawing/2014/main" id="{4AC29D33-E434-177D-C1B4-D0F6B1985C4B}"/>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3" name="Content Placeholder 2">
            <a:extLst>
              <a:ext uri="{FF2B5EF4-FFF2-40B4-BE49-F238E27FC236}">
                <a16:creationId xmlns:a16="http://schemas.microsoft.com/office/drawing/2014/main" id="{67FC788C-C25B-D348-0C7D-E700296C0F61}"/>
              </a:ext>
            </a:extLst>
          </p:cNvPr>
          <p:cNvSpPr>
            <a:spLocks noGrp="1"/>
          </p:cNvSpPr>
          <p:nvPr>
            <p:ph idx="1"/>
          </p:nvPr>
        </p:nvSpPr>
        <p:spPr>
          <a:xfrm>
            <a:off x="2088969" y="2243367"/>
            <a:ext cx="5257800" cy="3477895"/>
          </a:xfrm>
          <a:solidFill>
            <a:schemeClr val="bg1"/>
          </a:solidFill>
        </p:spPr>
        <p:txBody>
          <a:bodyPr vert="horz" lIns="91440" tIns="45720" rIns="91440" bIns="45720" rtlCol="0" anchor="t">
            <a:normAutofit fontScale="92500" lnSpcReduction="10000"/>
          </a:bodyPr>
          <a:lstStyle/>
          <a:p>
            <a:pPr marL="0" indent="0">
              <a:buNone/>
            </a:pPr>
            <a:r>
              <a:rPr lang="en-GB" sz="2600" dirty="0"/>
              <a:t>Task: </a:t>
            </a:r>
            <a:endParaRPr lang="en-US" sz="2600" dirty="0"/>
          </a:p>
          <a:p>
            <a:pPr marL="0" indent="0">
              <a:buNone/>
            </a:pPr>
            <a:r>
              <a:rPr lang="en-GB" sz="2600" dirty="0"/>
              <a:t>Complete the Read Now by:</a:t>
            </a:r>
            <a:endParaRPr lang="en-US" sz="2600" dirty="0"/>
          </a:p>
          <a:p>
            <a:pPr marL="514350" indent="-514350">
              <a:buAutoNum type="arabicPeriod"/>
            </a:pPr>
            <a:r>
              <a:rPr lang="en-GB" sz="2600" dirty="0"/>
              <a:t>Stick in the sheet.</a:t>
            </a:r>
            <a:endParaRPr lang="en-US" sz="2600" dirty="0"/>
          </a:p>
          <a:p>
            <a:pPr marL="514350" indent="-514350">
              <a:buAutoNum type="arabicPeriod"/>
            </a:pPr>
            <a:r>
              <a:rPr lang="en-GB" sz="2600" dirty="0"/>
              <a:t>Using a highlighter as you read to identify key terms. </a:t>
            </a:r>
            <a:endParaRPr lang="en-US" sz="2600" dirty="0"/>
          </a:p>
          <a:p>
            <a:pPr marL="514350" indent="-514350">
              <a:buAutoNum type="arabicPeriod"/>
            </a:pPr>
            <a:r>
              <a:rPr lang="en-GB" sz="2600" dirty="0"/>
              <a:t>Answer the first four recall questions under the sheet in your book. </a:t>
            </a:r>
            <a:endParaRPr lang="en-US" sz="2600" dirty="0"/>
          </a:p>
          <a:p>
            <a:pPr marL="514350" indent="-514350">
              <a:buAutoNum type="arabicPeriod"/>
            </a:pPr>
            <a:r>
              <a:rPr lang="en-GB" sz="2600" dirty="0"/>
              <a:t>Answer the stretch question</a:t>
            </a:r>
            <a:endParaRPr lang="en-US" sz="2600" dirty="0"/>
          </a:p>
          <a:p>
            <a:pPr marL="0" indent="0">
              <a:buNone/>
            </a:pPr>
            <a:endParaRPr lang="en-GB" dirty="0"/>
          </a:p>
        </p:txBody>
      </p:sp>
      <p:sp>
        <p:nvSpPr>
          <p:cNvPr id="4" name="TextBox 3">
            <a:extLst>
              <a:ext uri="{FF2B5EF4-FFF2-40B4-BE49-F238E27FC236}">
                <a16:creationId xmlns:a16="http://schemas.microsoft.com/office/drawing/2014/main" id="{E6CF4E38-42E7-8264-13CF-049CA8EF7CBF}"/>
              </a:ext>
            </a:extLst>
          </p:cNvPr>
          <p:cNvSpPr txBox="1"/>
          <p:nvPr/>
        </p:nvSpPr>
        <p:spPr>
          <a:xfrm>
            <a:off x="5256055" y="173939"/>
            <a:ext cx="6973097" cy="646331"/>
          </a:xfrm>
          <a:prstGeom prst="rect">
            <a:avLst/>
          </a:prstGeom>
          <a:noFill/>
        </p:spPr>
        <p:txBody>
          <a:bodyPr wrap="square" rtlCol="0">
            <a:spAutoFit/>
          </a:bodyPr>
          <a:lstStyle/>
          <a:p>
            <a:fld id="{B8EB2919-D22D-4ED1-936D-0A64CEB8E297}" type="datetime2">
              <a:rPr lang="en-GB" sz="3600" u="sng" smtClean="0">
                <a:uFill>
                  <a:solidFill>
                    <a:srgbClr val="FF0000"/>
                  </a:solidFill>
                </a:uFill>
              </a:rPr>
              <a:t>Monday, 26 January 2026</a:t>
            </a:fld>
            <a:endParaRPr lang="en-GB" sz="1600" u="sng">
              <a:uFill>
                <a:solidFill>
                  <a:srgbClr val="FF0000"/>
                </a:solidFill>
              </a:uFill>
            </a:endParaRPr>
          </a:p>
        </p:txBody>
      </p:sp>
      <p:sp>
        <p:nvSpPr>
          <p:cNvPr id="17" name="TextBox 16">
            <a:extLst>
              <a:ext uri="{FF2B5EF4-FFF2-40B4-BE49-F238E27FC236}">
                <a16:creationId xmlns:a16="http://schemas.microsoft.com/office/drawing/2014/main" id="{F2F03F23-06F0-3E7F-3CB1-690F3A07D44E}"/>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pic>
        <p:nvPicPr>
          <p:cNvPr id="1026" name="Picture 2" descr="Now - Free communications icons">
            <a:extLst>
              <a:ext uri="{FF2B5EF4-FFF2-40B4-BE49-F238E27FC236}">
                <a16:creationId xmlns:a16="http://schemas.microsoft.com/office/drawing/2014/main" id="{3B73EAF0-01E3-4C22-D655-30194691D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534" y="27222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lent Solo">
            <a:extLst>
              <a:ext uri="{FF2B5EF4-FFF2-40B4-BE49-F238E27FC236}">
                <a16:creationId xmlns:a16="http://schemas.microsoft.com/office/drawing/2014/main" id="{84298EA0-4BE2-E0D8-CE30-E1EE24433D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734" y="45468"/>
            <a:ext cx="1609298" cy="160929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512800DC-0DCC-F11F-A61A-0FDCD54EC4B6}"/>
              </a:ext>
            </a:extLst>
          </p:cNvPr>
          <p:cNvGrpSpPr/>
          <p:nvPr/>
        </p:nvGrpSpPr>
        <p:grpSpPr>
          <a:xfrm>
            <a:off x="10704752" y="2293216"/>
            <a:ext cx="923329" cy="2983159"/>
            <a:chOff x="8437803" y="2595561"/>
            <a:chExt cx="630572" cy="2444998"/>
          </a:xfrm>
        </p:grpSpPr>
        <p:pic>
          <p:nvPicPr>
            <p:cNvPr id="1030" name="Picture 6" descr="A picture containing text&#10;&#10;Description automatically generated">
              <a:extLst>
                <a:ext uri="{FF2B5EF4-FFF2-40B4-BE49-F238E27FC236}">
                  <a16:creationId xmlns:a16="http://schemas.microsoft.com/office/drawing/2014/main" id="{7EA14390-2EC5-D5A1-4F7A-D589A17F98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4013" y="2595561"/>
              <a:ext cx="609600" cy="60007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 picture containing text, sign&#10;&#10;Description automatically generated">
              <a:extLst>
                <a:ext uri="{FF2B5EF4-FFF2-40B4-BE49-F238E27FC236}">
                  <a16:creationId xmlns:a16="http://schemas.microsoft.com/office/drawing/2014/main" id="{8F4EBD2F-E331-2CD8-C3E7-3B5D02E99B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9250" y="3830882"/>
              <a:ext cx="619125" cy="6191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picture containing text&#10;&#10;Description automatically generated">
              <a:extLst>
                <a:ext uri="{FF2B5EF4-FFF2-40B4-BE49-F238E27FC236}">
                  <a16:creationId xmlns:a16="http://schemas.microsoft.com/office/drawing/2014/main" id="{CC555BEF-C748-C623-B970-E9FF2ED565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37803" y="4450008"/>
              <a:ext cx="609600" cy="59055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extLst>
                <a:ext uri="{FF2B5EF4-FFF2-40B4-BE49-F238E27FC236}">
                  <a16:creationId xmlns:a16="http://schemas.microsoft.com/office/drawing/2014/main" id="{049E0B9D-7DD5-B107-D639-EF0E8F30AE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4013" y="3233634"/>
              <a:ext cx="609600" cy="59055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11812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4916E-1EDA-8300-84B2-A78B3F80542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CF1DE72-5759-CC6D-4340-BEEFA1C1554F}"/>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3B34AB1A-D284-5A8A-007F-680022552D99}"/>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pic>
        <p:nvPicPr>
          <p:cNvPr id="2052" name="Picture 4" descr="GCSE Geography Weather Hazards SoW | Teaching Resources">
            <a:extLst>
              <a:ext uri="{FF2B5EF4-FFF2-40B4-BE49-F238E27FC236}">
                <a16:creationId xmlns:a16="http://schemas.microsoft.com/office/drawing/2014/main" id="{8703810E-97FB-DA8D-4FD8-185A6040B2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507" y="226392"/>
            <a:ext cx="10616588" cy="596652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FA810A95-22F2-89A8-0EAB-35B9790BC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sp>
        <p:nvSpPr>
          <p:cNvPr id="15" name="Rectangle 14">
            <a:extLst>
              <a:ext uri="{FF2B5EF4-FFF2-40B4-BE49-F238E27FC236}">
                <a16:creationId xmlns:a16="http://schemas.microsoft.com/office/drawing/2014/main" id="{362FCEB2-7480-F3CC-6AC1-55E7066F69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grpSp>
        <p:nvGrpSpPr>
          <p:cNvPr id="19" name="Group 18">
            <a:extLst>
              <a:ext uri="{FF2B5EF4-FFF2-40B4-BE49-F238E27FC236}">
                <a16:creationId xmlns:a16="http://schemas.microsoft.com/office/drawing/2014/main" id="{FD2D8219-3802-C433-B92D-A5A9B096C2FB}"/>
              </a:ext>
            </a:extLst>
          </p:cNvPr>
          <p:cNvGrpSpPr/>
          <p:nvPr/>
        </p:nvGrpSpPr>
        <p:grpSpPr>
          <a:xfrm>
            <a:off x="9614796" y="6387318"/>
            <a:ext cx="1994299" cy="478636"/>
            <a:chOff x="9614803" y="6387318"/>
            <a:chExt cx="1341657" cy="447712"/>
          </a:xfrm>
        </p:grpSpPr>
        <p:pic>
          <p:nvPicPr>
            <p:cNvPr id="20" name="Picture 19" descr="A picture containing text&#10;&#10;Description automatically generated">
              <a:extLst>
                <a:ext uri="{FF2B5EF4-FFF2-40B4-BE49-F238E27FC236}">
                  <a16:creationId xmlns:a16="http://schemas.microsoft.com/office/drawing/2014/main" id="{D7E3C4A2-96E7-AEA5-4137-AA4C0D915A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icture containing text, sign&#10;&#10;Description automatically generated">
              <a:extLst>
                <a:ext uri="{FF2B5EF4-FFF2-40B4-BE49-F238E27FC236}">
                  <a16:creationId xmlns:a16="http://schemas.microsoft.com/office/drawing/2014/main" id="{9113DAE8-35B1-DB9B-47B1-4E2598F5D4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 picture containing text&#10;&#10;Description automatically generated">
              <a:extLst>
                <a:ext uri="{FF2B5EF4-FFF2-40B4-BE49-F238E27FC236}">
                  <a16:creationId xmlns:a16="http://schemas.microsoft.com/office/drawing/2014/main" id="{6A6AC1A5-8B36-C765-9A84-4E6ADEE0A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0E1535CF-3DAA-294D-DFFB-C1F37718FB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6">
            <a:extLst>
              <a:ext uri="{FF2B5EF4-FFF2-40B4-BE49-F238E27FC236}">
                <a16:creationId xmlns:a16="http://schemas.microsoft.com/office/drawing/2014/main" id="{9DDEA596-1649-2EB4-EE90-23C33B614E7D}"/>
              </a:ext>
            </a:extLst>
          </p:cNvPr>
          <p:cNvSpPr txBox="1"/>
          <p:nvPr/>
        </p:nvSpPr>
        <p:spPr>
          <a:xfrm>
            <a:off x="4038598" y="6443200"/>
            <a:ext cx="678872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Aim High | Work Together | Be Kind | Lead the Way</a:t>
            </a:r>
          </a:p>
        </p:txBody>
      </p:sp>
    </p:spTree>
    <p:extLst>
      <p:ext uri="{BB962C8B-B14F-4D97-AF65-F5344CB8AC3E}">
        <p14:creationId xmlns:p14="http://schemas.microsoft.com/office/powerpoint/2010/main" val="144382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154673-1242-2F81-582F-73200EABE7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11D17A-AB75-E38D-3476-7829032A0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28DB0A3F-BBC0-DB43-CA42-369DF276B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CF38898F-18B4-966C-1D87-28623E87C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56366FA5-3F2C-8F35-A8A7-5A2A1622A7BE}"/>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BD0D3CA3-6987-4F78-0549-D5CEE43E00DC}"/>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sp>
        <p:nvSpPr>
          <p:cNvPr id="14" name="Rectangle 13">
            <a:extLst>
              <a:ext uri="{FF2B5EF4-FFF2-40B4-BE49-F238E27FC236}">
                <a16:creationId xmlns:a16="http://schemas.microsoft.com/office/drawing/2014/main" id="{DC11D17A-AB75-E38D-3476-7829032A0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sp>
        <p:nvSpPr>
          <p:cNvPr id="15" name="Rectangle 14">
            <a:extLst>
              <a:ext uri="{FF2B5EF4-FFF2-40B4-BE49-F238E27FC236}">
                <a16:creationId xmlns:a16="http://schemas.microsoft.com/office/drawing/2014/main" id="{28DB0A3F-BBC0-DB43-CA42-369DF276B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grpSp>
        <p:nvGrpSpPr>
          <p:cNvPr id="19" name="Group 18">
            <a:extLst>
              <a:ext uri="{FF2B5EF4-FFF2-40B4-BE49-F238E27FC236}">
                <a16:creationId xmlns:a16="http://schemas.microsoft.com/office/drawing/2014/main" id="{6D9BC8D5-96E3-C1F8-BC12-4344E0B6021E}"/>
              </a:ext>
            </a:extLst>
          </p:cNvPr>
          <p:cNvGrpSpPr/>
          <p:nvPr/>
        </p:nvGrpSpPr>
        <p:grpSpPr>
          <a:xfrm>
            <a:off x="9614796" y="6387318"/>
            <a:ext cx="1994299" cy="478636"/>
            <a:chOff x="9614803" y="6387318"/>
            <a:chExt cx="1341657" cy="447712"/>
          </a:xfrm>
        </p:grpSpPr>
        <p:pic>
          <p:nvPicPr>
            <p:cNvPr id="20" name="Picture 19" descr="A picture containing text&#10;&#10;Description automatically generated">
              <a:extLst>
                <a:ext uri="{FF2B5EF4-FFF2-40B4-BE49-F238E27FC236}">
                  <a16:creationId xmlns:a16="http://schemas.microsoft.com/office/drawing/2014/main" id="{F7DE70EE-2903-CE6F-09B3-8C0F53412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icture containing text, sign&#10;&#10;Description automatically generated">
              <a:extLst>
                <a:ext uri="{FF2B5EF4-FFF2-40B4-BE49-F238E27FC236}">
                  <a16:creationId xmlns:a16="http://schemas.microsoft.com/office/drawing/2014/main" id="{EA795797-1C41-0AC9-4559-7D0BCE2872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 picture containing text&#10;&#10;Description automatically generated">
              <a:extLst>
                <a:ext uri="{FF2B5EF4-FFF2-40B4-BE49-F238E27FC236}">
                  <a16:creationId xmlns:a16="http://schemas.microsoft.com/office/drawing/2014/main" id="{5B1A1124-8F39-A14D-3FF5-949AA650C4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3F04A50F-A8A6-B16D-8A6E-6664B71CF2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6">
            <a:extLst>
              <a:ext uri="{FF2B5EF4-FFF2-40B4-BE49-F238E27FC236}">
                <a16:creationId xmlns:a16="http://schemas.microsoft.com/office/drawing/2014/main" id="{56366FA5-3F2C-8F35-A8A7-5A2A1622A7BE}"/>
              </a:ext>
            </a:extLst>
          </p:cNvPr>
          <p:cNvSpPr txBox="1"/>
          <p:nvPr/>
        </p:nvSpPr>
        <p:spPr>
          <a:xfrm>
            <a:off x="4038598" y="6443200"/>
            <a:ext cx="678872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Aim High | Work Together | Be Kind | Lead the Way</a:t>
            </a:r>
          </a:p>
        </p:txBody>
      </p:sp>
      <p:sp>
        <p:nvSpPr>
          <p:cNvPr id="25" name="TextBox 24"/>
          <p:cNvSpPr txBox="1"/>
          <p:nvPr/>
        </p:nvSpPr>
        <p:spPr>
          <a:xfrm>
            <a:off x="1110700" y="681897"/>
            <a:ext cx="10241280" cy="5943600"/>
          </a:xfrm>
          <a:prstGeom prst="rect">
            <a:avLst/>
          </a:prstGeom>
          <a:noFill/>
        </p:spPr>
        <p:txBody>
          <a:bodyPr wrap="square" tIns="91440" bIns="91440">
            <a:noAutofit/>
          </a:bodyPr>
          <a:lstStyle/>
          <a:p>
            <a:r>
              <a:rPr lang="en-US" sz="2000" b="1" dirty="0">
                <a:latin typeface="Century Gothic" panose="020B0502020202020204" pitchFamily="34" charset="0"/>
              </a:rPr>
              <a:t>MARK SCHEME</a:t>
            </a:r>
            <a:endParaRPr lang="en-US" sz="2000" dirty="0">
              <a:latin typeface="Century Gothic" panose="020B0502020202020204" pitchFamily="34" charset="0"/>
            </a:endParaRPr>
          </a:p>
          <a:p>
            <a:pPr marL="457200" lvl="0" indent="-457200">
              <a:buFont typeface="+mj-lt"/>
              <a:buAutoNum type="arabicPeriod"/>
            </a:pPr>
            <a:r>
              <a:rPr lang="en-US" sz="2000" dirty="0">
                <a:latin typeface="Century Gothic" panose="020B0502020202020204" pitchFamily="34" charset="0"/>
              </a:rPr>
              <a:t>B</a:t>
            </a:r>
          </a:p>
          <a:p>
            <a:pPr marL="457200" lvl="0" indent="-457200">
              <a:buFont typeface="+mj-lt"/>
              <a:buAutoNum type="arabicPeriod"/>
            </a:pPr>
            <a:r>
              <a:rPr lang="en-US" sz="2000" dirty="0">
                <a:latin typeface="Century Gothic" panose="020B0502020202020204" pitchFamily="34" charset="0"/>
              </a:rPr>
              <a:t>biodiversity</a:t>
            </a:r>
          </a:p>
          <a:p>
            <a:pPr marL="457200" lvl="0" indent="-457200">
              <a:buFont typeface="+mj-lt"/>
              <a:buAutoNum type="arabicPeriod"/>
            </a:pPr>
            <a:r>
              <a:rPr lang="en-US" sz="2000" dirty="0">
                <a:latin typeface="Century Gothic" panose="020B0502020202020204" pitchFamily="34" charset="0"/>
              </a:rPr>
              <a:t>Noise pollution / air pollution / water pollution (any one)</a:t>
            </a:r>
          </a:p>
          <a:p>
            <a:pPr marL="457200" lvl="0" indent="-457200">
              <a:buFont typeface="+mj-lt"/>
              <a:buAutoNum type="arabicPeriod"/>
            </a:pPr>
            <a:r>
              <a:rPr lang="en-US" sz="2000" dirty="0">
                <a:latin typeface="Century Gothic" panose="020B0502020202020204" pitchFamily="34" charset="0"/>
              </a:rPr>
              <a:t>It leaves large holes/spoil heaps and makes the area look unattractive.</a:t>
            </a:r>
          </a:p>
          <a:p>
            <a:pPr marL="457200" lvl="0" indent="-457200">
              <a:buFont typeface="+mj-lt"/>
              <a:buAutoNum type="arabicPeriod"/>
            </a:pPr>
            <a:r>
              <a:rPr lang="en-US" sz="2000" dirty="0">
                <a:latin typeface="Century Gothic" panose="020B0502020202020204" pitchFamily="34" charset="0"/>
              </a:rPr>
              <a:t>WHAT: Habitats are destroyed when land is dug up and plants are removed. WHY: Fewer habitats means fewer organisms can survive, so the number of species falls.</a:t>
            </a:r>
          </a:p>
          <a:p>
            <a:endParaRPr sz="2400" b="1" dirty="0">
              <a:solidFill>
                <a:srgbClr val="006600"/>
              </a:solidFill>
              <a:latin typeface="Century Gothic"/>
            </a:endParaRPr>
          </a:p>
        </p:txBody>
      </p:sp>
    </p:spTree>
    <p:extLst>
      <p:ext uri="{BB962C8B-B14F-4D97-AF65-F5344CB8AC3E}">
        <p14:creationId xmlns:p14="http://schemas.microsoft.com/office/powerpoint/2010/main" val="4280391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3D40CF-C87A-A96F-9F01-E09BEC4DB22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C5460EA-7F96-2126-0575-4EF93E9C5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8FB04EB0-7234-59AE-E16E-9244EBC9D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159AC99D-A4EE-C7E4-6076-3EF57709AD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1279728D-E411-C9AD-7B05-7455564B926E}"/>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0225AA00-C23F-2B08-3182-06C3030599B1}"/>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Daily Review</a:t>
            </a:r>
          </a:p>
        </p:txBody>
      </p:sp>
      <p:sp>
        <p:nvSpPr>
          <p:cNvPr id="8" name="Content Placeholder 7">
            <a:extLst>
              <a:ext uri="{FF2B5EF4-FFF2-40B4-BE49-F238E27FC236}">
                <a16:creationId xmlns:a16="http://schemas.microsoft.com/office/drawing/2014/main" id="{9BFC6B52-1A88-500B-8260-6EA27557B1DB}"/>
              </a:ext>
            </a:extLst>
          </p:cNvPr>
          <p:cNvSpPr>
            <a:spLocks noGrp="1"/>
          </p:cNvSpPr>
          <p:nvPr>
            <p:ph idx="1"/>
          </p:nvPr>
        </p:nvSpPr>
        <p:spPr>
          <a:xfrm>
            <a:off x="1371600" y="1515291"/>
            <a:ext cx="9982200" cy="4661672"/>
          </a:xfrm>
        </p:spPr>
        <p:txBody>
          <a:bodyPr/>
          <a:lstStyle/>
          <a:p>
            <a:pPr marL="0" indent="0">
              <a:buNone/>
            </a:pPr>
            <a:r>
              <a:rPr lang="en-GB"/>
              <a:t>Follow your teachers instructions:</a:t>
            </a:r>
          </a:p>
          <a:p>
            <a:pPr marL="0" indent="0">
              <a:buNone/>
            </a:pPr>
            <a:r>
              <a:rPr lang="en-GB"/>
              <a:t>“When I say go show me a MWB and a MWB Pen”</a:t>
            </a:r>
          </a:p>
          <a:p>
            <a:pPr marL="0" indent="0">
              <a:buNone/>
            </a:pPr>
            <a:r>
              <a:rPr lang="en-GB"/>
              <a:t>You will have 10 seconds for each question. </a:t>
            </a:r>
          </a:p>
          <a:p>
            <a:pPr marL="0" indent="0">
              <a:buNone/>
            </a:pPr>
            <a:r>
              <a:rPr lang="en-GB"/>
              <a:t>Hold your MWB in the </a:t>
            </a:r>
            <a:r>
              <a:rPr lang="en-GB" b="1"/>
              <a:t>Ready</a:t>
            </a:r>
            <a:r>
              <a:rPr lang="en-GB"/>
              <a:t> position</a:t>
            </a:r>
          </a:p>
          <a:p>
            <a:pPr marL="0" indent="0">
              <a:buNone/>
            </a:pPr>
            <a:r>
              <a:rPr lang="en-GB"/>
              <a:t>“Show me”</a:t>
            </a:r>
          </a:p>
          <a:p>
            <a:pPr marL="0" indent="0">
              <a:buNone/>
            </a:pPr>
            <a:r>
              <a:rPr lang="en-GB"/>
              <a:t>You need to score 70% to pass</a:t>
            </a:r>
          </a:p>
          <a:p>
            <a:pPr marL="0" indent="0">
              <a:buNone/>
            </a:pPr>
            <a:r>
              <a:rPr lang="en-GB"/>
              <a:t>Subtitle </a:t>
            </a:r>
            <a:r>
              <a:rPr lang="en-GB" b="1"/>
              <a:t>‘test score’ ?/10</a:t>
            </a:r>
          </a:p>
        </p:txBody>
      </p:sp>
      <p:grpSp>
        <p:nvGrpSpPr>
          <p:cNvPr id="34" name="Group 33">
            <a:extLst>
              <a:ext uri="{FF2B5EF4-FFF2-40B4-BE49-F238E27FC236}">
                <a16:creationId xmlns:a16="http://schemas.microsoft.com/office/drawing/2014/main" id="{0A587C07-6C84-0222-BFE4-D07079D83BD4}"/>
              </a:ext>
            </a:extLst>
          </p:cNvPr>
          <p:cNvGrpSpPr/>
          <p:nvPr/>
        </p:nvGrpSpPr>
        <p:grpSpPr>
          <a:xfrm>
            <a:off x="9614796" y="6387318"/>
            <a:ext cx="1994299" cy="478636"/>
            <a:chOff x="9614803" y="6387318"/>
            <a:chExt cx="1341657" cy="447712"/>
          </a:xfrm>
        </p:grpSpPr>
        <p:pic>
          <p:nvPicPr>
            <p:cNvPr id="30" name="Picture 29" descr="A picture containing text&#10;&#10;Description automatically generated">
              <a:extLst>
                <a:ext uri="{FF2B5EF4-FFF2-40B4-BE49-F238E27FC236}">
                  <a16:creationId xmlns:a16="http://schemas.microsoft.com/office/drawing/2014/main" id="{B2D66E4F-A3D6-D7BB-085C-94613A75B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A picture containing text, sign&#10;&#10;Description automatically generated">
              <a:extLst>
                <a:ext uri="{FF2B5EF4-FFF2-40B4-BE49-F238E27FC236}">
                  <a16:creationId xmlns:a16="http://schemas.microsoft.com/office/drawing/2014/main" id="{D6625AAA-37D5-E818-899C-B43924C4F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A picture containing text&#10;&#10;Description automatically generated">
              <a:extLst>
                <a:ext uri="{FF2B5EF4-FFF2-40B4-BE49-F238E27FC236}">
                  <a16:creationId xmlns:a16="http://schemas.microsoft.com/office/drawing/2014/main" id="{FD682F4B-999A-5215-2024-142C8274A1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8F0D5CB0-6BDF-CFCB-A5A7-9AF0A9F09E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1637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3C7AB-13C5-9B68-798E-96A62E567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4AF24-DDD8-96F6-696F-A142E350D91B}"/>
              </a:ext>
            </a:extLst>
          </p:cNvPr>
          <p:cNvSpPr>
            <a:spLocks noGrp="1"/>
          </p:cNvSpPr>
          <p:nvPr>
            <p:ph type="title"/>
          </p:nvPr>
        </p:nvSpPr>
        <p:spPr/>
        <p:txBody>
          <a:bodyPr/>
          <a:lstStyle/>
          <a:p>
            <a:r>
              <a:rPr lang="en-GB" dirty="0"/>
              <a:t>MWB Quiz</a:t>
            </a:r>
          </a:p>
        </p:txBody>
      </p:sp>
      <p:sp>
        <p:nvSpPr>
          <p:cNvPr id="10" name="TextBox 9">
            <a:extLst>
              <a:ext uri="{FF2B5EF4-FFF2-40B4-BE49-F238E27FC236}">
                <a16:creationId xmlns:a16="http://schemas.microsoft.com/office/drawing/2014/main" id="{EFF3F28C-E0AF-80A2-9AB0-F062BBC6B840}"/>
              </a:ext>
            </a:extLst>
          </p:cNvPr>
          <p:cNvSpPr txBox="1"/>
          <p:nvPr/>
        </p:nvSpPr>
        <p:spPr>
          <a:xfrm>
            <a:off x="96253" y="1690688"/>
            <a:ext cx="11999494" cy="4401205"/>
          </a:xfrm>
          <a:prstGeom prst="rect">
            <a:avLst/>
          </a:prstGeom>
          <a:noFill/>
        </p:spPr>
        <p:txBody>
          <a:bodyPr wrap="square">
            <a:spAutoFit/>
          </a:bodyPr>
          <a:lstStyle/>
          <a:p>
            <a:pPr marL="514350" indent="-514350">
              <a:buFont typeface="+mj-lt"/>
              <a:buAutoNum type="arabicPeriod"/>
            </a:pPr>
            <a:r>
              <a:rPr lang="en-US" sz="2800" dirty="0">
                <a:latin typeface="Century Gothic" panose="020B0502020202020204" pitchFamily="34" charset="0"/>
              </a:rPr>
              <a:t>What is the name of an organism that eats other organisms? </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used to increase the yield of a farmer’s field?</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term for an extreme food shortage? </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term for having enough food to feed a population? </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process of minerals moving through the soil due to rain fall? </a:t>
            </a:r>
          </a:p>
        </p:txBody>
      </p:sp>
      <p:sp>
        <p:nvSpPr>
          <p:cNvPr id="12" name="Rectangle 11">
            <a:extLst>
              <a:ext uri="{FF2B5EF4-FFF2-40B4-BE49-F238E27FC236}">
                <a16:creationId xmlns:a16="http://schemas.microsoft.com/office/drawing/2014/main" id="{7333EEE5-50D2-CF13-19F8-36FB9E31BE05}"/>
              </a:ext>
            </a:extLst>
          </p:cNvPr>
          <p:cNvSpPr/>
          <p:nvPr/>
        </p:nvSpPr>
        <p:spPr>
          <a:xfrm>
            <a:off x="164122" y="2527424"/>
            <a:ext cx="11744055" cy="684699"/>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87D0941-492C-FFA0-D283-86775E3927C1}"/>
              </a:ext>
            </a:extLst>
          </p:cNvPr>
          <p:cNvSpPr/>
          <p:nvPr/>
        </p:nvSpPr>
        <p:spPr>
          <a:xfrm>
            <a:off x="152400" y="3336312"/>
            <a:ext cx="11744055" cy="684699"/>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14880CEE-A717-5268-34EA-A8A09F12B810}"/>
              </a:ext>
            </a:extLst>
          </p:cNvPr>
          <p:cNvSpPr/>
          <p:nvPr/>
        </p:nvSpPr>
        <p:spPr>
          <a:xfrm>
            <a:off x="140676" y="4262437"/>
            <a:ext cx="11744055" cy="684699"/>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CC8538A-1F9F-7292-28CF-393809579CDC}"/>
              </a:ext>
            </a:extLst>
          </p:cNvPr>
          <p:cNvSpPr/>
          <p:nvPr/>
        </p:nvSpPr>
        <p:spPr>
          <a:xfrm>
            <a:off x="140676" y="5188563"/>
            <a:ext cx="11744055" cy="766758"/>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804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00805-1F4D-8ABE-929D-493E027B9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87CE0-5774-BAA3-AD2B-BA960276A889}"/>
              </a:ext>
            </a:extLst>
          </p:cNvPr>
          <p:cNvSpPr>
            <a:spLocks noGrp="1"/>
          </p:cNvSpPr>
          <p:nvPr>
            <p:ph type="title"/>
          </p:nvPr>
        </p:nvSpPr>
        <p:spPr/>
        <p:txBody>
          <a:bodyPr/>
          <a:lstStyle/>
          <a:p>
            <a:r>
              <a:rPr lang="en-GB" dirty="0"/>
              <a:t>MWB Quiz</a:t>
            </a:r>
          </a:p>
        </p:txBody>
      </p:sp>
      <p:sp>
        <p:nvSpPr>
          <p:cNvPr id="6" name="TextBox 5">
            <a:extLst>
              <a:ext uri="{FF2B5EF4-FFF2-40B4-BE49-F238E27FC236}">
                <a16:creationId xmlns:a16="http://schemas.microsoft.com/office/drawing/2014/main" id="{9FA40502-DAB7-E403-631B-BF6E7FE693E4}"/>
              </a:ext>
            </a:extLst>
          </p:cNvPr>
          <p:cNvSpPr txBox="1"/>
          <p:nvPr/>
        </p:nvSpPr>
        <p:spPr>
          <a:xfrm>
            <a:off x="1" y="1690687"/>
            <a:ext cx="12192000" cy="5262979"/>
          </a:xfrm>
          <a:prstGeom prst="rect">
            <a:avLst/>
          </a:prstGeom>
          <a:noFill/>
        </p:spPr>
        <p:txBody>
          <a:bodyPr wrap="square">
            <a:spAutoFit/>
          </a:bodyPr>
          <a:lstStyle/>
          <a:p>
            <a:pPr marL="514350" indent="-514350">
              <a:buFont typeface="+mj-lt"/>
              <a:buAutoNum type="arabicPeriod"/>
            </a:pPr>
            <a:r>
              <a:rPr lang="en-US" sz="2800" dirty="0">
                <a:latin typeface="Century Gothic" panose="020B0502020202020204" pitchFamily="34" charset="0"/>
              </a:rPr>
              <a:t>What is the name of an organism that eats other organisms? </a:t>
            </a:r>
            <a:r>
              <a:rPr lang="en-US" sz="2800" b="1" dirty="0">
                <a:solidFill>
                  <a:schemeClr val="accent3"/>
                </a:solidFill>
                <a:latin typeface="Century Gothic" panose="020B0502020202020204" pitchFamily="34" charset="0"/>
              </a:rPr>
              <a:t>Predator</a:t>
            </a:r>
          </a:p>
          <a:p>
            <a:pPr marL="514350" indent="-514350">
              <a:buFont typeface="+mj-lt"/>
              <a:buAutoNum type="arabicPeriod"/>
            </a:pPr>
            <a:endParaRPr lang="en-US" sz="2800" dirty="0">
              <a:solidFill>
                <a:schemeClr val="accent3"/>
              </a:solidFill>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used to increase the yield of a farmer’s field?  </a:t>
            </a:r>
            <a:r>
              <a:rPr lang="en-US" sz="2800" b="1" dirty="0">
                <a:solidFill>
                  <a:schemeClr val="accent3"/>
                </a:solidFill>
                <a:latin typeface="Century Gothic" panose="020B0502020202020204" pitchFamily="34" charset="0"/>
              </a:rPr>
              <a:t>Fertiliser</a:t>
            </a:r>
            <a:r>
              <a:rPr lang="en-US" sz="2800" dirty="0">
                <a:latin typeface="Century Gothic" panose="020B0502020202020204" pitchFamily="34" charset="0"/>
              </a:rPr>
              <a:t> </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term for an extreme food shortage?  </a:t>
            </a:r>
            <a:r>
              <a:rPr lang="en-US" sz="2800" b="1" dirty="0">
                <a:solidFill>
                  <a:schemeClr val="accent3"/>
                </a:solidFill>
                <a:latin typeface="Century Gothic" panose="020B0502020202020204" pitchFamily="34" charset="0"/>
              </a:rPr>
              <a:t>Famine</a:t>
            </a:r>
            <a:r>
              <a:rPr lang="en-US" sz="2800" dirty="0">
                <a:latin typeface="Century Gothic" panose="020B0502020202020204" pitchFamily="34" charset="0"/>
              </a:rPr>
              <a:t> </a:t>
            </a:r>
          </a:p>
          <a:p>
            <a:pPr marL="514350" indent="-514350">
              <a:buFont typeface="+mj-lt"/>
              <a:buAutoNum type="arabicPeriod"/>
            </a:pPr>
            <a:endParaRPr lang="en-US" sz="2800" dirty="0">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term for having enough food to feed a population? </a:t>
            </a:r>
            <a:r>
              <a:rPr lang="en-US" sz="2800" b="1" dirty="0">
                <a:solidFill>
                  <a:schemeClr val="accent3"/>
                </a:solidFill>
                <a:latin typeface="Century Gothic" panose="020B0502020202020204" pitchFamily="34" charset="0"/>
              </a:rPr>
              <a:t>Food security </a:t>
            </a:r>
          </a:p>
          <a:p>
            <a:pPr marL="514350" indent="-514350">
              <a:buFont typeface="+mj-lt"/>
              <a:buAutoNum type="arabicPeriod"/>
            </a:pPr>
            <a:endParaRPr lang="en-US" sz="2800" b="1" dirty="0">
              <a:solidFill>
                <a:schemeClr val="accent3"/>
              </a:solidFill>
              <a:latin typeface="Century Gothic" panose="020B0502020202020204" pitchFamily="34" charset="0"/>
            </a:endParaRPr>
          </a:p>
          <a:p>
            <a:pPr marL="514350" indent="-514350">
              <a:buFont typeface="+mj-lt"/>
              <a:buAutoNum type="arabicPeriod"/>
            </a:pPr>
            <a:r>
              <a:rPr lang="en-US" sz="2800" dirty="0">
                <a:latin typeface="Century Gothic" panose="020B0502020202020204" pitchFamily="34" charset="0"/>
              </a:rPr>
              <a:t>What is the process of minerals moving through the soil due to rain fall?  </a:t>
            </a:r>
            <a:r>
              <a:rPr lang="en-US" sz="2800" b="1" dirty="0">
                <a:solidFill>
                  <a:schemeClr val="accent3"/>
                </a:solidFill>
                <a:latin typeface="Century Gothic" panose="020B0502020202020204" pitchFamily="34" charset="0"/>
              </a:rPr>
              <a:t>Leaching</a:t>
            </a:r>
            <a:r>
              <a:rPr lang="en-US" sz="2800" dirty="0">
                <a:solidFill>
                  <a:schemeClr val="accent3"/>
                </a:solidFill>
                <a:latin typeface="Century Gothic" panose="020B0502020202020204" pitchFamily="34" charset="0"/>
              </a:rPr>
              <a:t> </a:t>
            </a:r>
          </a:p>
        </p:txBody>
      </p:sp>
    </p:spTree>
    <p:extLst>
      <p:ext uri="{BB962C8B-B14F-4D97-AF65-F5344CB8AC3E}">
        <p14:creationId xmlns:p14="http://schemas.microsoft.com/office/powerpoint/2010/main" val="103188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603F12-ADAF-3A7A-184B-FBBEC30C158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BECBC3-A14A-4E70-5894-3B197931AB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B77C23C3-645F-3B09-C1EC-DF9739649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8F5D1ACB-821C-2E26-DDC6-F5CAD7505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E442A4A2-15CA-2480-5AB8-FAD42D3D849E}"/>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6BA13B54-FF7F-A714-7065-93DA85AB4B57}"/>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Objectives</a:t>
            </a:r>
          </a:p>
        </p:txBody>
      </p:sp>
      <p:graphicFrame>
        <p:nvGraphicFramePr>
          <p:cNvPr id="2" name="Diagram 1">
            <a:extLst>
              <a:ext uri="{FF2B5EF4-FFF2-40B4-BE49-F238E27FC236}">
                <a16:creationId xmlns:a16="http://schemas.microsoft.com/office/drawing/2014/main" id="{D699853D-B664-0D36-C0B1-5DD47D6C29C1}"/>
              </a:ext>
            </a:extLst>
          </p:cNvPr>
          <p:cNvGraphicFramePr/>
          <p:nvPr>
            <p:extLst>
              <p:ext uri="{D42A27DB-BD31-4B8C-83A1-F6EECF244321}">
                <p14:modId xmlns:p14="http://schemas.microsoft.com/office/powerpoint/2010/main" val="1074948196"/>
              </p:ext>
            </p:extLst>
          </p:nvPr>
        </p:nvGraphicFramePr>
        <p:xfrm>
          <a:off x="1165413" y="4950758"/>
          <a:ext cx="10455087" cy="14948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0" name="Group 29">
            <a:extLst>
              <a:ext uri="{FF2B5EF4-FFF2-40B4-BE49-F238E27FC236}">
                <a16:creationId xmlns:a16="http://schemas.microsoft.com/office/drawing/2014/main" id="{BF88CFC3-A8F2-2223-25F0-8359E513D5FD}"/>
              </a:ext>
            </a:extLst>
          </p:cNvPr>
          <p:cNvGrpSpPr/>
          <p:nvPr/>
        </p:nvGrpSpPr>
        <p:grpSpPr>
          <a:xfrm>
            <a:off x="9614796" y="6387318"/>
            <a:ext cx="1994299" cy="478636"/>
            <a:chOff x="9614803" y="6387318"/>
            <a:chExt cx="1341657" cy="447712"/>
          </a:xfrm>
        </p:grpSpPr>
        <p:pic>
          <p:nvPicPr>
            <p:cNvPr id="26" name="Picture 25" descr="A picture containing text&#10;&#10;Description automatically generated">
              <a:extLst>
                <a:ext uri="{FF2B5EF4-FFF2-40B4-BE49-F238E27FC236}">
                  <a16:creationId xmlns:a16="http://schemas.microsoft.com/office/drawing/2014/main" id="{068FCF2F-95A8-28DA-0D8A-AB26D5862F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picture containing text, sign&#10;&#10;Description automatically generated">
              <a:extLst>
                <a:ext uri="{FF2B5EF4-FFF2-40B4-BE49-F238E27FC236}">
                  <a16:creationId xmlns:a16="http://schemas.microsoft.com/office/drawing/2014/main" id="{234152C5-FD47-9B44-0194-62C8D7BF1C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A picture containing text&#10;&#10;Description automatically generated">
              <a:extLst>
                <a:ext uri="{FF2B5EF4-FFF2-40B4-BE49-F238E27FC236}">
                  <a16:creationId xmlns:a16="http://schemas.microsoft.com/office/drawing/2014/main" id="{C1F70C14-68E1-1F24-91D5-B7DD522018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B8366343-E6FA-1CEB-6A64-638D2CC2A3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TextBox 30"/>
          <p:cNvSpPr txBox="1"/>
          <p:nvPr/>
        </p:nvSpPr>
        <p:spPr>
          <a:xfrm>
            <a:off x="1115568" y="274320"/>
            <a:ext cx="10241280" cy="4745736"/>
          </a:xfrm>
          <a:prstGeom prst="rect">
            <a:avLst/>
          </a:prstGeom>
          <a:noFill/>
        </p:spPr>
        <p:txBody>
          <a:bodyPr wrap="square" tIns="91440" bIns="91440">
            <a:noAutofit/>
          </a:bodyPr>
          <a:lstStyle/>
          <a:p>
            <a:endParaRPr dirty="0"/>
          </a:p>
          <a:p>
            <a:pPr marL="342900" indent="-342900">
              <a:buFont typeface="Arial" panose="020B0604020202020204" pitchFamily="34" charset="0"/>
              <a:buChar char="•"/>
            </a:pPr>
            <a:r>
              <a:rPr lang="en-US" sz="2800" dirty="0">
                <a:latin typeface="Century Gothic" panose="020B0502020202020204" pitchFamily="34" charset="0"/>
              </a:rPr>
              <a:t>List some disadvantages of mining and quarrying</a:t>
            </a:r>
          </a:p>
          <a:p>
            <a:pPr marL="342900" indent="-342900">
              <a:buFont typeface="Arial" panose="020B0604020202020204" pitchFamily="34" charset="0"/>
              <a:buChar char="•"/>
            </a:pPr>
            <a:endParaRPr lang="en-US" sz="2800" dirty="0">
              <a:latin typeface="Century Gothic" panose="020B0502020202020204" pitchFamily="34" charset="0"/>
            </a:endParaRPr>
          </a:p>
          <a:p>
            <a:pPr marL="342900" indent="-342900">
              <a:buFont typeface="Arial" panose="020B0604020202020204" pitchFamily="34" charset="0"/>
              <a:buChar char="•"/>
            </a:pPr>
            <a:r>
              <a:rPr lang="en-US" sz="2800" dirty="0">
                <a:latin typeface="Century Gothic" panose="020B0502020202020204" pitchFamily="34" charset="0"/>
              </a:rPr>
              <a:t>Define bioleaching and </a:t>
            </a:r>
            <a:r>
              <a:rPr lang="en-US" sz="2800" dirty="0" err="1">
                <a:latin typeface="Century Gothic" panose="020B0502020202020204" pitchFamily="34" charset="0"/>
              </a:rPr>
              <a:t>phytomining</a:t>
            </a:r>
            <a:endParaRPr lang="en-US" sz="2800" dirty="0">
              <a:latin typeface="Century Gothic" panose="020B0502020202020204" pitchFamily="34" charset="0"/>
            </a:endParaRPr>
          </a:p>
          <a:p>
            <a:pPr marL="342900" indent="-342900">
              <a:buFont typeface="Arial" panose="020B0604020202020204" pitchFamily="34" charset="0"/>
              <a:buChar char="•"/>
            </a:pPr>
            <a:endParaRPr lang="en-US" sz="2800" dirty="0">
              <a:latin typeface="Century Gothic" panose="020B0502020202020204" pitchFamily="34" charset="0"/>
            </a:endParaRPr>
          </a:p>
          <a:p>
            <a:pPr marL="342900" indent="-342900">
              <a:buFont typeface="Arial" panose="020B0604020202020204" pitchFamily="34" charset="0"/>
              <a:buChar char="•"/>
            </a:pPr>
            <a:r>
              <a:rPr lang="en-US" sz="2800" dirty="0">
                <a:latin typeface="Century Gothic" panose="020B0502020202020204" pitchFamily="34" charset="0"/>
              </a:rPr>
              <a:t>Explain how bioleaching and </a:t>
            </a:r>
            <a:r>
              <a:rPr lang="en-US" sz="2800" dirty="0" err="1">
                <a:latin typeface="Century Gothic" panose="020B0502020202020204" pitchFamily="34" charset="0"/>
              </a:rPr>
              <a:t>phytomining</a:t>
            </a:r>
            <a:r>
              <a:rPr lang="en-US" sz="2800" dirty="0">
                <a:latin typeface="Century Gothic" panose="020B0502020202020204" pitchFamily="34" charset="0"/>
              </a:rPr>
              <a:t> are carried out</a:t>
            </a:r>
          </a:p>
          <a:p>
            <a:endParaRPr sz="2800" b="1" dirty="0">
              <a:solidFill>
                <a:srgbClr val="000000"/>
              </a:solidFill>
              <a:latin typeface="Century Gothic"/>
            </a:endParaRPr>
          </a:p>
        </p:txBody>
      </p:sp>
    </p:spTree>
    <p:extLst>
      <p:ext uri="{BB962C8B-B14F-4D97-AF65-F5344CB8AC3E}">
        <p14:creationId xmlns:p14="http://schemas.microsoft.com/office/powerpoint/2010/main" val="2652007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Extracting Copper</a:t>
            </a:r>
          </a:p>
        </p:txBody>
      </p:sp>
      <p:sp>
        <p:nvSpPr>
          <p:cNvPr id="7" name="TextBox 6">
            <a:extLst>
              <a:ext uri="{FF2B5EF4-FFF2-40B4-BE49-F238E27FC236}">
                <a16:creationId xmlns:a16="http://schemas.microsoft.com/office/drawing/2014/main" id="{F64BCD4F-EFB0-9D1C-F971-8BEACEDF52AB}"/>
              </a:ext>
            </a:extLst>
          </p:cNvPr>
          <p:cNvSpPr txBox="1"/>
          <p:nvPr/>
        </p:nvSpPr>
        <p:spPr>
          <a:xfrm>
            <a:off x="539999" y="983718"/>
            <a:ext cx="8816271" cy="830997"/>
          </a:xfrm>
          <a:prstGeom prst="rect">
            <a:avLst/>
          </a:prstGeom>
          <a:noFill/>
        </p:spPr>
        <p:txBody>
          <a:bodyPr wrap="square">
            <a:spAutoFit/>
          </a:bodyPr>
          <a:lstStyle/>
          <a:p>
            <a:r>
              <a:rPr lang="en-GB" sz="2400" dirty="0">
                <a:latin typeface="Century Gothic" panose="020B0502020202020204" pitchFamily="34" charset="0"/>
              </a:rPr>
              <a:t>Copper prices have increased rapidly since 2003.</a:t>
            </a:r>
          </a:p>
          <a:p>
            <a:r>
              <a:rPr lang="en-GB" sz="2400" dirty="0">
                <a:latin typeface="Century Gothic" panose="020B0502020202020204" pitchFamily="34" charset="0"/>
              </a:rPr>
              <a:t>Why might this be? </a:t>
            </a:r>
          </a:p>
        </p:txBody>
      </p:sp>
      <p:sp>
        <p:nvSpPr>
          <p:cNvPr id="10" name="TextBox 9">
            <a:extLst>
              <a:ext uri="{FF2B5EF4-FFF2-40B4-BE49-F238E27FC236}">
                <a16:creationId xmlns:a16="http://schemas.microsoft.com/office/drawing/2014/main" id="{0F25B006-1E37-E7A4-C1D4-AEA7884C5C77}"/>
              </a:ext>
            </a:extLst>
          </p:cNvPr>
          <p:cNvSpPr txBox="1"/>
          <p:nvPr/>
        </p:nvSpPr>
        <p:spPr>
          <a:xfrm>
            <a:off x="3472590" y="1368802"/>
            <a:ext cx="7005444"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Copper-rich ores are becoming more scarce.</a:t>
            </a:r>
          </a:p>
        </p:txBody>
      </p:sp>
      <p:pic>
        <p:nvPicPr>
          <p:cNvPr id="1026" name="Picture 2" descr="Free Chart Trend vector and picture">
            <a:extLst>
              <a:ext uri="{FF2B5EF4-FFF2-40B4-BE49-F238E27FC236}">
                <a16:creationId xmlns:a16="http://schemas.microsoft.com/office/drawing/2014/main" id="{D67B5EDD-E2AF-A558-6BE0-3C4B240869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78" t="26667" r="20222" b="24000"/>
          <a:stretch/>
        </p:blipFill>
        <p:spPr bwMode="auto">
          <a:xfrm>
            <a:off x="3090672" y="2578608"/>
            <a:ext cx="4114800" cy="338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42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B39B81-985E-79A6-6A79-BE3ECED556F1}"/>
              </a:ext>
            </a:extLst>
          </p:cNvPr>
          <p:cNvSpPr txBox="1"/>
          <p:nvPr/>
        </p:nvSpPr>
        <p:spPr>
          <a:xfrm>
            <a:off x="310968" y="243512"/>
            <a:ext cx="11053717" cy="1569660"/>
          </a:xfrm>
          <a:prstGeom prst="rect">
            <a:avLst/>
          </a:prstGeom>
          <a:noFill/>
        </p:spPr>
        <p:txBody>
          <a:bodyPr wrap="square" rtlCol="0">
            <a:spAutoFit/>
          </a:bodyPr>
          <a:lstStyle/>
          <a:p>
            <a:r>
              <a:rPr lang="en-GB" sz="2400" b="1" dirty="0">
                <a:latin typeface="Century Gothic" panose="020B0502020202020204" pitchFamily="34" charset="0"/>
              </a:rPr>
              <a:t>Extracting Copper</a:t>
            </a:r>
          </a:p>
          <a:p>
            <a:endParaRPr lang="en-GB" sz="2400" b="1" dirty="0">
              <a:latin typeface="Century Gothic" panose="020B0502020202020204" pitchFamily="34" charset="0"/>
            </a:endParaRPr>
          </a:p>
          <a:p>
            <a:r>
              <a:rPr lang="en-GB" sz="2400" dirty="0">
                <a:latin typeface="Century Gothic" panose="020B0502020202020204" pitchFamily="34" charset="0"/>
              </a:rPr>
              <a:t>Copper ores vary in the percentage of copper they contain. </a:t>
            </a:r>
          </a:p>
          <a:p>
            <a:endParaRPr lang="en-GB" sz="2400" dirty="0">
              <a:latin typeface="Century Gothic" panose="020B0502020202020204" pitchFamily="34" charset="0"/>
            </a:endParaRPr>
          </a:p>
        </p:txBody>
      </p:sp>
      <p:sp>
        <p:nvSpPr>
          <p:cNvPr id="7" name="TextBox 6">
            <a:extLst>
              <a:ext uri="{FF2B5EF4-FFF2-40B4-BE49-F238E27FC236}">
                <a16:creationId xmlns:a16="http://schemas.microsoft.com/office/drawing/2014/main" id="{2CC9BE77-BC5F-AC58-F071-776533CF0A3C}"/>
              </a:ext>
            </a:extLst>
          </p:cNvPr>
          <p:cNvSpPr txBox="1"/>
          <p:nvPr/>
        </p:nvSpPr>
        <p:spPr>
          <a:xfrm>
            <a:off x="368300" y="1808934"/>
            <a:ext cx="10709455" cy="1200329"/>
          </a:xfrm>
          <a:prstGeom prst="rect">
            <a:avLst/>
          </a:prstGeom>
          <a:noFill/>
        </p:spPr>
        <p:txBody>
          <a:bodyPr wrap="square">
            <a:spAutoFit/>
          </a:bodyPr>
          <a:lstStyle/>
          <a:p>
            <a:r>
              <a:rPr lang="en-GB" sz="2400" dirty="0">
                <a:latin typeface="Century Gothic" panose="020B0502020202020204" pitchFamily="34" charset="0"/>
              </a:rPr>
              <a:t>If they contain very little copper, extracting it might be more costly than it is worth! </a:t>
            </a:r>
          </a:p>
          <a:p>
            <a:endParaRPr lang="en-GB" sz="2400" dirty="0">
              <a:latin typeface="Century Gothic" panose="020B0502020202020204" pitchFamily="34" charset="0"/>
            </a:endParaRPr>
          </a:p>
        </p:txBody>
      </p:sp>
      <p:sp>
        <p:nvSpPr>
          <p:cNvPr id="9" name="TextBox 8">
            <a:extLst>
              <a:ext uri="{FF2B5EF4-FFF2-40B4-BE49-F238E27FC236}">
                <a16:creationId xmlns:a16="http://schemas.microsoft.com/office/drawing/2014/main" id="{BBCE18A4-67A3-1483-14F5-74D7CFD91E64}"/>
              </a:ext>
            </a:extLst>
          </p:cNvPr>
          <p:cNvSpPr txBox="1"/>
          <p:nvPr/>
        </p:nvSpPr>
        <p:spPr>
          <a:xfrm>
            <a:off x="381000" y="2961839"/>
            <a:ext cx="10869385" cy="1200329"/>
          </a:xfrm>
          <a:prstGeom prst="rect">
            <a:avLst/>
          </a:prstGeom>
          <a:noFill/>
        </p:spPr>
        <p:txBody>
          <a:bodyPr wrap="square">
            <a:spAutoFit/>
          </a:bodyPr>
          <a:lstStyle/>
          <a:p>
            <a:r>
              <a:rPr lang="en-GB" sz="2400" dirty="0">
                <a:latin typeface="Century Gothic" panose="020B0502020202020204" pitchFamily="34" charset="0"/>
              </a:rPr>
              <a:t>As the availability of high-grade copper ores dwindles, scientists are looking for more effective ways to use </a:t>
            </a:r>
            <a:r>
              <a:rPr lang="en-GB" sz="2400" b="1" dirty="0">
                <a:latin typeface="Century Gothic" panose="020B0502020202020204" pitchFamily="34" charset="0"/>
              </a:rPr>
              <a:t>low-grade copper ores </a:t>
            </a:r>
            <a:r>
              <a:rPr lang="en-GB" sz="2400" dirty="0">
                <a:latin typeface="Century Gothic" panose="020B0502020202020204" pitchFamily="34" charset="0"/>
              </a:rPr>
              <a:t>to obtain copper. </a:t>
            </a:r>
          </a:p>
        </p:txBody>
      </p:sp>
      <p:sp>
        <p:nvSpPr>
          <p:cNvPr id="11" name="TextBox 10">
            <a:extLst>
              <a:ext uri="{FF2B5EF4-FFF2-40B4-BE49-F238E27FC236}">
                <a16:creationId xmlns:a16="http://schemas.microsoft.com/office/drawing/2014/main" id="{4EB30D1B-EBB6-822C-C7DD-E706661494D1}"/>
              </a:ext>
            </a:extLst>
          </p:cNvPr>
          <p:cNvSpPr txBox="1"/>
          <p:nvPr/>
        </p:nvSpPr>
        <p:spPr>
          <a:xfrm>
            <a:off x="421274" y="5044829"/>
            <a:ext cx="9960428" cy="1569660"/>
          </a:xfrm>
          <a:prstGeom prst="rect">
            <a:avLst/>
          </a:prstGeom>
          <a:noFill/>
        </p:spPr>
        <p:txBody>
          <a:bodyPr wrap="square">
            <a:spAutoFit/>
          </a:bodyPr>
          <a:lstStyle/>
          <a:p>
            <a:r>
              <a:rPr lang="en-GB" sz="2400" dirty="0">
                <a:latin typeface="Century Gothic" panose="020B0502020202020204" pitchFamily="34" charset="0"/>
              </a:rPr>
              <a:t>There are two main methods currently being used:</a:t>
            </a:r>
          </a:p>
          <a:p>
            <a:endParaRPr lang="en-GB" sz="2400" dirty="0">
              <a:latin typeface="Century Gothic" panose="020B0502020202020204" pitchFamily="34" charset="0"/>
            </a:endParaRPr>
          </a:p>
          <a:p>
            <a:pPr marL="457200" indent="-457200">
              <a:buFont typeface="+mj-lt"/>
              <a:buAutoNum type="arabicPeriod"/>
            </a:pPr>
            <a:r>
              <a:rPr lang="en-GB" sz="2400" b="1" dirty="0">
                <a:latin typeface="Century Gothic" panose="020B0502020202020204" pitchFamily="34" charset="0"/>
              </a:rPr>
              <a:t>Bioleaching</a:t>
            </a:r>
          </a:p>
          <a:p>
            <a:pPr marL="457200" indent="-457200">
              <a:buFont typeface="+mj-lt"/>
              <a:buAutoNum type="arabicPeriod"/>
            </a:pPr>
            <a:r>
              <a:rPr lang="en-GB" sz="2400" b="1" dirty="0">
                <a:latin typeface="Century Gothic" panose="020B0502020202020204" pitchFamily="34" charset="0"/>
              </a:rPr>
              <a:t>Phytomining</a:t>
            </a:r>
          </a:p>
        </p:txBody>
      </p:sp>
    </p:spTree>
    <p:extLst>
      <p:ext uri="{BB962C8B-B14F-4D97-AF65-F5344CB8AC3E}">
        <p14:creationId xmlns:p14="http://schemas.microsoft.com/office/powerpoint/2010/main" val="290654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225481-0F1E-35B8-F59B-95A49A055875}"/>
              </a:ext>
            </a:extLst>
          </p:cNvPr>
          <p:cNvSpPr txBox="1"/>
          <p:nvPr/>
        </p:nvSpPr>
        <p:spPr>
          <a:xfrm>
            <a:off x="180339" y="344866"/>
            <a:ext cx="11233332" cy="6370975"/>
          </a:xfrm>
          <a:prstGeom prst="rect">
            <a:avLst/>
          </a:prstGeom>
          <a:noFill/>
        </p:spPr>
        <p:txBody>
          <a:bodyPr wrap="square" rtlCol="0">
            <a:spAutoFit/>
          </a:bodyPr>
          <a:lstStyle/>
          <a:p>
            <a:r>
              <a:rPr lang="en-GB" sz="2400" b="1" dirty="0">
                <a:latin typeface="Century Gothic" panose="020B0502020202020204" pitchFamily="34" charset="0"/>
              </a:rPr>
              <a:t>Bioleaching</a:t>
            </a:r>
          </a:p>
          <a:p>
            <a:endParaRPr lang="en-GB" sz="2400" b="1" dirty="0">
              <a:latin typeface="Century Gothic" panose="020B0502020202020204" pitchFamily="34" charset="0"/>
            </a:endParaRPr>
          </a:p>
          <a:p>
            <a:endParaRPr lang="en-GB" sz="2400" b="1" dirty="0">
              <a:latin typeface="Century Gothic" panose="020B0502020202020204" pitchFamily="34" charset="0"/>
            </a:endParaRPr>
          </a:p>
          <a:p>
            <a:endParaRPr lang="en-GB" sz="2400" b="1"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endParaRPr lang="en-GB" sz="2400" dirty="0">
              <a:latin typeface="Century Gothic" panose="020B0502020202020204" pitchFamily="34" charset="0"/>
            </a:endParaRPr>
          </a:p>
          <a:p>
            <a:pPr marL="342900" indent="-342900">
              <a:buFont typeface="Arial" panose="020B0604020202020204" pitchFamily="34" charset="0"/>
              <a:buChar char="•"/>
            </a:pPr>
            <a:endParaRPr lang="en-GB" sz="2400" dirty="0">
              <a:latin typeface="Century Gothic" panose="020B0502020202020204" pitchFamily="34" charset="0"/>
            </a:endParaRPr>
          </a:p>
          <a:p>
            <a:pPr marL="342900" indent="-342900">
              <a:buFont typeface="Arial" panose="020B0604020202020204" pitchFamily="34" charset="0"/>
              <a:buChar char="•"/>
            </a:pPr>
            <a:endParaRPr lang="en-GB" sz="2400" dirty="0">
              <a:latin typeface="Century Gothic" panose="020B0502020202020204" pitchFamily="34" charset="0"/>
            </a:endParaRPr>
          </a:p>
          <a:p>
            <a:pPr marL="342900" indent="-342900">
              <a:buFont typeface="Arial" panose="020B0604020202020204" pitchFamily="34" charset="0"/>
              <a:buChar char="•"/>
            </a:pPr>
            <a:endParaRPr lang="en-GB" sz="2400" dirty="0">
              <a:latin typeface="Century Gothic" panose="020B0502020202020204" pitchFamily="34" charset="0"/>
            </a:endParaRPr>
          </a:p>
          <a:p>
            <a:pPr marL="342900" indent="-342900">
              <a:buFont typeface="Arial" panose="020B0604020202020204" pitchFamily="34" charset="0"/>
              <a:buChar char="•"/>
            </a:pPr>
            <a:r>
              <a:rPr lang="en-GB" sz="2400" dirty="0">
                <a:latin typeface="Century Gothic" panose="020B0502020202020204" pitchFamily="34" charset="0"/>
              </a:rPr>
              <a:t>This method produces around 20-25% of all copper extracted from ores. </a:t>
            </a:r>
          </a:p>
          <a:p>
            <a:pPr marL="342900" indent="-342900">
              <a:buFont typeface="Arial" panose="020B0604020202020204" pitchFamily="34" charset="0"/>
              <a:buChar char="•"/>
            </a:pPr>
            <a:r>
              <a:rPr lang="en-GB" sz="2400" dirty="0">
                <a:latin typeface="Century Gothic" panose="020B0502020202020204" pitchFamily="34" charset="0"/>
              </a:rPr>
              <a:t>However, there is a long way to go with bioleaching… Scientists are looking for ways to </a:t>
            </a:r>
            <a:r>
              <a:rPr lang="en-GB" sz="2400" b="1" dirty="0">
                <a:latin typeface="Century Gothic" panose="020B0502020202020204" pitchFamily="34" charset="0"/>
              </a:rPr>
              <a:t>speed up </a:t>
            </a:r>
            <a:r>
              <a:rPr lang="en-GB" sz="2400" dirty="0">
                <a:latin typeface="Century Gothic" panose="020B0502020202020204" pitchFamily="34" charset="0"/>
              </a:rPr>
              <a:t>this process which can take years!</a:t>
            </a:r>
          </a:p>
        </p:txBody>
      </p:sp>
      <p:sp>
        <p:nvSpPr>
          <p:cNvPr id="5" name="TextBox 4">
            <a:extLst>
              <a:ext uri="{FF2B5EF4-FFF2-40B4-BE49-F238E27FC236}">
                <a16:creationId xmlns:a16="http://schemas.microsoft.com/office/drawing/2014/main" id="{8FEA75A0-2D40-99C0-FC55-7228738CA4B2}"/>
              </a:ext>
            </a:extLst>
          </p:cNvPr>
          <p:cNvSpPr txBox="1"/>
          <p:nvPr/>
        </p:nvSpPr>
        <p:spPr>
          <a:xfrm>
            <a:off x="180339" y="887360"/>
            <a:ext cx="11233332"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Bioleaching</a:t>
            </a:r>
            <a:r>
              <a:rPr lang="en-GB" sz="2400" dirty="0">
                <a:latin typeface="Century Gothic" panose="020B0502020202020204" pitchFamily="34" charset="0"/>
              </a:rPr>
              <a:t> is a method to extract metals from their ore using living organisms such as </a:t>
            </a:r>
            <a:r>
              <a:rPr lang="en-GB" sz="2400" b="1" dirty="0">
                <a:latin typeface="Century Gothic" panose="020B0502020202020204" pitchFamily="34" charset="0"/>
              </a:rPr>
              <a:t>bacteria</a:t>
            </a:r>
            <a:r>
              <a:rPr lang="en-GB" sz="2400" dirty="0">
                <a:latin typeface="Century Gothic" panose="020B0502020202020204" pitchFamily="34" charset="0"/>
              </a:rPr>
              <a:t>.</a:t>
            </a:r>
          </a:p>
        </p:txBody>
      </p:sp>
      <p:sp>
        <p:nvSpPr>
          <p:cNvPr id="7" name="TextBox 6">
            <a:extLst>
              <a:ext uri="{FF2B5EF4-FFF2-40B4-BE49-F238E27FC236}">
                <a16:creationId xmlns:a16="http://schemas.microsoft.com/office/drawing/2014/main" id="{517CF016-7179-BD74-9EAA-06254F925663}"/>
              </a:ext>
            </a:extLst>
          </p:cNvPr>
          <p:cNvSpPr txBox="1"/>
          <p:nvPr/>
        </p:nvSpPr>
        <p:spPr>
          <a:xfrm>
            <a:off x="310968" y="2095224"/>
            <a:ext cx="2939142" cy="646331"/>
          </a:xfrm>
          <a:prstGeom prst="rect">
            <a:avLst/>
          </a:prstGeom>
          <a:noFill/>
        </p:spPr>
        <p:txBody>
          <a:bodyPr wrap="square">
            <a:spAutoFit/>
          </a:bodyPr>
          <a:lstStyle/>
          <a:p>
            <a:pPr marL="457200" indent="-457200">
              <a:buAutoNum type="arabicPeriod"/>
            </a:pPr>
            <a:r>
              <a:rPr lang="en-GB" sz="1800" dirty="0">
                <a:latin typeface="Century Gothic" panose="020B0502020202020204" pitchFamily="34" charset="0"/>
              </a:rPr>
              <a:t>Bacteria are added to low-grade ores. </a:t>
            </a:r>
          </a:p>
        </p:txBody>
      </p:sp>
      <p:sp>
        <p:nvSpPr>
          <p:cNvPr id="9" name="TextBox 8">
            <a:extLst>
              <a:ext uri="{FF2B5EF4-FFF2-40B4-BE49-F238E27FC236}">
                <a16:creationId xmlns:a16="http://schemas.microsoft.com/office/drawing/2014/main" id="{048C2B60-D18C-4E28-AF5C-DE5729DE7F70}"/>
              </a:ext>
            </a:extLst>
          </p:cNvPr>
          <p:cNvSpPr txBox="1"/>
          <p:nvPr/>
        </p:nvSpPr>
        <p:spPr>
          <a:xfrm>
            <a:off x="3829412" y="2095224"/>
            <a:ext cx="3412671" cy="923330"/>
          </a:xfrm>
          <a:prstGeom prst="rect">
            <a:avLst/>
          </a:prstGeom>
          <a:noFill/>
        </p:spPr>
        <p:txBody>
          <a:bodyPr wrap="square">
            <a:spAutoFit/>
          </a:bodyPr>
          <a:lstStyle/>
          <a:p>
            <a:r>
              <a:rPr lang="en-GB" sz="1800" dirty="0">
                <a:latin typeface="Century Gothic" panose="020B0502020202020204" pitchFamily="34" charset="0"/>
              </a:rPr>
              <a:t>2. They ‘feed’ on the ore, creating a solution of ions called </a:t>
            </a:r>
            <a:r>
              <a:rPr lang="en-GB" sz="1800" b="1" dirty="0">
                <a:latin typeface="Century Gothic" panose="020B0502020202020204" pitchFamily="34" charset="0"/>
              </a:rPr>
              <a:t>leachate</a:t>
            </a:r>
            <a:r>
              <a:rPr lang="en-GB" sz="1800" dirty="0">
                <a:latin typeface="Century Gothic" panose="020B0502020202020204" pitchFamily="34" charset="0"/>
              </a:rPr>
              <a:t>. </a:t>
            </a:r>
          </a:p>
        </p:txBody>
      </p:sp>
      <p:sp>
        <p:nvSpPr>
          <p:cNvPr id="11" name="TextBox 10">
            <a:extLst>
              <a:ext uri="{FF2B5EF4-FFF2-40B4-BE49-F238E27FC236}">
                <a16:creationId xmlns:a16="http://schemas.microsoft.com/office/drawing/2014/main" id="{9FE3D581-2AC3-626D-6AE4-E230525030F6}"/>
              </a:ext>
            </a:extLst>
          </p:cNvPr>
          <p:cNvSpPr txBox="1"/>
          <p:nvPr/>
        </p:nvSpPr>
        <p:spPr>
          <a:xfrm>
            <a:off x="7796166" y="2095224"/>
            <a:ext cx="3429000" cy="1200329"/>
          </a:xfrm>
          <a:prstGeom prst="rect">
            <a:avLst/>
          </a:prstGeom>
          <a:noFill/>
        </p:spPr>
        <p:txBody>
          <a:bodyPr wrap="square">
            <a:spAutoFit/>
          </a:bodyPr>
          <a:lstStyle/>
          <a:p>
            <a:r>
              <a:rPr lang="en-GB" sz="1800" dirty="0">
                <a:latin typeface="Century Gothic" panose="020B0502020202020204" pitchFamily="34" charset="0"/>
              </a:rPr>
              <a:t>3. The copper solutions are then </a:t>
            </a:r>
            <a:r>
              <a:rPr lang="en-GB" sz="1800" b="1" dirty="0">
                <a:latin typeface="Century Gothic" panose="020B0502020202020204" pitchFamily="34" charset="0"/>
              </a:rPr>
              <a:t>purified</a:t>
            </a:r>
            <a:r>
              <a:rPr lang="en-GB" sz="1800" dirty="0">
                <a:latin typeface="Century Gothic" panose="020B0502020202020204" pitchFamily="34" charset="0"/>
              </a:rPr>
              <a:t> using displacement reactions or electrolysis.</a:t>
            </a:r>
          </a:p>
        </p:txBody>
      </p:sp>
      <p:pic>
        <p:nvPicPr>
          <p:cNvPr id="13" name="Picture 12">
            <a:extLst>
              <a:ext uri="{FF2B5EF4-FFF2-40B4-BE49-F238E27FC236}">
                <a16:creationId xmlns:a16="http://schemas.microsoft.com/office/drawing/2014/main" id="{70A49280-CD5C-BB75-4D0A-93B31267C866}"/>
              </a:ext>
            </a:extLst>
          </p:cNvPr>
          <p:cNvPicPr>
            <a:picLocks noChangeAspect="1"/>
          </p:cNvPicPr>
          <p:nvPr/>
        </p:nvPicPr>
        <p:blipFill>
          <a:blip r:embed="rId3"/>
          <a:stretch>
            <a:fillRect/>
          </a:stretch>
        </p:blipFill>
        <p:spPr>
          <a:xfrm>
            <a:off x="526912" y="3040038"/>
            <a:ext cx="2507253" cy="2041060"/>
          </a:xfrm>
          <a:prstGeom prst="rect">
            <a:avLst/>
          </a:prstGeom>
        </p:spPr>
      </p:pic>
      <p:pic>
        <p:nvPicPr>
          <p:cNvPr id="3074" name="Picture 2">
            <a:extLst>
              <a:ext uri="{FF2B5EF4-FFF2-40B4-BE49-F238E27FC236}">
                <a16:creationId xmlns:a16="http://schemas.microsoft.com/office/drawing/2014/main" id="{E49B40FF-5AC3-1F79-CFE7-86FECFA0AC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3200" y="3051174"/>
            <a:ext cx="28575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56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14" end="14"/>
                                            </p:txEl>
                                          </p:spTgt>
                                        </p:tgtEl>
                                        <p:attrNameLst>
                                          <p:attrName>style.visibility</p:attrName>
                                        </p:attrNameLst>
                                      </p:cBhvr>
                                      <p:to>
                                        <p:strVal val="visible"/>
                                      </p:to>
                                    </p:set>
                                    <p:animEffect transition="in" filter="fade">
                                      <p:cBhvr>
                                        <p:cTn id="34" dur="500"/>
                                        <p:tgtEl>
                                          <p:spTgt spid="4">
                                            <p:txEl>
                                              <p:pRg st="14" end="1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
                                            <p:txEl>
                                              <p:pRg st="15" end="15"/>
                                            </p:txEl>
                                          </p:spTgt>
                                        </p:tgtEl>
                                        <p:attrNameLst>
                                          <p:attrName>style.visibility</p:attrName>
                                        </p:attrNameLst>
                                      </p:cBhvr>
                                      <p:to>
                                        <p:strVal val="visible"/>
                                      </p:to>
                                    </p:set>
                                    <p:animEffect transition="in" filter="fade">
                                      <p:cBhvr>
                                        <p:cTn id="39" dur="5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E70B55-D44E-A062-6479-7F7D3DA2A5A8}"/>
              </a:ext>
            </a:extLst>
          </p:cNvPr>
          <p:cNvSpPr txBox="1"/>
          <p:nvPr/>
        </p:nvSpPr>
        <p:spPr>
          <a:xfrm>
            <a:off x="228599" y="192652"/>
            <a:ext cx="11185071" cy="461665"/>
          </a:xfrm>
          <a:prstGeom prst="rect">
            <a:avLst/>
          </a:prstGeom>
          <a:noFill/>
        </p:spPr>
        <p:txBody>
          <a:bodyPr wrap="square">
            <a:spAutoFit/>
          </a:bodyPr>
          <a:lstStyle/>
          <a:p>
            <a:r>
              <a:rPr lang="en-GB" sz="2400" b="1" dirty="0">
                <a:latin typeface="Century Gothic" panose="020B0502020202020204" pitchFamily="34" charset="0"/>
              </a:rPr>
              <a:t>Phytomining</a:t>
            </a:r>
          </a:p>
        </p:txBody>
      </p:sp>
      <p:sp>
        <p:nvSpPr>
          <p:cNvPr id="5" name="TextBox 4">
            <a:extLst>
              <a:ext uri="{FF2B5EF4-FFF2-40B4-BE49-F238E27FC236}">
                <a16:creationId xmlns:a16="http://schemas.microsoft.com/office/drawing/2014/main" id="{C81838CB-264E-3A69-CB4A-255D9AB1B309}"/>
              </a:ext>
            </a:extLst>
          </p:cNvPr>
          <p:cNvSpPr txBox="1"/>
          <p:nvPr/>
        </p:nvSpPr>
        <p:spPr>
          <a:xfrm>
            <a:off x="204468" y="805717"/>
            <a:ext cx="11233332"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Phytomining</a:t>
            </a:r>
            <a:r>
              <a:rPr lang="en-GB" sz="2400" dirty="0">
                <a:latin typeface="Century Gothic" panose="020B0502020202020204" pitchFamily="34" charset="0"/>
              </a:rPr>
              <a:t> is a method to extract copper metal from low-grade copper ore in soil, using </a:t>
            </a:r>
            <a:r>
              <a:rPr lang="en-GB" sz="2400" b="1" dirty="0">
                <a:latin typeface="Century Gothic" panose="020B0502020202020204" pitchFamily="34" charset="0"/>
              </a:rPr>
              <a:t>plants</a:t>
            </a:r>
          </a:p>
        </p:txBody>
      </p:sp>
      <p:sp>
        <p:nvSpPr>
          <p:cNvPr id="6" name="TextBox 5">
            <a:extLst>
              <a:ext uri="{FF2B5EF4-FFF2-40B4-BE49-F238E27FC236}">
                <a16:creationId xmlns:a16="http://schemas.microsoft.com/office/drawing/2014/main" id="{A7985A00-69D7-0C0E-7196-A0B8FC36A8BA}"/>
              </a:ext>
            </a:extLst>
          </p:cNvPr>
          <p:cNvSpPr txBox="1"/>
          <p:nvPr/>
        </p:nvSpPr>
        <p:spPr>
          <a:xfrm>
            <a:off x="359228" y="1926771"/>
            <a:ext cx="441146" cy="369332"/>
          </a:xfrm>
          <a:prstGeom prst="rect">
            <a:avLst/>
          </a:prstGeom>
          <a:noFill/>
        </p:spPr>
        <p:txBody>
          <a:bodyPr wrap="none" rtlCol="0">
            <a:spAutoFit/>
          </a:bodyPr>
          <a:lstStyle/>
          <a:p>
            <a:r>
              <a:rPr lang="en-GB" b="1" dirty="0">
                <a:latin typeface="Century Gothic" panose="020B0502020202020204" pitchFamily="34" charset="0"/>
              </a:rPr>
              <a:t>1. </a:t>
            </a:r>
          </a:p>
        </p:txBody>
      </p:sp>
      <p:sp>
        <p:nvSpPr>
          <p:cNvPr id="7" name="TextBox 6">
            <a:extLst>
              <a:ext uri="{FF2B5EF4-FFF2-40B4-BE49-F238E27FC236}">
                <a16:creationId xmlns:a16="http://schemas.microsoft.com/office/drawing/2014/main" id="{494BE539-6E4B-7D23-B626-58E2BD7448A2}"/>
              </a:ext>
            </a:extLst>
          </p:cNvPr>
          <p:cNvSpPr txBox="1"/>
          <p:nvPr/>
        </p:nvSpPr>
        <p:spPr>
          <a:xfrm>
            <a:off x="3779127" y="1969531"/>
            <a:ext cx="442750" cy="369332"/>
          </a:xfrm>
          <a:prstGeom prst="rect">
            <a:avLst/>
          </a:prstGeom>
          <a:noFill/>
        </p:spPr>
        <p:txBody>
          <a:bodyPr wrap="none" rtlCol="0">
            <a:spAutoFit/>
          </a:bodyPr>
          <a:lstStyle/>
          <a:p>
            <a:r>
              <a:rPr lang="en-GB" b="1" dirty="0">
                <a:latin typeface="Century Gothic" panose="020B0502020202020204" pitchFamily="34" charset="0"/>
              </a:rPr>
              <a:t>2. </a:t>
            </a:r>
          </a:p>
        </p:txBody>
      </p:sp>
      <p:sp>
        <p:nvSpPr>
          <p:cNvPr id="8" name="TextBox 7">
            <a:extLst>
              <a:ext uri="{FF2B5EF4-FFF2-40B4-BE49-F238E27FC236}">
                <a16:creationId xmlns:a16="http://schemas.microsoft.com/office/drawing/2014/main" id="{E33750D7-92D8-5A26-B198-EA066F25D4EF}"/>
              </a:ext>
            </a:extLst>
          </p:cNvPr>
          <p:cNvSpPr txBox="1"/>
          <p:nvPr/>
        </p:nvSpPr>
        <p:spPr>
          <a:xfrm>
            <a:off x="7200630" y="1969531"/>
            <a:ext cx="442750" cy="369332"/>
          </a:xfrm>
          <a:prstGeom prst="rect">
            <a:avLst/>
          </a:prstGeom>
          <a:noFill/>
        </p:spPr>
        <p:txBody>
          <a:bodyPr wrap="none" rtlCol="0">
            <a:spAutoFit/>
          </a:bodyPr>
          <a:lstStyle/>
          <a:p>
            <a:r>
              <a:rPr lang="en-GB" b="1" dirty="0">
                <a:latin typeface="Century Gothic" panose="020B0502020202020204" pitchFamily="34" charset="0"/>
              </a:rPr>
              <a:t>3. </a:t>
            </a:r>
          </a:p>
        </p:txBody>
      </p:sp>
      <p:sp>
        <p:nvSpPr>
          <p:cNvPr id="9" name="TextBox 8">
            <a:extLst>
              <a:ext uri="{FF2B5EF4-FFF2-40B4-BE49-F238E27FC236}">
                <a16:creationId xmlns:a16="http://schemas.microsoft.com/office/drawing/2014/main" id="{8B0894B6-4AB8-61DA-B8A1-F036FADBA3C7}"/>
              </a:ext>
            </a:extLst>
          </p:cNvPr>
          <p:cNvSpPr txBox="1"/>
          <p:nvPr/>
        </p:nvSpPr>
        <p:spPr>
          <a:xfrm>
            <a:off x="359228" y="4377232"/>
            <a:ext cx="442750" cy="369332"/>
          </a:xfrm>
          <a:prstGeom prst="rect">
            <a:avLst/>
          </a:prstGeom>
          <a:noFill/>
        </p:spPr>
        <p:txBody>
          <a:bodyPr wrap="none" rtlCol="0">
            <a:spAutoFit/>
          </a:bodyPr>
          <a:lstStyle/>
          <a:p>
            <a:r>
              <a:rPr lang="en-GB" b="1" dirty="0">
                <a:latin typeface="Century Gothic" panose="020B0502020202020204" pitchFamily="34" charset="0"/>
              </a:rPr>
              <a:t>4. </a:t>
            </a:r>
          </a:p>
        </p:txBody>
      </p:sp>
      <p:sp>
        <p:nvSpPr>
          <p:cNvPr id="10" name="TextBox 9">
            <a:extLst>
              <a:ext uri="{FF2B5EF4-FFF2-40B4-BE49-F238E27FC236}">
                <a16:creationId xmlns:a16="http://schemas.microsoft.com/office/drawing/2014/main" id="{6227E8C2-F696-CBEB-7196-90F36501E8A9}"/>
              </a:ext>
            </a:extLst>
          </p:cNvPr>
          <p:cNvSpPr txBox="1"/>
          <p:nvPr/>
        </p:nvSpPr>
        <p:spPr>
          <a:xfrm>
            <a:off x="3779127" y="4377232"/>
            <a:ext cx="442750" cy="369332"/>
          </a:xfrm>
          <a:prstGeom prst="rect">
            <a:avLst/>
          </a:prstGeom>
          <a:noFill/>
        </p:spPr>
        <p:txBody>
          <a:bodyPr wrap="none" rtlCol="0">
            <a:spAutoFit/>
          </a:bodyPr>
          <a:lstStyle/>
          <a:p>
            <a:r>
              <a:rPr lang="en-GB" b="1" dirty="0">
                <a:latin typeface="Century Gothic" panose="020B0502020202020204" pitchFamily="34" charset="0"/>
              </a:rPr>
              <a:t>5. </a:t>
            </a:r>
          </a:p>
        </p:txBody>
      </p:sp>
      <p:pic>
        <p:nvPicPr>
          <p:cNvPr id="12" name="Picture 11" descr="A picture containing plant, flower&#10;&#10;Description automatically generated">
            <a:extLst>
              <a:ext uri="{FF2B5EF4-FFF2-40B4-BE49-F238E27FC236}">
                <a16:creationId xmlns:a16="http://schemas.microsoft.com/office/drawing/2014/main" id="{A3163EB6-31BF-1FE3-586D-DD72CE5B32C7}"/>
              </a:ext>
            </a:extLst>
          </p:cNvPr>
          <p:cNvPicPr>
            <a:picLocks noChangeAspect="1"/>
          </p:cNvPicPr>
          <p:nvPr/>
        </p:nvPicPr>
        <p:blipFill>
          <a:blip r:embed="rId3"/>
          <a:stretch>
            <a:fillRect/>
          </a:stretch>
        </p:blipFill>
        <p:spPr>
          <a:xfrm>
            <a:off x="800374" y="1788114"/>
            <a:ext cx="2557193" cy="2557193"/>
          </a:xfrm>
          <a:prstGeom prst="rect">
            <a:avLst/>
          </a:prstGeom>
        </p:spPr>
      </p:pic>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959A50E8-B5D1-8991-4EA8-32E33214D592}"/>
                  </a:ext>
                </a:extLst>
              </p14:cNvPr>
              <p14:cNvContentPartPr/>
              <p14:nvPr/>
            </p14:nvContentPartPr>
            <p14:xfrm>
              <a:off x="1640340" y="4024234"/>
              <a:ext cx="360" cy="360"/>
            </p14:xfrm>
          </p:contentPart>
        </mc:Choice>
        <mc:Fallback xmlns="">
          <p:pic>
            <p:nvPicPr>
              <p:cNvPr id="13" name="Ink 12">
                <a:extLst>
                  <a:ext uri="{FF2B5EF4-FFF2-40B4-BE49-F238E27FC236}">
                    <a16:creationId xmlns:a16="http://schemas.microsoft.com/office/drawing/2014/main" id="{959A50E8-B5D1-8991-4EA8-32E33214D592}"/>
                  </a:ext>
                </a:extLst>
              </p:cNvPr>
              <p:cNvPicPr/>
              <p:nvPr/>
            </p:nvPicPr>
            <p:blipFill>
              <a:blip r:embed="rId5"/>
              <a:stretch>
                <a:fillRect/>
              </a:stretch>
            </p:blipFill>
            <p:spPr>
              <a:xfrm>
                <a:off x="1604340" y="39882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E4567A6B-D1AD-D986-7B40-6AF82132E796}"/>
                  </a:ext>
                </a:extLst>
              </p14:cNvPr>
              <p14:cNvContentPartPr/>
              <p14:nvPr/>
            </p14:nvContentPartPr>
            <p14:xfrm>
              <a:off x="1961460" y="3960874"/>
              <a:ext cx="360" cy="360"/>
            </p14:xfrm>
          </p:contentPart>
        </mc:Choice>
        <mc:Fallback xmlns="">
          <p:pic>
            <p:nvPicPr>
              <p:cNvPr id="14" name="Ink 13">
                <a:extLst>
                  <a:ext uri="{FF2B5EF4-FFF2-40B4-BE49-F238E27FC236}">
                    <a16:creationId xmlns:a16="http://schemas.microsoft.com/office/drawing/2014/main" id="{E4567A6B-D1AD-D986-7B40-6AF82132E796}"/>
                  </a:ext>
                </a:extLst>
              </p:cNvPr>
              <p:cNvPicPr/>
              <p:nvPr/>
            </p:nvPicPr>
            <p:blipFill>
              <a:blip r:embed="rId5"/>
              <a:stretch>
                <a:fillRect/>
              </a:stretch>
            </p:blipFill>
            <p:spPr>
              <a:xfrm>
                <a:off x="1925460" y="39248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A55A377E-E1F0-E709-52DD-2E358EAC908D}"/>
                  </a:ext>
                </a:extLst>
              </p14:cNvPr>
              <p14:cNvContentPartPr/>
              <p14:nvPr/>
            </p14:nvContentPartPr>
            <p14:xfrm>
              <a:off x="2194380" y="4076434"/>
              <a:ext cx="360" cy="360"/>
            </p14:xfrm>
          </p:contentPart>
        </mc:Choice>
        <mc:Fallback xmlns="">
          <p:pic>
            <p:nvPicPr>
              <p:cNvPr id="15" name="Ink 14">
                <a:extLst>
                  <a:ext uri="{FF2B5EF4-FFF2-40B4-BE49-F238E27FC236}">
                    <a16:creationId xmlns:a16="http://schemas.microsoft.com/office/drawing/2014/main" id="{A55A377E-E1F0-E709-52DD-2E358EAC908D}"/>
                  </a:ext>
                </a:extLst>
              </p:cNvPr>
              <p:cNvPicPr/>
              <p:nvPr/>
            </p:nvPicPr>
            <p:blipFill>
              <a:blip r:embed="rId5"/>
              <a:stretch>
                <a:fillRect/>
              </a:stretch>
            </p:blipFill>
            <p:spPr>
              <a:xfrm>
                <a:off x="2158380" y="40404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773BE133-0DB3-3F60-B22C-B80409281796}"/>
                  </a:ext>
                </a:extLst>
              </p14:cNvPr>
              <p14:cNvContentPartPr/>
              <p14:nvPr/>
            </p14:nvContentPartPr>
            <p14:xfrm>
              <a:off x="1907820" y="4018834"/>
              <a:ext cx="360" cy="360"/>
            </p14:xfrm>
          </p:contentPart>
        </mc:Choice>
        <mc:Fallback xmlns="">
          <p:pic>
            <p:nvPicPr>
              <p:cNvPr id="16" name="Ink 15">
                <a:extLst>
                  <a:ext uri="{FF2B5EF4-FFF2-40B4-BE49-F238E27FC236}">
                    <a16:creationId xmlns:a16="http://schemas.microsoft.com/office/drawing/2014/main" id="{773BE133-0DB3-3F60-B22C-B80409281796}"/>
                  </a:ext>
                </a:extLst>
              </p:cNvPr>
              <p:cNvPicPr/>
              <p:nvPr/>
            </p:nvPicPr>
            <p:blipFill>
              <a:blip r:embed="rId5"/>
              <a:stretch>
                <a:fillRect/>
              </a:stretch>
            </p:blipFill>
            <p:spPr>
              <a:xfrm>
                <a:off x="1871820" y="39828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E39CD967-EE23-452B-312B-1716271EAE20}"/>
                  </a:ext>
                </a:extLst>
              </p14:cNvPr>
              <p14:cNvContentPartPr/>
              <p14:nvPr/>
            </p14:nvContentPartPr>
            <p14:xfrm>
              <a:off x="1661580" y="4001554"/>
              <a:ext cx="360" cy="360"/>
            </p14:xfrm>
          </p:contentPart>
        </mc:Choice>
        <mc:Fallback xmlns="">
          <p:pic>
            <p:nvPicPr>
              <p:cNvPr id="17" name="Ink 16">
                <a:extLst>
                  <a:ext uri="{FF2B5EF4-FFF2-40B4-BE49-F238E27FC236}">
                    <a16:creationId xmlns:a16="http://schemas.microsoft.com/office/drawing/2014/main" id="{E39CD967-EE23-452B-312B-1716271EAE20}"/>
                  </a:ext>
                </a:extLst>
              </p:cNvPr>
              <p:cNvPicPr/>
              <p:nvPr/>
            </p:nvPicPr>
            <p:blipFill>
              <a:blip r:embed="rId5"/>
              <a:stretch>
                <a:fillRect/>
              </a:stretch>
            </p:blipFill>
            <p:spPr>
              <a:xfrm>
                <a:off x="1625580" y="396555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2F69AA58-FB89-E886-C066-248134B8E4E1}"/>
                  </a:ext>
                </a:extLst>
              </p14:cNvPr>
              <p14:cNvContentPartPr/>
              <p14:nvPr/>
            </p14:nvContentPartPr>
            <p14:xfrm>
              <a:off x="2310300" y="3996514"/>
              <a:ext cx="360" cy="360"/>
            </p14:xfrm>
          </p:contentPart>
        </mc:Choice>
        <mc:Fallback xmlns="">
          <p:pic>
            <p:nvPicPr>
              <p:cNvPr id="18" name="Ink 17">
                <a:extLst>
                  <a:ext uri="{FF2B5EF4-FFF2-40B4-BE49-F238E27FC236}">
                    <a16:creationId xmlns:a16="http://schemas.microsoft.com/office/drawing/2014/main" id="{2F69AA58-FB89-E886-C066-248134B8E4E1}"/>
                  </a:ext>
                </a:extLst>
              </p:cNvPr>
              <p:cNvPicPr/>
              <p:nvPr/>
            </p:nvPicPr>
            <p:blipFill>
              <a:blip r:embed="rId5"/>
              <a:stretch>
                <a:fillRect/>
              </a:stretch>
            </p:blipFill>
            <p:spPr>
              <a:xfrm>
                <a:off x="2274300" y="396051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E276BBB2-8533-1399-2154-7B944FF9A8CB}"/>
                  </a:ext>
                </a:extLst>
              </p14:cNvPr>
              <p14:cNvContentPartPr/>
              <p14:nvPr/>
            </p14:nvContentPartPr>
            <p14:xfrm>
              <a:off x="2740500" y="4080034"/>
              <a:ext cx="360" cy="360"/>
            </p14:xfrm>
          </p:contentPart>
        </mc:Choice>
        <mc:Fallback xmlns="">
          <p:pic>
            <p:nvPicPr>
              <p:cNvPr id="19" name="Ink 18">
                <a:extLst>
                  <a:ext uri="{FF2B5EF4-FFF2-40B4-BE49-F238E27FC236}">
                    <a16:creationId xmlns:a16="http://schemas.microsoft.com/office/drawing/2014/main" id="{E276BBB2-8533-1399-2154-7B944FF9A8CB}"/>
                  </a:ext>
                </a:extLst>
              </p:cNvPr>
              <p:cNvPicPr/>
              <p:nvPr/>
            </p:nvPicPr>
            <p:blipFill>
              <a:blip r:embed="rId5"/>
              <a:stretch>
                <a:fillRect/>
              </a:stretch>
            </p:blipFill>
            <p:spPr>
              <a:xfrm>
                <a:off x="2704500" y="40440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A080D17F-D4FC-A43B-39C4-A453F5EDF16E}"/>
                  </a:ext>
                </a:extLst>
              </p14:cNvPr>
              <p14:cNvContentPartPr/>
              <p14:nvPr/>
            </p14:nvContentPartPr>
            <p14:xfrm>
              <a:off x="2167380" y="3829114"/>
              <a:ext cx="360" cy="360"/>
            </p14:xfrm>
          </p:contentPart>
        </mc:Choice>
        <mc:Fallback xmlns="">
          <p:pic>
            <p:nvPicPr>
              <p:cNvPr id="20" name="Ink 19">
                <a:extLst>
                  <a:ext uri="{FF2B5EF4-FFF2-40B4-BE49-F238E27FC236}">
                    <a16:creationId xmlns:a16="http://schemas.microsoft.com/office/drawing/2014/main" id="{A080D17F-D4FC-A43B-39C4-A453F5EDF16E}"/>
                  </a:ext>
                </a:extLst>
              </p:cNvPr>
              <p:cNvPicPr/>
              <p:nvPr/>
            </p:nvPicPr>
            <p:blipFill>
              <a:blip r:embed="rId5"/>
              <a:stretch>
                <a:fillRect/>
              </a:stretch>
            </p:blipFill>
            <p:spPr>
              <a:xfrm>
                <a:off x="2131380" y="3793114"/>
                <a:ext cx="72000" cy="72000"/>
              </a:xfrm>
              <a:prstGeom prst="rect">
                <a:avLst/>
              </a:prstGeom>
            </p:spPr>
          </p:pic>
        </mc:Fallback>
      </mc:AlternateContent>
      <p:pic>
        <p:nvPicPr>
          <p:cNvPr id="21" name="Picture 20" descr="A picture containing plant, flower&#10;&#10;Description automatically generated">
            <a:extLst>
              <a:ext uri="{FF2B5EF4-FFF2-40B4-BE49-F238E27FC236}">
                <a16:creationId xmlns:a16="http://schemas.microsoft.com/office/drawing/2014/main" id="{D7E0B826-E0E7-ED59-460F-165F379FB00F}"/>
              </a:ext>
            </a:extLst>
          </p:cNvPr>
          <p:cNvPicPr>
            <a:picLocks noChangeAspect="1"/>
          </p:cNvPicPr>
          <p:nvPr/>
        </p:nvPicPr>
        <p:blipFill>
          <a:blip r:embed="rId3"/>
          <a:stretch>
            <a:fillRect/>
          </a:stretch>
        </p:blipFill>
        <p:spPr>
          <a:xfrm>
            <a:off x="4250786" y="1868133"/>
            <a:ext cx="2557193" cy="2557193"/>
          </a:xfrm>
          <a:prstGeom prst="rect">
            <a:avLst/>
          </a:prstGeom>
        </p:spPr>
      </p:pic>
      <p:pic>
        <p:nvPicPr>
          <p:cNvPr id="25" name="Picture 24" descr="A close-up of a fire&#10;&#10;Description automatically generated with medium confidence">
            <a:extLst>
              <a:ext uri="{FF2B5EF4-FFF2-40B4-BE49-F238E27FC236}">
                <a16:creationId xmlns:a16="http://schemas.microsoft.com/office/drawing/2014/main" id="{C5965EDD-6CA1-6C89-1595-04B5BFA11218}"/>
              </a:ext>
            </a:extLst>
          </p:cNvPr>
          <p:cNvPicPr>
            <a:picLocks noChangeAspect="1"/>
          </p:cNvPicPr>
          <p:nvPr/>
        </p:nvPicPr>
        <p:blipFill rotWithShape="1">
          <a:blip r:embed="rId13"/>
          <a:srcRect l="28317" t="4821" r="26197" b="10932"/>
          <a:stretch/>
        </p:blipFill>
        <p:spPr>
          <a:xfrm>
            <a:off x="4820781" y="1221215"/>
            <a:ext cx="1295801" cy="2400069"/>
          </a:xfrm>
          <a:prstGeom prst="rect">
            <a:avLst/>
          </a:prstGeom>
        </p:spPr>
      </p:pic>
      <p:grpSp>
        <p:nvGrpSpPr>
          <p:cNvPr id="28" name="Group 27">
            <a:extLst>
              <a:ext uri="{FF2B5EF4-FFF2-40B4-BE49-F238E27FC236}">
                <a16:creationId xmlns:a16="http://schemas.microsoft.com/office/drawing/2014/main" id="{EFAB5C57-9C36-A2C2-2D72-365B6BB0DFB7}"/>
              </a:ext>
            </a:extLst>
          </p:cNvPr>
          <p:cNvGrpSpPr/>
          <p:nvPr/>
        </p:nvGrpSpPr>
        <p:grpSpPr>
          <a:xfrm>
            <a:off x="4453380" y="2298394"/>
            <a:ext cx="34560" cy="54360"/>
            <a:chOff x="4453380" y="2298394"/>
            <a:chExt cx="34560" cy="54360"/>
          </a:xfrm>
        </p:grpSpPr>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3F0B5797-BDEE-4993-DE31-C80BA9093303}"/>
                    </a:ext>
                  </a:extLst>
                </p14:cNvPr>
                <p14:cNvContentPartPr/>
                <p14:nvPr/>
              </p14:nvContentPartPr>
              <p14:xfrm>
                <a:off x="4453380" y="2352394"/>
                <a:ext cx="360" cy="360"/>
              </p14:xfrm>
            </p:contentPart>
          </mc:Choice>
          <mc:Fallback xmlns="">
            <p:pic>
              <p:nvPicPr>
                <p:cNvPr id="26" name="Ink 25">
                  <a:extLst>
                    <a:ext uri="{FF2B5EF4-FFF2-40B4-BE49-F238E27FC236}">
                      <a16:creationId xmlns:a16="http://schemas.microsoft.com/office/drawing/2014/main" id="{3F0B5797-BDEE-4993-DE31-C80BA9093303}"/>
                    </a:ext>
                  </a:extLst>
                </p:cNvPr>
                <p:cNvPicPr/>
                <p:nvPr/>
              </p:nvPicPr>
              <p:blipFill>
                <a:blip r:embed="rId15"/>
                <a:stretch>
                  <a:fillRect/>
                </a:stretch>
              </p:blipFill>
              <p:spPr>
                <a:xfrm>
                  <a:off x="4417380" y="231639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Ink 26">
                  <a:extLst>
                    <a:ext uri="{FF2B5EF4-FFF2-40B4-BE49-F238E27FC236}">
                      <a16:creationId xmlns:a16="http://schemas.microsoft.com/office/drawing/2014/main" id="{43F19475-951D-C16F-E9D6-328B846EFFCD}"/>
                    </a:ext>
                  </a:extLst>
                </p14:cNvPr>
                <p14:cNvContentPartPr/>
                <p14:nvPr/>
              </p14:nvContentPartPr>
              <p14:xfrm>
                <a:off x="4487580" y="2298394"/>
                <a:ext cx="360" cy="360"/>
              </p14:xfrm>
            </p:contentPart>
          </mc:Choice>
          <mc:Fallback xmlns="">
            <p:pic>
              <p:nvPicPr>
                <p:cNvPr id="27" name="Ink 26">
                  <a:extLst>
                    <a:ext uri="{FF2B5EF4-FFF2-40B4-BE49-F238E27FC236}">
                      <a16:creationId xmlns:a16="http://schemas.microsoft.com/office/drawing/2014/main" id="{43F19475-951D-C16F-E9D6-328B846EFFCD}"/>
                    </a:ext>
                  </a:extLst>
                </p:cNvPr>
                <p:cNvPicPr/>
                <p:nvPr/>
              </p:nvPicPr>
              <p:blipFill>
                <a:blip r:embed="rId15"/>
                <a:stretch>
                  <a:fillRect/>
                </a:stretch>
              </p:blipFill>
              <p:spPr>
                <a:xfrm>
                  <a:off x="4451580" y="2262394"/>
                  <a:ext cx="72000" cy="72000"/>
                </a:xfrm>
                <a:prstGeom prst="rect">
                  <a:avLst/>
                </a:prstGeom>
              </p:spPr>
            </p:pic>
          </mc:Fallback>
        </mc:AlternateContent>
      </p:grpSp>
      <p:grpSp>
        <p:nvGrpSpPr>
          <p:cNvPr id="31" name="Group 30">
            <a:extLst>
              <a:ext uri="{FF2B5EF4-FFF2-40B4-BE49-F238E27FC236}">
                <a16:creationId xmlns:a16="http://schemas.microsoft.com/office/drawing/2014/main" id="{BAC8E90E-5963-13C4-C49B-1FA07E8CA3DB}"/>
              </a:ext>
            </a:extLst>
          </p:cNvPr>
          <p:cNvGrpSpPr/>
          <p:nvPr/>
        </p:nvGrpSpPr>
        <p:grpSpPr>
          <a:xfrm>
            <a:off x="4555980" y="2901394"/>
            <a:ext cx="34920" cy="68040"/>
            <a:chOff x="4555980" y="2901394"/>
            <a:chExt cx="34920" cy="68040"/>
          </a:xfrm>
        </p:grpSpPr>
        <mc:AlternateContent xmlns:mc="http://schemas.openxmlformats.org/markup-compatibility/2006" xmlns:p14="http://schemas.microsoft.com/office/powerpoint/2010/main">
          <mc:Choice Requires="p14">
            <p:contentPart p14:bwMode="auto" r:id="rId17">
              <p14:nvContentPartPr>
                <p14:cNvPr id="29" name="Ink 28">
                  <a:extLst>
                    <a:ext uri="{FF2B5EF4-FFF2-40B4-BE49-F238E27FC236}">
                      <a16:creationId xmlns:a16="http://schemas.microsoft.com/office/drawing/2014/main" id="{764C5461-C8D6-32C0-037A-386D780E807C}"/>
                    </a:ext>
                  </a:extLst>
                </p14:cNvPr>
                <p14:cNvContentPartPr/>
                <p14:nvPr/>
              </p14:nvContentPartPr>
              <p14:xfrm>
                <a:off x="4590540" y="2901394"/>
                <a:ext cx="360" cy="360"/>
              </p14:xfrm>
            </p:contentPart>
          </mc:Choice>
          <mc:Fallback xmlns="">
            <p:pic>
              <p:nvPicPr>
                <p:cNvPr id="29" name="Ink 28">
                  <a:extLst>
                    <a:ext uri="{FF2B5EF4-FFF2-40B4-BE49-F238E27FC236}">
                      <a16:creationId xmlns:a16="http://schemas.microsoft.com/office/drawing/2014/main" id="{764C5461-C8D6-32C0-037A-386D780E807C}"/>
                    </a:ext>
                  </a:extLst>
                </p:cNvPr>
                <p:cNvPicPr/>
                <p:nvPr/>
              </p:nvPicPr>
              <p:blipFill>
                <a:blip r:embed="rId15"/>
                <a:stretch>
                  <a:fillRect/>
                </a:stretch>
              </p:blipFill>
              <p:spPr>
                <a:xfrm>
                  <a:off x="4554540" y="286539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F84ABBB5-6288-C828-7A4B-89BD8A65EF23}"/>
                    </a:ext>
                  </a:extLst>
                </p14:cNvPr>
                <p14:cNvContentPartPr/>
                <p14:nvPr/>
              </p14:nvContentPartPr>
              <p14:xfrm>
                <a:off x="4555980" y="2969074"/>
                <a:ext cx="360" cy="360"/>
              </p14:xfrm>
            </p:contentPart>
          </mc:Choice>
          <mc:Fallback xmlns="">
            <p:pic>
              <p:nvPicPr>
                <p:cNvPr id="30" name="Ink 29">
                  <a:extLst>
                    <a:ext uri="{FF2B5EF4-FFF2-40B4-BE49-F238E27FC236}">
                      <a16:creationId xmlns:a16="http://schemas.microsoft.com/office/drawing/2014/main" id="{F84ABBB5-6288-C828-7A4B-89BD8A65EF23}"/>
                    </a:ext>
                  </a:extLst>
                </p:cNvPr>
                <p:cNvPicPr/>
                <p:nvPr/>
              </p:nvPicPr>
              <p:blipFill>
                <a:blip r:embed="rId15"/>
                <a:stretch>
                  <a:fillRect/>
                </a:stretch>
              </p:blipFill>
              <p:spPr>
                <a:xfrm>
                  <a:off x="4519980" y="2933074"/>
                  <a:ext cx="72000" cy="72000"/>
                </a:xfrm>
                <a:prstGeom prst="rect">
                  <a:avLst/>
                </a:prstGeom>
              </p:spPr>
            </p:pic>
          </mc:Fallback>
        </mc:AlternateContent>
      </p:grpSp>
      <p:grpSp>
        <p:nvGrpSpPr>
          <p:cNvPr id="34" name="Group 33">
            <a:extLst>
              <a:ext uri="{FF2B5EF4-FFF2-40B4-BE49-F238E27FC236}">
                <a16:creationId xmlns:a16="http://schemas.microsoft.com/office/drawing/2014/main" id="{1D68518D-4052-10E2-5CB4-83AAFED5548B}"/>
              </a:ext>
            </a:extLst>
          </p:cNvPr>
          <p:cNvGrpSpPr/>
          <p:nvPr/>
        </p:nvGrpSpPr>
        <p:grpSpPr>
          <a:xfrm>
            <a:off x="6114420" y="2029474"/>
            <a:ext cx="67680" cy="46800"/>
            <a:chOff x="6114420" y="2029474"/>
            <a:chExt cx="67680" cy="46800"/>
          </a:xfrm>
        </p:grpSpPr>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3E27CDE5-9033-5E58-30AD-4316E8F7DA88}"/>
                    </a:ext>
                  </a:extLst>
                </p14:cNvPr>
                <p14:cNvContentPartPr/>
                <p14:nvPr/>
              </p14:nvContentPartPr>
              <p14:xfrm>
                <a:off x="6114420" y="2029474"/>
                <a:ext cx="360" cy="360"/>
              </p14:xfrm>
            </p:contentPart>
          </mc:Choice>
          <mc:Fallback xmlns="">
            <p:pic>
              <p:nvPicPr>
                <p:cNvPr id="32" name="Ink 31">
                  <a:extLst>
                    <a:ext uri="{FF2B5EF4-FFF2-40B4-BE49-F238E27FC236}">
                      <a16:creationId xmlns:a16="http://schemas.microsoft.com/office/drawing/2014/main" id="{3E27CDE5-9033-5E58-30AD-4316E8F7DA88}"/>
                    </a:ext>
                  </a:extLst>
                </p:cNvPr>
                <p:cNvPicPr/>
                <p:nvPr/>
              </p:nvPicPr>
              <p:blipFill>
                <a:blip r:embed="rId15"/>
                <a:stretch>
                  <a:fillRect/>
                </a:stretch>
              </p:blipFill>
              <p:spPr>
                <a:xfrm>
                  <a:off x="6078420" y="19934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84E0B234-98AB-1945-AE0C-E6874FEA87D9}"/>
                    </a:ext>
                  </a:extLst>
                </p14:cNvPr>
                <p14:cNvContentPartPr/>
                <p14:nvPr/>
              </p14:nvContentPartPr>
              <p14:xfrm>
                <a:off x="6181740" y="2075914"/>
                <a:ext cx="360" cy="360"/>
              </p14:xfrm>
            </p:contentPart>
          </mc:Choice>
          <mc:Fallback xmlns="">
            <p:pic>
              <p:nvPicPr>
                <p:cNvPr id="33" name="Ink 32">
                  <a:extLst>
                    <a:ext uri="{FF2B5EF4-FFF2-40B4-BE49-F238E27FC236}">
                      <a16:creationId xmlns:a16="http://schemas.microsoft.com/office/drawing/2014/main" id="{84E0B234-98AB-1945-AE0C-E6874FEA87D9}"/>
                    </a:ext>
                  </a:extLst>
                </p:cNvPr>
                <p:cNvPicPr/>
                <p:nvPr/>
              </p:nvPicPr>
              <p:blipFill>
                <a:blip r:embed="rId15"/>
                <a:stretch>
                  <a:fillRect/>
                </a:stretch>
              </p:blipFill>
              <p:spPr>
                <a:xfrm>
                  <a:off x="6145740" y="2039914"/>
                  <a:ext cx="72000" cy="72000"/>
                </a:xfrm>
                <a:prstGeom prst="rect">
                  <a:avLst/>
                </a:prstGeom>
              </p:spPr>
            </p:pic>
          </mc:Fallback>
        </mc:AlternateContent>
      </p:grpSp>
      <p:grpSp>
        <p:nvGrpSpPr>
          <p:cNvPr id="37" name="Group 36">
            <a:extLst>
              <a:ext uri="{FF2B5EF4-FFF2-40B4-BE49-F238E27FC236}">
                <a16:creationId xmlns:a16="http://schemas.microsoft.com/office/drawing/2014/main" id="{FC2B435A-E535-3EF5-2539-B825D01D162C}"/>
              </a:ext>
            </a:extLst>
          </p:cNvPr>
          <p:cNvGrpSpPr/>
          <p:nvPr/>
        </p:nvGrpSpPr>
        <p:grpSpPr>
          <a:xfrm>
            <a:off x="5997420" y="2728954"/>
            <a:ext cx="50760" cy="33840"/>
            <a:chOff x="5997420" y="2728954"/>
            <a:chExt cx="50760" cy="33840"/>
          </a:xfrm>
        </p:grpSpPr>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4695B0D2-4712-1C94-D031-035064C23EC8}"/>
                    </a:ext>
                  </a:extLst>
                </p14:cNvPr>
                <p14:cNvContentPartPr/>
                <p14:nvPr/>
              </p14:nvContentPartPr>
              <p14:xfrm>
                <a:off x="5997420" y="2728954"/>
                <a:ext cx="360" cy="360"/>
              </p14:xfrm>
            </p:contentPart>
          </mc:Choice>
          <mc:Fallback xmlns="">
            <p:pic>
              <p:nvPicPr>
                <p:cNvPr id="35" name="Ink 34">
                  <a:extLst>
                    <a:ext uri="{FF2B5EF4-FFF2-40B4-BE49-F238E27FC236}">
                      <a16:creationId xmlns:a16="http://schemas.microsoft.com/office/drawing/2014/main" id="{4695B0D2-4712-1C94-D031-035064C23EC8}"/>
                    </a:ext>
                  </a:extLst>
                </p:cNvPr>
                <p:cNvPicPr/>
                <p:nvPr/>
              </p:nvPicPr>
              <p:blipFill>
                <a:blip r:embed="rId15"/>
                <a:stretch>
                  <a:fillRect/>
                </a:stretch>
              </p:blipFill>
              <p:spPr>
                <a:xfrm>
                  <a:off x="5961420" y="269295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B668C39D-8DA2-52C9-0517-F35A226D2BEF}"/>
                    </a:ext>
                  </a:extLst>
                </p14:cNvPr>
                <p14:cNvContentPartPr/>
                <p14:nvPr/>
              </p14:nvContentPartPr>
              <p14:xfrm>
                <a:off x="6047820" y="2762434"/>
                <a:ext cx="360" cy="360"/>
              </p14:xfrm>
            </p:contentPart>
          </mc:Choice>
          <mc:Fallback xmlns="">
            <p:pic>
              <p:nvPicPr>
                <p:cNvPr id="36" name="Ink 35">
                  <a:extLst>
                    <a:ext uri="{FF2B5EF4-FFF2-40B4-BE49-F238E27FC236}">
                      <a16:creationId xmlns:a16="http://schemas.microsoft.com/office/drawing/2014/main" id="{B668C39D-8DA2-52C9-0517-F35A226D2BEF}"/>
                    </a:ext>
                  </a:extLst>
                </p:cNvPr>
                <p:cNvPicPr/>
                <p:nvPr/>
              </p:nvPicPr>
              <p:blipFill>
                <a:blip r:embed="rId15"/>
                <a:stretch>
                  <a:fillRect/>
                </a:stretch>
              </p:blipFill>
              <p:spPr>
                <a:xfrm>
                  <a:off x="6011820" y="2726434"/>
                  <a:ext cx="72000" cy="72000"/>
                </a:xfrm>
                <a:prstGeom prst="rect">
                  <a:avLst/>
                </a:prstGeom>
              </p:spPr>
            </p:pic>
          </mc:Fallback>
        </mc:AlternateContent>
      </p:grpSp>
      <p:grpSp>
        <p:nvGrpSpPr>
          <p:cNvPr id="40" name="Group 39">
            <a:extLst>
              <a:ext uri="{FF2B5EF4-FFF2-40B4-BE49-F238E27FC236}">
                <a16:creationId xmlns:a16="http://schemas.microsoft.com/office/drawing/2014/main" id="{83F26F0F-37D5-E06F-B2E0-CFE103E8B0D6}"/>
              </a:ext>
            </a:extLst>
          </p:cNvPr>
          <p:cNvGrpSpPr/>
          <p:nvPr/>
        </p:nvGrpSpPr>
        <p:grpSpPr>
          <a:xfrm>
            <a:off x="6225660" y="3196234"/>
            <a:ext cx="33840" cy="72000"/>
            <a:chOff x="6225660" y="3196234"/>
            <a:chExt cx="33840" cy="72000"/>
          </a:xfrm>
        </p:grpSpPr>
        <mc:AlternateContent xmlns:mc="http://schemas.openxmlformats.org/markup-compatibility/2006" xmlns:p14="http://schemas.microsoft.com/office/powerpoint/2010/main">
          <mc:Choice Requires="p14">
            <p:contentPart p14:bwMode="auto" r:id="rId23">
              <p14:nvContentPartPr>
                <p14:cNvPr id="38" name="Ink 37">
                  <a:extLst>
                    <a:ext uri="{FF2B5EF4-FFF2-40B4-BE49-F238E27FC236}">
                      <a16:creationId xmlns:a16="http://schemas.microsoft.com/office/drawing/2014/main" id="{CCE92ADE-5F97-9C38-643C-138B02E03DB5}"/>
                    </a:ext>
                  </a:extLst>
                </p14:cNvPr>
                <p14:cNvContentPartPr/>
                <p14:nvPr/>
              </p14:nvContentPartPr>
              <p14:xfrm>
                <a:off x="6225660" y="3267874"/>
                <a:ext cx="360" cy="360"/>
              </p14:xfrm>
            </p:contentPart>
          </mc:Choice>
          <mc:Fallback xmlns="">
            <p:pic>
              <p:nvPicPr>
                <p:cNvPr id="38" name="Ink 37">
                  <a:extLst>
                    <a:ext uri="{FF2B5EF4-FFF2-40B4-BE49-F238E27FC236}">
                      <a16:creationId xmlns:a16="http://schemas.microsoft.com/office/drawing/2014/main" id="{CCE92ADE-5F97-9C38-643C-138B02E03DB5}"/>
                    </a:ext>
                  </a:extLst>
                </p:cNvPr>
                <p:cNvPicPr/>
                <p:nvPr/>
              </p:nvPicPr>
              <p:blipFill>
                <a:blip r:embed="rId15"/>
                <a:stretch>
                  <a:fillRect/>
                </a:stretch>
              </p:blipFill>
              <p:spPr>
                <a:xfrm>
                  <a:off x="6189660" y="32318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9" name="Ink 38">
                  <a:extLst>
                    <a:ext uri="{FF2B5EF4-FFF2-40B4-BE49-F238E27FC236}">
                      <a16:creationId xmlns:a16="http://schemas.microsoft.com/office/drawing/2014/main" id="{E257914B-EE06-B453-7F61-0C0885719FD8}"/>
                    </a:ext>
                  </a:extLst>
                </p14:cNvPr>
                <p14:cNvContentPartPr/>
                <p14:nvPr/>
              </p14:nvContentPartPr>
              <p14:xfrm>
                <a:off x="6259140" y="3196234"/>
                <a:ext cx="360" cy="360"/>
              </p14:xfrm>
            </p:contentPart>
          </mc:Choice>
          <mc:Fallback xmlns="">
            <p:pic>
              <p:nvPicPr>
                <p:cNvPr id="39" name="Ink 38">
                  <a:extLst>
                    <a:ext uri="{FF2B5EF4-FFF2-40B4-BE49-F238E27FC236}">
                      <a16:creationId xmlns:a16="http://schemas.microsoft.com/office/drawing/2014/main" id="{E257914B-EE06-B453-7F61-0C0885719FD8}"/>
                    </a:ext>
                  </a:extLst>
                </p:cNvPr>
                <p:cNvPicPr/>
                <p:nvPr/>
              </p:nvPicPr>
              <p:blipFill>
                <a:blip r:embed="rId15"/>
                <a:stretch>
                  <a:fillRect/>
                </a:stretch>
              </p:blipFill>
              <p:spPr>
                <a:xfrm>
                  <a:off x="6223140" y="3160234"/>
                  <a:ext cx="720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41" name="Ink 40">
                <a:extLst>
                  <a:ext uri="{FF2B5EF4-FFF2-40B4-BE49-F238E27FC236}">
                    <a16:creationId xmlns:a16="http://schemas.microsoft.com/office/drawing/2014/main" id="{CB5485A6-6CF8-3969-5CD4-1EBF088B3E12}"/>
                  </a:ext>
                </a:extLst>
              </p14:cNvPr>
              <p14:cNvContentPartPr/>
              <p14:nvPr/>
            </p14:nvContentPartPr>
            <p14:xfrm>
              <a:off x="6416100" y="2454274"/>
              <a:ext cx="360" cy="360"/>
            </p14:xfrm>
          </p:contentPart>
        </mc:Choice>
        <mc:Fallback xmlns="">
          <p:pic>
            <p:nvPicPr>
              <p:cNvPr id="41" name="Ink 40">
                <a:extLst>
                  <a:ext uri="{FF2B5EF4-FFF2-40B4-BE49-F238E27FC236}">
                    <a16:creationId xmlns:a16="http://schemas.microsoft.com/office/drawing/2014/main" id="{CB5485A6-6CF8-3969-5CD4-1EBF088B3E12}"/>
                  </a:ext>
                </a:extLst>
              </p:cNvPr>
              <p:cNvPicPr/>
              <p:nvPr/>
            </p:nvPicPr>
            <p:blipFill>
              <a:blip r:embed="rId15"/>
              <a:stretch>
                <a:fillRect/>
              </a:stretch>
            </p:blipFill>
            <p:spPr>
              <a:xfrm>
                <a:off x="6380100" y="24182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2" name="Ink 41">
                <a:extLst>
                  <a:ext uri="{FF2B5EF4-FFF2-40B4-BE49-F238E27FC236}">
                    <a16:creationId xmlns:a16="http://schemas.microsoft.com/office/drawing/2014/main" id="{9AEF60B8-6853-F176-82D1-56D00A2E48F8}"/>
                  </a:ext>
                </a:extLst>
              </p14:cNvPr>
              <p14:cNvContentPartPr/>
              <p14:nvPr/>
            </p14:nvContentPartPr>
            <p14:xfrm>
              <a:off x="6466860" y="2526994"/>
              <a:ext cx="360" cy="360"/>
            </p14:xfrm>
          </p:contentPart>
        </mc:Choice>
        <mc:Fallback xmlns="">
          <p:pic>
            <p:nvPicPr>
              <p:cNvPr id="42" name="Ink 41">
                <a:extLst>
                  <a:ext uri="{FF2B5EF4-FFF2-40B4-BE49-F238E27FC236}">
                    <a16:creationId xmlns:a16="http://schemas.microsoft.com/office/drawing/2014/main" id="{9AEF60B8-6853-F176-82D1-56D00A2E48F8}"/>
                  </a:ext>
                </a:extLst>
              </p:cNvPr>
              <p:cNvPicPr/>
              <p:nvPr/>
            </p:nvPicPr>
            <p:blipFill>
              <a:blip r:embed="rId15"/>
              <a:stretch>
                <a:fillRect/>
              </a:stretch>
            </p:blipFill>
            <p:spPr>
              <a:xfrm>
                <a:off x="6430860" y="2490994"/>
                <a:ext cx="72000" cy="72000"/>
              </a:xfrm>
              <a:prstGeom prst="rect">
                <a:avLst/>
              </a:prstGeom>
            </p:spPr>
          </p:pic>
        </mc:Fallback>
      </mc:AlternateContent>
      <p:grpSp>
        <p:nvGrpSpPr>
          <p:cNvPr id="45" name="Group 44">
            <a:extLst>
              <a:ext uri="{FF2B5EF4-FFF2-40B4-BE49-F238E27FC236}">
                <a16:creationId xmlns:a16="http://schemas.microsoft.com/office/drawing/2014/main" id="{16CF7196-0F55-9138-7EB7-25C25DD00D06}"/>
              </a:ext>
            </a:extLst>
          </p:cNvPr>
          <p:cNvGrpSpPr/>
          <p:nvPr/>
        </p:nvGrpSpPr>
        <p:grpSpPr>
          <a:xfrm>
            <a:off x="4706460" y="3483874"/>
            <a:ext cx="42480" cy="46440"/>
            <a:chOff x="4706460" y="3483874"/>
            <a:chExt cx="42480" cy="46440"/>
          </a:xfrm>
        </p:grpSpPr>
        <mc:AlternateContent xmlns:mc="http://schemas.openxmlformats.org/markup-compatibility/2006" xmlns:p14="http://schemas.microsoft.com/office/powerpoint/2010/main">
          <mc:Choice Requires="p14">
            <p:contentPart p14:bwMode="auto" r:id="rId27">
              <p14:nvContentPartPr>
                <p14:cNvPr id="43" name="Ink 42">
                  <a:extLst>
                    <a:ext uri="{FF2B5EF4-FFF2-40B4-BE49-F238E27FC236}">
                      <a16:creationId xmlns:a16="http://schemas.microsoft.com/office/drawing/2014/main" id="{8A7FC03C-C815-A409-EE27-CCCF22386EC0}"/>
                    </a:ext>
                  </a:extLst>
                </p14:cNvPr>
                <p14:cNvContentPartPr/>
                <p14:nvPr/>
              </p14:nvContentPartPr>
              <p14:xfrm>
                <a:off x="4748580" y="3483874"/>
                <a:ext cx="360" cy="360"/>
              </p14:xfrm>
            </p:contentPart>
          </mc:Choice>
          <mc:Fallback xmlns="">
            <p:pic>
              <p:nvPicPr>
                <p:cNvPr id="43" name="Ink 42">
                  <a:extLst>
                    <a:ext uri="{FF2B5EF4-FFF2-40B4-BE49-F238E27FC236}">
                      <a16:creationId xmlns:a16="http://schemas.microsoft.com/office/drawing/2014/main" id="{8A7FC03C-C815-A409-EE27-CCCF22386EC0}"/>
                    </a:ext>
                  </a:extLst>
                </p:cNvPr>
                <p:cNvPicPr/>
                <p:nvPr/>
              </p:nvPicPr>
              <p:blipFill>
                <a:blip r:embed="rId15"/>
                <a:stretch>
                  <a:fillRect/>
                </a:stretch>
              </p:blipFill>
              <p:spPr>
                <a:xfrm>
                  <a:off x="4712580" y="34478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4" name="Ink 43">
                  <a:extLst>
                    <a:ext uri="{FF2B5EF4-FFF2-40B4-BE49-F238E27FC236}">
                      <a16:creationId xmlns:a16="http://schemas.microsoft.com/office/drawing/2014/main" id="{3A67F9A8-F643-16D9-9F0B-4E9D173C920F}"/>
                    </a:ext>
                  </a:extLst>
                </p14:cNvPr>
                <p14:cNvContentPartPr/>
                <p14:nvPr/>
              </p14:nvContentPartPr>
              <p14:xfrm>
                <a:off x="4706460" y="3529954"/>
                <a:ext cx="360" cy="360"/>
              </p14:xfrm>
            </p:contentPart>
          </mc:Choice>
          <mc:Fallback xmlns="">
            <p:pic>
              <p:nvPicPr>
                <p:cNvPr id="44" name="Ink 43">
                  <a:extLst>
                    <a:ext uri="{FF2B5EF4-FFF2-40B4-BE49-F238E27FC236}">
                      <a16:creationId xmlns:a16="http://schemas.microsoft.com/office/drawing/2014/main" id="{3A67F9A8-F643-16D9-9F0B-4E9D173C920F}"/>
                    </a:ext>
                  </a:extLst>
                </p:cNvPr>
                <p:cNvPicPr/>
                <p:nvPr/>
              </p:nvPicPr>
              <p:blipFill>
                <a:blip r:embed="rId15"/>
                <a:stretch>
                  <a:fillRect/>
                </a:stretch>
              </p:blipFill>
              <p:spPr>
                <a:xfrm>
                  <a:off x="4670460" y="3493954"/>
                  <a:ext cx="720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57" name="Ink 56">
                <a:extLst>
                  <a:ext uri="{FF2B5EF4-FFF2-40B4-BE49-F238E27FC236}">
                    <a16:creationId xmlns:a16="http://schemas.microsoft.com/office/drawing/2014/main" id="{DF3E28F5-1F37-6C61-0647-367F290E72A9}"/>
                  </a:ext>
                </a:extLst>
              </p14:cNvPr>
              <p14:cNvContentPartPr/>
              <p14:nvPr/>
            </p14:nvContentPartPr>
            <p14:xfrm>
              <a:off x="9140580" y="3957994"/>
              <a:ext cx="360" cy="360"/>
            </p14:xfrm>
          </p:contentPart>
        </mc:Choice>
        <mc:Fallback xmlns="">
          <p:pic>
            <p:nvPicPr>
              <p:cNvPr id="57" name="Ink 56">
                <a:extLst>
                  <a:ext uri="{FF2B5EF4-FFF2-40B4-BE49-F238E27FC236}">
                    <a16:creationId xmlns:a16="http://schemas.microsoft.com/office/drawing/2014/main" id="{DF3E28F5-1F37-6C61-0647-367F290E72A9}"/>
                  </a:ext>
                </a:extLst>
              </p:cNvPr>
              <p:cNvPicPr/>
              <p:nvPr/>
            </p:nvPicPr>
            <p:blipFill>
              <a:blip r:embed="rId30"/>
              <a:stretch>
                <a:fillRect/>
              </a:stretch>
            </p:blipFill>
            <p:spPr>
              <a:xfrm>
                <a:off x="9077580" y="389499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42C40974-B543-976E-B71E-CC374D3FE96A}"/>
                  </a:ext>
                </a:extLst>
              </p14:cNvPr>
              <p14:cNvContentPartPr/>
              <p14:nvPr/>
            </p14:nvContentPartPr>
            <p14:xfrm>
              <a:off x="9437940" y="3937114"/>
              <a:ext cx="360" cy="360"/>
            </p14:xfrm>
          </p:contentPart>
        </mc:Choice>
        <mc:Fallback xmlns="">
          <p:pic>
            <p:nvPicPr>
              <p:cNvPr id="58" name="Ink 57">
                <a:extLst>
                  <a:ext uri="{FF2B5EF4-FFF2-40B4-BE49-F238E27FC236}">
                    <a16:creationId xmlns:a16="http://schemas.microsoft.com/office/drawing/2014/main" id="{42C40974-B543-976E-B71E-CC374D3FE96A}"/>
                  </a:ext>
                </a:extLst>
              </p:cNvPr>
              <p:cNvPicPr/>
              <p:nvPr/>
            </p:nvPicPr>
            <p:blipFill>
              <a:blip r:embed="rId30"/>
              <a:stretch>
                <a:fillRect/>
              </a:stretch>
            </p:blipFill>
            <p:spPr>
              <a:xfrm>
                <a:off x="9374940" y="387411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BD1D1104-E75B-2851-C4B6-D88AC933B3F9}"/>
                  </a:ext>
                </a:extLst>
              </p14:cNvPr>
              <p14:cNvContentPartPr/>
              <p14:nvPr/>
            </p14:nvContentPartPr>
            <p14:xfrm>
              <a:off x="9388620" y="4241314"/>
              <a:ext cx="360" cy="360"/>
            </p14:xfrm>
          </p:contentPart>
        </mc:Choice>
        <mc:Fallback xmlns="">
          <p:pic>
            <p:nvPicPr>
              <p:cNvPr id="59" name="Ink 58">
                <a:extLst>
                  <a:ext uri="{FF2B5EF4-FFF2-40B4-BE49-F238E27FC236}">
                    <a16:creationId xmlns:a16="http://schemas.microsoft.com/office/drawing/2014/main" id="{BD1D1104-E75B-2851-C4B6-D88AC933B3F9}"/>
                  </a:ext>
                </a:extLst>
              </p:cNvPr>
              <p:cNvPicPr/>
              <p:nvPr/>
            </p:nvPicPr>
            <p:blipFill>
              <a:blip r:embed="rId30"/>
              <a:stretch>
                <a:fillRect/>
              </a:stretch>
            </p:blipFill>
            <p:spPr>
              <a:xfrm>
                <a:off x="9325620" y="417831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0" name="Ink 59">
                <a:extLst>
                  <a:ext uri="{FF2B5EF4-FFF2-40B4-BE49-F238E27FC236}">
                    <a16:creationId xmlns:a16="http://schemas.microsoft.com/office/drawing/2014/main" id="{D33EABDB-CBF5-491A-72D8-BBCDDF6849DE}"/>
                  </a:ext>
                </a:extLst>
              </p14:cNvPr>
              <p14:cNvContentPartPr/>
              <p14:nvPr/>
            </p14:nvContentPartPr>
            <p14:xfrm>
              <a:off x="9241740" y="4063474"/>
              <a:ext cx="360" cy="360"/>
            </p14:xfrm>
          </p:contentPart>
        </mc:Choice>
        <mc:Fallback xmlns="">
          <p:pic>
            <p:nvPicPr>
              <p:cNvPr id="60" name="Ink 59">
                <a:extLst>
                  <a:ext uri="{FF2B5EF4-FFF2-40B4-BE49-F238E27FC236}">
                    <a16:creationId xmlns:a16="http://schemas.microsoft.com/office/drawing/2014/main" id="{D33EABDB-CBF5-491A-72D8-BBCDDF6849DE}"/>
                  </a:ext>
                </a:extLst>
              </p:cNvPr>
              <p:cNvPicPr/>
              <p:nvPr/>
            </p:nvPicPr>
            <p:blipFill>
              <a:blip r:embed="rId34"/>
              <a:stretch>
                <a:fillRect/>
              </a:stretch>
            </p:blipFill>
            <p:spPr>
              <a:xfrm>
                <a:off x="9178740" y="400047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1" name="Ink 60">
                <a:extLst>
                  <a:ext uri="{FF2B5EF4-FFF2-40B4-BE49-F238E27FC236}">
                    <a16:creationId xmlns:a16="http://schemas.microsoft.com/office/drawing/2014/main" id="{ABF20ADE-3A79-6585-4A6D-25051ECA4051}"/>
                  </a:ext>
                </a:extLst>
              </p14:cNvPr>
              <p14:cNvContentPartPr/>
              <p14:nvPr/>
            </p14:nvContentPartPr>
            <p14:xfrm>
              <a:off x="9602100" y="3972394"/>
              <a:ext cx="360" cy="360"/>
            </p14:xfrm>
          </p:contentPart>
        </mc:Choice>
        <mc:Fallback xmlns="">
          <p:pic>
            <p:nvPicPr>
              <p:cNvPr id="61" name="Ink 60">
                <a:extLst>
                  <a:ext uri="{FF2B5EF4-FFF2-40B4-BE49-F238E27FC236}">
                    <a16:creationId xmlns:a16="http://schemas.microsoft.com/office/drawing/2014/main" id="{ABF20ADE-3A79-6585-4A6D-25051ECA4051}"/>
                  </a:ext>
                </a:extLst>
              </p:cNvPr>
              <p:cNvPicPr/>
              <p:nvPr/>
            </p:nvPicPr>
            <p:blipFill>
              <a:blip r:embed="rId34"/>
              <a:stretch>
                <a:fillRect/>
              </a:stretch>
            </p:blipFill>
            <p:spPr>
              <a:xfrm>
                <a:off x="9539100" y="390939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2" name="Ink 61">
                <a:extLst>
                  <a:ext uri="{FF2B5EF4-FFF2-40B4-BE49-F238E27FC236}">
                    <a16:creationId xmlns:a16="http://schemas.microsoft.com/office/drawing/2014/main" id="{40139AD8-2E91-8B20-B8AC-251ED0E8C0DE}"/>
                  </a:ext>
                </a:extLst>
              </p14:cNvPr>
              <p14:cNvContentPartPr/>
              <p14:nvPr/>
            </p14:nvContentPartPr>
            <p14:xfrm>
              <a:off x="9549540" y="4163914"/>
              <a:ext cx="360" cy="360"/>
            </p14:xfrm>
          </p:contentPart>
        </mc:Choice>
        <mc:Fallback xmlns="">
          <p:pic>
            <p:nvPicPr>
              <p:cNvPr id="62" name="Ink 61">
                <a:extLst>
                  <a:ext uri="{FF2B5EF4-FFF2-40B4-BE49-F238E27FC236}">
                    <a16:creationId xmlns:a16="http://schemas.microsoft.com/office/drawing/2014/main" id="{40139AD8-2E91-8B20-B8AC-251ED0E8C0DE}"/>
                  </a:ext>
                </a:extLst>
              </p:cNvPr>
              <p:cNvPicPr/>
              <p:nvPr/>
            </p:nvPicPr>
            <p:blipFill>
              <a:blip r:embed="rId34"/>
              <a:stretch>
                <a:fillRect/>
              </a:stretch>
            </p:blipFill>
            <p:spPr>
              <a:xfrm>
                <a:off x="9486540" y="4100914"/>
                <a:ext cx="126000" cy="126000"/>
              </a:xfrm>
              <a:prstGeom prst="rect">
                <a:avLst/>
              </a:prstGeom>
            </p:spPr>
          </p:pic>
        </mc:Fallback>
      </mc:AlternateContent>
      <p:pic>
        <p:nvPicPr>
          <p:cNvPr id="65" name="Picture 64" descr="A picture containing diagram&#10;&#10;Description automatically generated">
            <a:extLst>
              <a:ext uri="{FF2B5EF4-FFF2-40B4-BE49-F238E27FC236}">
                <a16:creationId xmlns:a16="http://schemas.microsoft.com/office/drawing/2014/main" id="{534CBEEF-832B-A84D-9F24-B8E97EBA8EF7}"/>
              </a:ext>
            </a:extLst>
          </p:cNvPr>
          <p:cNvPicPr>
            <a:picLocks noChangeAspect="1"/>
          </p:cNvPicPr>
          <p:nvPr/>
        </p:nvPicPr>
        <p:blipFill>
          <a:blip r:embed="rId37">
            <a:clrChange>
              <a:clrFrom>
                <a:srgbClr val="FFFFFF"/>
              </a:clrFrom>
              <a:clrTo>
                <a:srgbClr val="FFFFFF">
                  <a:alpha val="0"/>
                </a:srgbClr>
              </a:clrTo>
            </a:clrChange>
          </a:blip>
          <a:stretch>
            <a:fillRect/>
          </a:stretch>
        </p:blipFill>
        <p:spPr>
          <a:xfrm>
            <a:off x="4853479" y="4474502"/>
            <a:ext cx="1194341" cy="2200200"/>
          </a:xfrm>
          <a:prstGeom prst="rect">
            <a:avLst/>
          </a:prstGeom>
        </p:spPr>
      </p:pic>
      <mc:AlternateContent xmlns:mc="http://schemas.openxmlformats.org/markup-compatibility/2006" xmlns:p14="http://schemas.microsoft.com/office/powerpoint/2010/main">
        <mc:Choice Requires="p14">
          <p:contentPart p14:bwMode="auto" r:id="rId38">
            <p14:nvContentPartPr>
              <p14:cNvPr id="66" name="Ink 65">
                <a:extLst>
                  <a:ext uri="{FF2B5EF4-FFF2-40B4-BE49-F238E27FC236}">
                    <a16:creationId xmlns:a16="http://schemas.microsoft.com/office/drawing/2014/main" id="{8C2AE045-5D75-CC1E-C591-725817419FCF}"/>
                  </a:ext>
                </a:extLst>
              </p14:cNvPr>
              <p14:cNvContentPartPr/>
              <p14:nvPr/>
            </p14:nvContentPartPr>
            <p14:xfrm>
              <a:off x="5537700" y="6191794"/>
              <a:ext cx="360" cy="360"/>
            </p14:xfrm>
          </p:contentPart>
        </mc:Choice>
        <mc:Fallback xmlns="">
          <p:pic>
            <p:nvPicPr>
              <p:cNvPr id="66" name="Ink 65">
                <a:extLst>
                  <a:ext uri="{FF2B5EF4-FFF2-40B4-BE49-F238E27FC236}">
                    <a16:creationId xmlns:a16="http://schemas.microsoft.com/office/drawing/2014/main" id="{8C2AE045-5D75-CC1E-C591-725817419FCF}"/>
                  </a:ext>
                </a:extLst>
              </p:cNvPr>
              <p:cNvPicPr/>
              <p:nvPr/>
            </p:nvPicPr>
            <p:blipFill>
              <a:blip r:embed="rId39"/>
              <a:stretch>
                <a:fillRect/>
              </a:stretch>
            </p:blipFill>
            <p:spPr>
              <a:xfrm>
                <a:off x="5528700" y="618279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7" name="Ink 66">
                <a:extLst>
                  <a:ext uri="{FF2B5EF4-FFF2-40B4-BE49-F238E27FC236}">
                    <a16:creationId xmlns:a16="http://schemas.microsoft.com/office/drawing/2014/main" id="{40C6D00F-A900-DC75-1A8B-F047632CDEA6}"/>
                  </a:ext>
                </a:extLst>
              </p14:cNvPr>
              <p14:cNvContentPartPr/>
              <p14:nvPr/>
            </p14:nvContentPartPr>
            <p14:xfrm>
              <a:off x="5356620" y="6422194"/>
              <a:ext cx="360" cy="360"/>
            </p14:xfrm>
          </p:contentPart>
        </mc:Choice>
        <mc:Fallback xmlns="">
          <p:pic>
            <p:nvPicPr>
              <p:cNvPr id="67" name="Ink 66">
                <a:extLst>
                  <a:ext uri="{FF2B5EF4-FFF2-40B4-BE49-F238E27FC236}">
                    <a16:creationId xmlns:a16="http://schemas.microsoft.com/office/drawing/2014/main" id="{40C6D00F-A900-DC75-1A8B-F047632CDEA6}"/>
                  </a:ext>
                </a:extLst>
              </p:cNvPr>
              <p:cNvPicPr/>
              <p:nvPr/>
            </p:nvPicPr>
            <p:blipFill>
              <a:blip r:embed="rId39"/>
              <a:stretch>
                <a:fillRect/>
              </a:stretch>
            </p:blipFill>
            <p:spPr>
              <a:xfrm>
                <a:off x="5347620" y="641319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68" name="Ink 67">
                <a:extLst>
                  <a:ext uri="{FF2B5EF4-FFF2-40B4-BE49-F238E27FC236}">
                    <a16:creationId xmlns:a16="http://schemas.microsoft.com/office/drawing/2014/main" id="{0D16C752-A47F-8DF7-1B11-067039F8C5C7}"/>
                  </a:ext>
                </a:extLst>
              </p14:cNvPr>
              <p14:cNvContentPartPr/>
              <p14:nvPr/>
            </p14:nvContentPartPr>
            <p14:xfrm>
              <a:off x="5370300" y="6085234"/>
              <a:ext cx="360" cy="360"/>
            </p14:xfrm>
          </p:contentPart>
        </mc:Choice>
        <mc:Fallback xmlns="">
          <p:pic>
            <p:nvPicPr>
              <p:cNvPr id="68" name="Ink 67">
                <a:extLst>
                  <a:ext uri="{FF2B5EF4-FFF2-40B4-BE49-F238E27FC236}">
                    <a16:creationId xmlns:a16="http://schemas.microsoft.com/office/drawing/2014/main" id="{0D16C752-A47F-8DF7-1B11-067039F8C5C7}"/>
                  </a:ext>
                </a:extLst>
              </p:cNvPr>
              <p:cNvPicPr/>
              <p:nvPr/>
            </p:nvPicPr>
            <p:blipFill>
              <a:blip r:embed="rId39"/>
              <a:stretch>
                <a:fillRect/>
              </a:stretch>
            </p:blipFill>
            <p:spPr>
              <a:xfrm>
                <a:off x="5361300" y="607623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9" name="Ink 68">
                <a:extLst>
                  <a:ext uri="{FF2B5EF4-FFF2-40B4-BE49-F238E27FC236}">
                    <a16:creationId xmlns:a16="http://schemas.microsoft.com/office/drawing/2014/main" id="{52D9F8D1-2FD5-D67B-1879-C219D2030160}"/>
                  </a:ext>
                </a:extLst>
              </p14:cNvPr>
              <p14:cNvContentPartPr/>
              <p14:nvPr/>
            </p14:nvContentPartPr>
            <p14:xfrm>
              <a:off x="5553900" y="6195034"/>
              <a:ext cx="360" cy="360"/>
            </p14:xfrm>
          </p:contentPart>
        </mc:Choice>
        <mc:Fallback xmlns="">
          <p:pic>
            <p:nvPicPr>
              <p:cNvPr id="69" name="Ink 68">
                <a:extLst>
                  <a:ext uri="{FF2B5EF4-FFF2-40B4-BE49-F238E27FC236}">
                    <a16:creationId xmlns:a16="http://schemas.microsoft.com/office/drawing/2014/main" id="{52D9F8D1-2FD5-D67B-1879-C219D2030160}"/>
                  </a:ext>
                </a:extLst>
              </p:cNvPr>
              <p:cNvPicPr/>
              <p:nvPr/>
            </p:nvPicPr>
            <p:blipFill>
              <a:blip r:embed="rId5"/>
              <a:stretch>
                <a:fillRect/>
              </a:stretch>
            </p:blipFill>
            <p:spPr>
              <a:xfrm>
                <a:off x="5517900" y="61590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0" name="Ink 69">
                <a:extLst>
                  <a:ext uri="{FF2B5EF4-FFF2-40B4-BE49-F238E27FC236}">
                    <a16:creationId xmlns:a16="http://schemas.microsoft.com/office/drawing/2014/main" id="{AF5E7436-00E3-5425-F41D-DB41CCC54B50}"/>
                  </a:ext>
                </a:extLst>
              </p14:cNvPr>
              <p14:cNvContentPartPr/>
              <p14:nvPr/>
            </p14:nvContentPartPr>
            <p14:xfrm>
              <a:off x="5394780" y="6123754"/>
              <a:ext cx="360" cy="360"/>
            </p14:xfrm>
          </p:contentPart>
        </mc:Choice>
        <mc:Fallback xmlns="">
          <p:pic>
            <p:nvPicPr>
              <p:cNvPr id="70" name="Ink 69">
                <a:extLst>
                  <a:ext uri="{FF2B5EF4-FFF2-40B4-BE49-F238E27FC236}">
                    <a16:creationId xmlns:a16="http://schemas.microsoft.com/office/drawing/2014/main" id="{AF5E7436-00E3-5425-F41D-DB41CCC54B50}"/>
                  </a:ext>
                </a:extLst>
              </p:cNvPr>
              <p:cNvPicPr/>
              <p:nvPr/>
            </p:nvPicPr>
            <p:blipFill>
              <a:blip r:embed="rId5"/>
              <a:stretch>
                <a:fillRect/>
              </a:stretch>
            </p:blipFill>
            <p:spPr>
              <a:xfrm>
                <a:off x="5358780" y="608775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1" name="Ink 70">
                <a:extLst>
                  <a:ext uri="{FF2B5EF4-FFF2-40B4-BE49-F238E27FC236}">
                    <a16:creationId xmlns:a16="http://schemas.microsoft.com/office/drawing/2014/main" id="{DE903D49-B166-AF6B-FFFA-0D22F485FD9A}"/>
                  </a:ext>
                </a:extLst>
              </p14:cNvPr>
              <p14:cNvContentPartPr/>
              <p14:nvPr/>
            </p14:nvContentPartPr>
            <p14:xfrm>
              <a:off x="5353740" y="6454594"/>
              <a:ext cx="360" cy="360"/>
            </p14:xfrm>
          </p:contentPart>
        </mc:Choice>
        <mc:Fallback xmlns="">
          <p:pic>
            <p:nvPicPr>
              <p:cNvPr id="71" name="Ink 70">
                <a:extLst>
                  <a:ext uri="{FF2B5EF4-FFF2-40B4-BE49-F238E27FC236}">
                    <a16:creationId xmlns:a16="http://schemas.microsoft.com/office/drawing/2014/main" id="{DE903D49-B166-AF6B-FFFA-0D22F485FD9A}"/>
                  </a:ext>
                </a:extLst>
              </p:cNvPr>
              <p:cNvPicPr/>
              <p:nvPr/>
            </p:nvPicPr>
            <p:blipFill>
              <a:blip r:embed="rId5"/>
              <a:stretch>
                <a:fillRect/>
              </a:stretch>
            </p:blipFill>
            <p:spPr>
              <a:xfrm>
                <a:off x="5317740" y="641859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2" name="Ink 71">
                <a:extLst>
                  <a:ext uri="{FF2B5EF4-FFF2-40B4-BE49-F238E27FC236}">
                    <a16:creationId xmlns:a16="http://schemas.microsoft.com/office/drawing/2014/main" id="{26404371-2E46-198B-F44D-77F10ACABC3E}"/>
                  </a:ext>
                </a:extLst>
              </p14:cNvPr>
              <p14:cNvContentPartPr/>
              <p14:nvPr/>
            </p14:nvContentPartPr>
            <p14:xfrm>
              <a:off x="5742540" y="5999554"/>
              <a:ext cx="360" cy="360"/>
            </p14:xfrm>
          </p:contentPart>
        </mc:Choice>
        <mc:Fallback xmlns="">
          <p:pic>
            <p:nvPicPr>
              <p:cNvPr id="72" name="Ink 71">
                <a:extLst>
                  <a:ext uri="{FF2B5EF4-FFF2-40B4-BE49-F238E27FC236}">
                    <a16:creationId xmlns:a16="http://schemas.microsoft.com/office/drawing/2014/main" id="{26404371-2E46-198B-F44D-77F10ACABC3E}"/>
                  </a:ext>
                </a:extLst>
              </p:cNvPr>
              <p:cNvPicPr/>
              <p:nvPr/>
            </p:nvPicPr>
            <p:blipFill>
              <a:blip r:embed="rId5"/>
              <a:stretch>
                <a:fillRect/>
              </a:stretch>
            </p:blipFill>
            <p:spPr>
              <a:xfrm>
                <a:off x="5706540" y="596355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3" name="Ink 72">
                <a:extLst>
                  <a:ext uri="{FF2B5EF4-FFF2-40B4-BE49-F238E27FC236}">
                    <a16:creationId xmlns:a16="http://schemas.microsoft.com/office/drawing/2014/main" id="{4C6F3F27-4706-FFA0-562E-2FB969972FDA}"/>
                  </a:ext>
                </a:extLst>
              </p14:cNvPr>
              <p14:cNvContentPartPr/>
              <p14:nvPr/>
            </p14:nvContentPartPr>
            <p14:xfrm>
              <a:off x="5742540" y="6123394"/>
              <a:ext cx="360" cy="360"/>
            </p14:xfrm>
          </p:contentPart>
        </mc:Choice>
        <mc:Fallback xmlns="">
          <p:pic>
            <p:nvPicPr>
              <p:cNvPr id="73" name="Ink 72">
                <a:extLst>
                  <a:ext uri="{FF2B5EF4-FFF2-40B4-BE49-F238E27FC236}">
                    <a16:creationId xmlns:a16="http://schemas.microsoft.com/office/drawing/2014/main" id="{4C6F3F27-4706-FFA0-562E-2FB969972FDA}"/>
                  </a:ext>
                </a:extLst>
              </p:cNvPr>
              <p:cNvPicPr/>
              <p:nvPr/>
            </p:nvPicPr>
            <p:blipFill>
              <a:blip r:embed="rId5"/>
              <a:stretch>
                <a:fillRect/>
              </a:stretch>
            </p:blipFill>
            <p:spPr>
              <a:xfrm>
                <a:off x="5706540" y="608739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4" name="Ink 73">
                <a:extLst>
                  <a:ext uri="{FF2B5EF4-FFF2-40B4-BE49-F238E27FC236}">
                    <a16:creationId xmlns:a16="http://schemas.microsoft.com/office/drawing/2014/main" id="{789F8CBC-774F-5B01-AAFF-3D9957921AC9}"/>
                  </a:ext>
                </a:extLst>
              </p14:cNvPr>
              <p14:cNvContentPartPr/>
              <p14:nvPr/>
            </p14:nvContentPartPr>
            <p14:xfrm>
              <a:off x="5751180" y="6242914"/>
              <a:ext cx="360" cy="360"/>
            </p14:xfrm>
          </p:contentPart>
        </mc:Choice>
        <mc:Fallback xmlns="">
          <p:pic>
            <p:nvPicPr>
              <p:cNvPr id="74" name="Ink 73">
                <a:extLst>
                  <a:ext uri="{FF2B5EF4-FFF2-40B4-BE49-F238E27FC236}">
                    <a16:creationId xmlns:a16="http://schemas.microsoft.com/office/drawing/2014/main" id="{789F8CBC-774F-5B01-AAFF-3D9957921AC9}"/>
                  </a:ext>
                </a:extLst>
              </p:cNvPr>
              <p:cNvPicPr/>
              <p:nvPr/>
            </p:nvPicPr>
            <p:blipFill>
              <a:blip r:embed="rId5"/>
              <a:stretch>
                <a:fillRect/>
              </a:stretch>
            </p:blipFill>
            <p:spPr>
              <a:xfrm>
                <a:off x="5715180" y="620691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5" name="Ink 74">
                <a:extLst>
                  <a:ext uri="{FF2B5EF4-FFF2-40B4-BE49-F238E27FC236}">
                    <a16:creationId xmlns:a16="http://schemas.microsoft.com/office/drawing/2014/main" id="{C8DDB7EB-0225-2140-D46F-0D1A4696FC4B}"/>
                  </a:ext>
                </a:extLst>
              </p14:cNvPr>
              <p14:cNvContentPartPr/>
              <p14:nvPr/>
            </p14:nvContentPartPr>
            <p14:xfrm>
              <a:off x="5751180" y="6413914"/>
              <a:ext cx="360" cy="360"/>
            </p14:xfrm>
          </p:contentPart>
        </mc:Choice>
        <mc:Fallback xmlns="">
          <p:pic>
            <p:nvPicPr>
              <p:cNvPr id="75" name="Ink 74">
                <a:extLst>
                  <a:ext uri="{FF2B5EF4-FFF2-40B4-BE49-F238E27FC236}">
                    <a16:creationId xmlns:a16="http://schemas.microsoft.com/office/drawing/2014/main" id="{C8DDB7EB-0225-2140-D46F-0D1A4696FC4B}"/>
                  </a:ext>
                </a:extLst>
              </p:cNvPr>
              <p:cNvPicPr/>
              <p:nvPr/>
            </p:nvPicPr>
            <p:blipFill>
              <a:blip r:embed="rId5"/>
              <a:stretch>
                <a:fillRect/>
              </a:stretch>
            </p:blipFill>
            <p:spPr>
              <a:xfrm>
                <a:off x="5715180" y="637791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6" name="Ink 75">
                <a:extLst>
                  <a:ext uri="{FF2B5EF4-FFF2-40B4-BE49-F238E27FC236}">
                    <a16:creationId xmlns:a16="http://schemas.microsoft.com/office/drawing/2014/main" id="{F749AA28-F0B1-B646-2369-6B71ED33CD24}"/>
                  </a:ext>
                </a:extLst>
              </p14:cNvPr>
              <p14:cNvContentPartPr/>
              <p14:nvPr/>
            </p14:nvContentPartPr>
            <p14:xfrm>
              <a:off x="5558580" y="6436954"/>
              <a:ext cx="360" cy="360"/>
            </p14:xfrm>
          </p:contentPart>
        </mc:Choice>
        <mc:Fallback xmlns="">
          <p:pic>
            <p:nvPicPr>
              <p:cNvPr id="76" name="Ink 75">
                <a:extLst>
                  <a:ext uri="{FF2B5EF4-FFF2-40B4-BE49-F238E27FC236}">
                    <a16:creationId xmlns:a16="http://schemas.microsoft.com/office/drawing/2014/main" id="{F749AA28-F0B1-B646-2369-6B71ED33CD24}"/>
                  </a:ext>
                </a:extLst>
              </p:cNvPr>
              <p:cNvPicPr/>
              <p:nvPr/>
            </p:nvPicPr>
            <p:blipFill>
              <a:blip r:embed="rId50"/>
              <a:stretch>
                <a:fillRect/>
              </a:stretch>
            </p:blipFill>
            <p:spPr>
              <a:xfrm>
                <a:off x="5522580" y="640095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7" name="Ink 76">
                <a:extLst>
                  <a:ext uri="{FF2B5EF4-FFF2-40B4-BE49-F238E27FC236}">
                    <a16:creationId xmlns:a16="http://schemas.microsoft.com/office/drawing/2014/main" id="{79DA7718-D6A6-3166-325F-D12C625F8C6E}"/>
                  </a:ext>
                </a:extLst>
              </p14:cNvPr>
              <p14:cNvContentPartPr/>
              <p14:nvPr/>
            </p14:nvContentPartPr>
            <p14:xfrm>
              <a:off x="5295420" y="6277834"/>
              <a:ext cx="360" cy="360"/>
            </p14:xfrm>
          </p:contentPart>
        </mc:Choice>
        <mc:Fallback xmlns="">
          <p:pic>
            <p:nvPicPr>
              <p:cNvPr id="77" name="Ink 76">
                <a:extLst>
                  <a:ext uri="{FF2B5EF4-FFF2-40B4-BE49-F238E27FC236}">
                    <a16:creationId xmlns:a16="http://schemas.microsoft.com/office/drawing/2014/main" id="{79DA7718-D6A6-3166-325F-D12C625F8C6E}"/>
                  </a:ext>
                </a:extLst>
              </p:cNvPr>
              <p:cNvPicPr/>
              <p:nvPr/>
            </p:nvPicPr>
            <p:blipFill>
              <a:blip r:embed="rId50"/>
              <a:stretch>
                <a:fillRect/>
              </a:stretch>
            </p:blipFill>
            <p:spPr>
              <a:xfrm>
                <a:off x="5259420" y="624183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78" name="Ink 77">
                <a:extLst>
                  <a:ext uri="{FF2B5EF4-FFF2-40B4-BE49-F238E27FC236}">
                    <a16:creationId xmlns:a16="http://schemas.microsoft.com/office/drawing/2014/main" id="{AC396A61-BA3F-7E01-A01E-0EF878F4FC0F}"/>
                  </a:ext>
                </a:extLst>
              </p14:cNvPr>
              <p14:cNvContentPartPr/>
              <p14:nvPr/>
            </p14:nvContentPartPr>
            <p14:xfrm>
              <a:off x="5552100" y="5986594"/>
              <a:ext cx="360" cy="360"/>
            </p14:xfrm>
          </p:contentPart>
        </mc:Choice>
        <mc:Fallback xmlns="">
          <p:pic>
            <p:nvPicPr>
              <p:cNvPr id="78" name="Ink 77">
                <a:extLst>
                  <a:ext uri="{FF2B5EF4-FFF2-40B4-BE49-F238E27FC236}">
                    <a16:creationId xmlns:a16="http://schemas.microsoft.com/office/drawing/2014/main" id="{AC396A61-BA3F-7E01-A01E-0EF878F4FC0F}"/>
                  </a:ext>
                </a:extLst>
              </p:cNvPr>
              <p:cNvPicPr/>
              <p:nvPr/>
            </p:nvPicPr>
            <p:blipFill>
              <a:blip r:embed="rId50"/>
              <a:stretch>
                <a:fillRect/>
              </a:stretch>
            </p:blipFill>
            <p:spPr>
              <a:xfrm>
                <a:off x="5516100" y="5950594"/>
                <a:ext cx="72000" cy="72000"/>
              </a:xfrm>
              <a:prstGeom prst="rect">
                <a:avLst/>
              </a:prstGeom>
            </p:spPr>
          </p:pic>
        </mc:Fallback>
      </mc:AlternateContent>
      <p:pic>
        <p:nvPicPr>
          <p:cNvPr id="4098" name="Picture 2" descr="Free lab beaker glassware vector">
            <a:extLst>
              <a:ext uri="{FF2B5EF4-FFF2-40B4-BE49-F238E27FC236}">
                <a16:creationId xmlns:a16="http://schemas.microsoft.com/office/drawing/2014/main" id="{A9854D55-EC92-F7AA-4A88-4F49C935357E}"/>
              </a:ext>
            </a:extLst>
          </p:cNvPr>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268414" y="4495800"/>
            <a:ext cx="1551779" cy="215899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ree pile heap pyramid vector">
            <a:extLst>
              <a:ext uri="{FF2B5EF4-FFF2-40B4-BE49-F238E27FC236}">
                <a16:creationId xmlns:a16="http://schemas.microsoft.com/office/drawing/2014/main" id="{1BC51D5E-3F45-0509-D175-07D696A99BB8}"/>
              </a:ext>
            </a:extLst>
          </p:cNvPr>
          <p:cNvPicPr>
            <a:picLocks noChangeAspect="1" noChangeArrowheads="1"/>
          </p:cNvPicPr>
          <p:nvPr/>
        </p:nvPicPr>
        <p:blipFill>
          <a:blip r:embed="rId54">
            <a:duotone>
              <a:prstClr val="black"/>
              <a:schemeClr val="tx1">
                <a:tint val="45000"/>
                <a:satMod val="400000"/>
              </a:schemeClr>
            </a:duotone>
            <a:extLst>
              <a:ext uri="{28A0092B-C50C-407E-A947-70E740481C1C}">
                <a14:useLocalDpi xmlns:a14="http://schemas.microsoft.com/office/drawing/2010/main" val="0"/>
              </a:ext>
            </a:extLst>
          </a:blip>
          <a:srcRect/>
          <a:stretch>
            <a:fillRect/>
          </a:stretch>
        </p:blipFill>
        <p:spPr bwMode="auto">
          <a:xfrm>
            <a:off x="7785100" y="2209800"/>
            <a:ext cx="3073400" cy="15367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Free magnifying glass enlarge see vector">
            <a:extLst>
              <a:ext uri="{FF2B5EF4-FFF2-40B4-BE49-F238E27FC236}">
                <a16:creationId xmlns:a16="http://schemas.microsoft.com/office/drawing/2014/main" id="{F5BC8B3D-DDBA-AFA2-C6BF-C4F19559E32D}"/>
              </a:ext>
            </a:extLst>
          </p:cNvPr>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rot="4640419">
            <a:off x="8218489" y="2959100"/>
            <a:ext cx="1201396" cy="233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2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10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10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09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7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7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7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418A-C91E-7332-BC26-DC58CF7241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89508C-0A8E-46CE-5A16-3711E90F1F8B}"/>
              </a:ext>
            </a:extLst>
          </p:cNvPr>
          <p:cNvSpPr txBox="1"/>
          <p:nvPr/>
        </p:nvSpPr>
        <p:spPr>
          <a:xfrm>
            <a:off x="3074670" y="3105835"/>
            <a:ext cx="6149340" cy="646331"/>
          </a:xfrm>
          <a:prstGeom prst="rect">
            <a:avLst/>
          </a:prstGeom>
          <a:noFill/>
        </p:spPr>
        <p:txBody>
          <a:bodyPr wrap="square">
            <a:spAutoFit/>
          </a:bodyPr>
          <a:lstStyle/>
          <a:p>
            <a:pPr>
              <a:buFont typeface="Arial" panose="020B0604020202020204" pitchFamily="34" charset="0"/>
              <a:buChar char="•"/>
            </a:pPr>
            <a:r>
              <a:rPr lang="en-US" b="1" dirty="0"/>
              <a:t>Bioleaching → bacteria</a:t>
            </a:r>
            <a:endParaRPr lang="en-US" dirty="0"/>
          </a:p>
          <a:p>
            <a:pPr>
              <a:buFont typeface="Arial" panose="020B0604020202020204" pitchFamily="34" charset="0"/>
              <a:buChar char="•"/>
            </a:pPr>
            <a:r>
              <a:rPr lang="en-US" b="1" dirty="0" err="1"/>
              <a:t>Phytomining</a:t>
            </a:r>
            <a:r>
              <a:rPr lang="en-US" b="1" dirty="0"/>
              <a:t> → plants</a:t>
            </a:r>
            <a:endParaRPr lang="en-US" dirty="0"/>
          </a:p>
        </p:txBody>
      </p:sp>
    </p:spTree>
    <p:extLst>
      <p:ext uri="{BB962C8B-B14F-4D97-AF65-F5344CB8AC3E}">
        <p14:creationId xmlns:p14="http://schemas.microsoft.com/office/powerpoint/2010/main" val="3610931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D35E-7B34-F94C-9DD3-77176F7C3EC6}"/>
              </a:ext>
            </a:extLst>
          </p:cNvPr>
          <p:cNvSpPr>
            <a:spLocks noGrp="1"/>
          </p:cNvSpPr>
          <p:nvPr>
            <p:ph type="title"/>
          </p:nvPr>
        </p:nvSpPr>
        <p:spPr/>
        <p:txBody>
          <a:bodyPr/>
          <a:lstStyle/>
          <a:p>
            <a:r>
              <a:rPr lang="en-US" dirty="0">
                <a:latin typeface="Century Gothic" panose="020B0502020202020204" pitchFamily="34" charset="0"/>
              </a:rPr>
              <a:t>Is this statement correct?</a:t>
            </a:r>
          </a:p>
        </p:txBody>
      </p:sp>
      <p:pic>
        <p:nvPicPr>
          <p:cNvPr id="10" name="Picture 9" descr="Shape, icon&#10;&#10;Description automatically generated">
            <a:extLst>
              <a:ext uri="{FF2B5EF4-FFF2-40B4-BE49-F238E27FC236}">
                <a16:creationId xmlns:a16="http://schemas.microsoft.com/office/drawing/2014/main" id="{1E754493-FBDE-BD42-9497-03675EF7F45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32000" y="229371"/>
            <a:ext cx="9912114" cy="7036843"/>
          </a:xfrm>
          <a:prstGeom prst="rect">
            <a:avLst/>
          </a:prstGeom>
        </p:spPr>
      </p:pic>
      <p:sp>
        <p:nvSpPr>
          <p:cNvPr id="11" name="TextBox 10">
            <a:extLst>
              <a:ext uri="{FF2B5EF4-FFF2-40B4-BE49-F238E27FC236}">
                <a16:creationId xmlns:a16="http://schemas.microsoft.com/office/drawing/2014/main" id="{3DDE3AA7-E690-9543-9B6F-591208B9DFEC}"/>
              </a:ext>
            </a:extLst>
          </p:cNvPr>
          <p:cNvSpPr txBox="1"/>
          <p:nvPr/>
        </p:nvSpPr>
        <p:spPr>
          <a:xfrm>
            <a:off x="2362665" y="2151727"/>
            <a:ext cx="6974670" cy="2554545"/>
          </a:xfrm>
          <a:prstGeom prst="rect">
            <a:avLst/>
          </a:prstGeom>
          <a:noFill/>
          <a:ln>
            <a:noFill/>
          </a:ln>
        </p:spPr>
        <p:txBody>
          <a:bodyPr wrap="square" rtlCol="0">
            <a:spAutoFit/>
          </a:bodyPr>
          <a:lstStyle/>
          <a:p>
            <a:pPr algn="ctr"/>
            <a:r>
              <a:rPr lang="en-US" sz="4000" dirty="0">
                <a:latin typeface="Century Gothic" panose="020B0502020202020204" pitchFamily="34" charset="0"/>
              </a:rPr>
              <a:t>Bioleaching is a method to extract copper metal from low-grade copper ore in soil, using plants</a:t>
            </a:r>
          </a:p>
        </p:txBody>
      </p:sp>
    </p:spTree>
    <p:extLst>
      <p:ext uri="{BB962C8B-B14F-4D97-AF65-F5344CB8AC3E}">
        <p14:creationId xmlns:p14="http://schemas.microsoft.com/office/powerpoint/2010/main" val="1704903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7E99-6073-1C46-A517-F0791F19C755}"/>
              </a:ext>
            </a:extLst>
          </p:cNvPr>
          <p:cNvSpPr>
            <a:spLocks noGrp="1"/>
          </p:cNvSpPr>
          <p:nvPr>
            <p:ph type="title"/>
          </p:nvPr>
        </p:nvSpPr>
        <p:spPr/>
        <p:txBody>
          <a:bodyPr>
            <a:normAutofit/>
          </a:bodyPr>
          <a:lstStyle/>
          <a:p>
            <a:r>
              <a:rPr lang="en-GB" sz="2800">
                <a:latin typeface="Century Gothic" panose="020B0502020202020204" pitchFamily="34" charset="0"/>
              </a:rPr>
              <a:t>Drill</a:t>
            </a:r>
            <a:endParaRPr lang="en-US" sz="2800">
              <a:latin typeface="Century Gothic" panose="020B0502020202020204" pitchFamily="34" charset="0"/>
            </a:endParaRPr>
          </a:p>
        </p:txBody>
      </p:sp>
      <p:sp>
        <p:nvSpPr>
          <p:cNvPr id="6" name="TextBox 5">
            <a:extLst>
              <a:ext uri="{FF2B5EF4-FFF2-40B4-BE49-F238E27FC236}">
                <a16:creationId xmlns:a16="http://schemas.microsoft.com/office/drawing/2014/main" id="{03D33695-F3E3-458D-8D7E-F377F44F408A}"/>
              </a:ext>
            </a:extLst>
          </p:cNvPr>
          <p:cNvSpPr txBox="1"/>
          <p:nvPr/>
        </p:nvSpPr>
        <p:spPr>
          <a:xfrm>
            <a:off x="319835" y="915710"/>
            <a:ext cx="11060329" cy="5262979"/>
          </a:xfrm>
          <a:prstGeom prst="rect">
            <a:avLst/>
          </a:prstGeom>
          <a:noFill/>
        </p:spPr>
        <p:txBody>
          <a:bodyPr wrap="square">
            <a:spAutoFit/>
          </a:bodyPr>
          <a:lstStyle/>
          <a:p>
            <a:pPr marL="457200" indent="-457200">
              <a:buAutoNum type="arabicPeriod"/>
            </a:pPr>
            <a:r>
              <a:rPr lang="en-GB" sz="2400" dirty="0">
                <a:latin typeface="Century Gothic" panose="020B0502020202020204" pitchFamily="34" charset="0"/>
              </a:rPr>
              <a:t>State a use of copper metal.</a:t>
            </a:r>
          </a:p>
          <a:p>
            <a:pPr marL="457200" indent="-457200">
              <a:buAutoNum type="arabicPeriod"/>
            </a:pPr>
            <a:r>
              <a:rPr lang="en-GB" sz="2400" dirty="0">
                <a:latin typeface="Century Gothic" panose="020B0502020202020204" pitchFamily="34" charset="0"/>
              </a:rPr>
              <a:t>Are copper ores renewable or non-renewable?</a:t>
            </a:r>
          </a:p>
          <a:p>
            <a:pPr marL="457200" indent="-457200">
              <a:buAutoNum type="arabicPeriod"/>
            </a:pPr>
            <a:r>
              <a:rPr lang="en-GB" sz="2400" dirty="0">
                <a:latin typeface="Century Gothic" panose="020B0502020202020204" pitchFamily="34" charset="0"/>
              </a:rPr>
              <a:t>What word is given to a copper ore containing a low percentage of copper?</a:t>
            </a:r>
          </a:p>
          <a:p>
            <a:pPr marL="457200" indent="-457200">
              <a:buAutoNum type="arabicPeriod"/>
            </a:pPr>
            <a:r>
              <a:rPr lang="en-GB" sz="2400" dirty="0">
                <a:latin typeface="Century Gothic" panose="020B0502020202020204" pitchFamily="34" charset="0"/>
              </a:rPr>
              <a:t>State one disadvantage of mining copper ores.</a:t>
            </a:r>
          </a:p>
          <a:p>
            <a:pPr marL="457200" indent="-457200">
              <a:buAutoNum type="arabicPeriod"/>
            </a:pPr>
            <a:r>
              <a:rPr lang="en-GB" sz="2400" dirty="0">
                <a:latin typeface="Century Gothic" panose="020B0502020202020204" pitchFamily="34" charset="0"/>
              </a:rPr>
              <a:t>List two methods that can be used to effectively extract copper from low-grade copper ores.</a:t>
            </a:r>
          </a:p>
          <a:p>
            <a:pPr marL="457200" indent="-457200">
              <a:buAutoNum type="arabicPeriod"/>
            </a:pPr>
            <a:r>
              <a:rPr lang="en-GB" sz="2400" dirty="0">
                <a:latin typeface="Century Gothic" panose="020B0502020202020204" pitchFamily="34" charset="0"/>
              </a:rPr>
              <a:t>Define bioleaching.</a:t>
            </a:r>
          </a:p>
          <a:p>
            <a:pPr marL="457200" indent="-457200">
              <a:buAutoNum type="arabicPeriod"/>
            </a:pPr>
            <a:r>
              <a:rPr lang="en-GB" sz="2400" dirty="0">
                <a:latin typeface="Century Gothic" panose="020B0502020202020204" pitchFamily="34" charset="0"/>
              </a:rPr>
              <a:t>Define phytomining.</a:t>
            </a:r>
          </a:p>
          <a:p>
            <a:pPr marL="457200" indent="-457200">
              <a:buAutoNum type="arabicPeriod"/>
            </a:pPr>
            <a:r>
              <a:rPr lang="en-GB" sz="2400" dirty="0">
                <a:latin typeface="Century Gothic" panose="020B0502020202020204" pitchFamily="34" charset="0"/>
              </a:rPr>
              <a:t>When bacteria feed on are ore, what do we call the solution of metal ions that they produce?</a:t>
            </a:r>
          </a:p>
          <a:p>
            <a:pPr marL="457200" indent="-457200">
              <a:buAutoNum type="arabicPeriod"/>
            </a:pPr>
            <a:r>
              <a:rPr lang="en-GB" sz="2400" dirty="0">
                <a:latin typeface="Century Gothic" panose="020B0502020202020204" pitchFamily="34" charset="0"/>
              </a:rPr>
              <a:t>What process is used to extract pure copper metal from a copper sulphate solution?</a:t>
            </a:r>
          </a:p>
          <a:p>
            <a:pPr marL="457200" indent="-457200">
              <a:buAutoNum type="arabicPeriod"/>
            </a:pPr>
            <a:r>
              <a:rPr lang="en-GB" sz="2400" dirty="0">
                <a:latin typeface="Century Gothic" panose="020B0502020202020204" pitchFamily="34" charset="0"/>
              </a:rPr>
              <a:t>At which electrode will copper metal form in electrolysis?</a:t>
            </a:r>
          </a:p>
        </p:txBody>
      </p:sp>
    </p:spTree>
    <p:extLst>
      <p:ext uri="{BB962C8B-B14F-4D97-AF65-F5344CB8AC3E}">
        <p14:creationId xmlns:p14="http://schemas.microsoft.com/office/powerpoint/2010/main" val="353383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3D33695-F3E3-458D-8D7E-F377F44F408A}"/>
              </a:ext>
            </a:extLst>
          </p:cNvPr>
          <p:cNvSpPr txBox="1"/>
          <p:nvPr/>
        </p:nvSpPr>
        <p:spPr>
          <a:xfrm>
            <a:off x="271058" y="917644"/>
            <a:ext cx="11311342" cy="4893647"/>
          </a:xfrm>
          <a:prstGeom prst="rect">
            <a:avLst/>
          </a:prstGeom>
          <a:noFill/>
        </p:spPr>
        <p:txBody>
          <a:bodyPr wrap="square">
            <a:spAutoFit/>
          </a:bodyPr>
          <a:lstStyle/>
          <a:p>
            <a:pPr marL="457200" indent="-457200">
              <a:buAutoNum type="arabicPeriod"/>
            </a:pPr>
            <a:r>
              <a:rPr lang="en-GB" sz="2400" b="1" dirty="0">
                <a:solidFill>
                  <a:schemeClr val="accent2">
                    <a:lumMod val="60000"/>
                    <a:lumOff val="40000"/>
                  </a:schemeClr>
                </a:solidFill>
                <a:latin typeface="Century Gothic" panose="020B0502020202020204" pitchFamily="34" charset="0"/>
              </a:rPr>
              <a:t>Copper metal is used for electrical wiring.</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Copper ores are non-renewable.</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Low-grade copper ores</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One disadvantage of mining copper ores is that it can result in habitat destruction.</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Phytomining and bioleaching </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Bioleaching is a method to extract metals from their ore using living organisms such as bacteria.</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Phytomining is a method to extract copper metal from low-grade copper ore in soil, using plants</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When bacteria feed on an ore, they produce a solution called leachate</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Electrolysis is used to extract copper from a copper sulphate solution</a:t>
            </a:r>
          </a:p>
          <a:p>
            <a:pPr marL="457200" indent="-457200">
              <a:buAutoNum type="arabicPeriod"/>
            </a:pPr>
            <a:r>
              <a:rPr lang="en-GB" sz="2400" b="1" dirty="0">
                <a:solidFill>
                  <a:schemeClr val="accent2">
                    <a:lumMod val="60000"/>
                    <a:lumOff val="40000"/>
                  </a:schemeClr>
                </a:solidFill>
                <a:latin typeface="Century Gothic" panose="020B0502020202020204" pitchFamily="34" charset="0"/>
              </a:rPr>
              <a:t>Copper metal will form at the cathode (negative electrode)</a:t>
            </a:r>
          </a:p>
        </p:txBody>
      </p:sp>
      <p:sp>
        <p:nvSpPr>
          <p:cNvPr id="7" name="Title 1">
            <a:extLst>
              <a:ext uri="{FF2B5EF4-FFF2-40B4-BE49-F238E27FC236}">
                <a16:creationId xmlns:a16="http://schemas.microsoft.com/office/drawing/2014/main" id="{370027E6-E48D-4743-8E0A-32E69590BF72}"/>
              </a:ext>
            </a:extLst>
          </p:cNvPr>
          <p:cNvSpPr>
            <a:spLocks noGrp="1"/>
          </p:cNvSpPr>
          <p:nvPr>
            <p:ph type="title"/>
          </p:nvPr>
        </p:nvSpPr>
        <p:spPr/>
        <p:txBody>
          <a:bodyPr>
            <a:normAutofit/>
          </a:bodyPr>
          <a:lstStyle/>
          <a:p>
            <a:r>
              <a:rPr lang="en-GB" sz="2800">
                <a:latin typeface="Century Gothic" panose="020B0502020202020204" pitchFamily="34" charset="0"/>
              </a:rPr>
              <a:t>Drill answers</a:t>
            </a:r>
            <a:endParaRPr lang="en-US" sz="2800">
              <a:latin typeface="Century Gothic" panose="020B0502020202020204" pitchFamily="34" charset="0"/>
            </a:endParaRPr>
          </a:p>
        </p:txBody>
      </p:sp>
    </p:spTree>
    <p:extLst>
      <p:ext uri="{BB962C8B-B14F-4D97-AF65-F5344CB8AC3E}">
        <p14:creationId xmlns:p14="http://schemas.microsoft.com/office/powerpoint/2010/main" val="92841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fade">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96B27-BC5F-44BF-BDF5-A20B8148A74B}"/>
              </a:ext>
            </a:extLst>
          </p:cNvPr>
          <p:cNvSpPr>
            <a:spLocks noGrp="1"/>
          </p:cNvSpPr>
          <p:nvPr>
            <p:ph type="title"/>
          </p:nvPr>
        </p:nvSpPr>
        <p:spPr>
          <a:xfrm>
            <a:off x="301038" y="104454"/>
            <a:ext cx="10814316" cy="461665"/>
          </a:xfrm>
        </p:spPr>
        <p:txBody>
          <a:bodyPr>
            <a:noAutofit/>
          </a:bodyPr>
          <a:lstStyle/>
          <a:p>
            <a:r>
              <a:rPr lang="en-GB" dirty="0">
                <a:latin typeface="Century Gothic" panose="020B0502020202020204" pitchFamily="34" charset="0"/>
              </a:rPr>
              <a:t>I: Describe: </a:t>
            </a:r>
            <a:r>
              <a:rPr lang="en-GB" i="1" dirty="0">
                <a:latin typeface="Century Gothic" panose="020B0502020202020204" pitchFamily="34" charset="0"/>
              </a:rPr>
              <a:t>to recall facts, events or processes in an accurate way</a:t>
            </a:r>
          </a:p>
        </p:txBody>
      </p:sp>
      <p:sp>
        <p:nvSpPr>
          <p:cNvPr id="6" name="TextBox 5">
            <a:extLst>
              <a:ext uri="{FF2B5EF4-FFF2-40B4-BE49-F238E27FC236}">
                <a16:creationId xmlns:a16="http://schemas.microsoft.com/office/drawing/2014/main" id="{738BD3D1-C602-476B-9ED5-198C26001B3D}"/>
              </a:ext>
            </a:extLst>
          </p:cNvPr>
          <p:cNvSpPr txBox="1"/>
          <p:nvPr/>
        </p:nvSpPr>
        <p:spPr>
          <a:xfrm>
            <a:off x="218921" y="1267765"/>
            <a:ext cx="6358342" cy="2308324"/>
          </a:xfrm>
          <a:prstGeom prst="rect">
            <a:avLst/>
          </a:prstGeom>
          <a:noFill/>
          <a:ln>
            <a:noFill/>
          </a:ln>
        </p:spPr>
        <p:txBody>
          <a:bodyPr wrap="square" rtlCol="0">
            <a:spAutoFit/>
          </a:bodyPr>
          <a:lstStyle/>
          <a:p>
            <a:r>
              <a:rPr lang="en-US" sz="2400" dirty="0">
                <a:latin typeface="Century Gothic" panose="020B0502020202020204" pitchFamily="34" charset="0"/>
              </a:rPr>
              <a:t>Phytomining is used to obtain copper from land that contains very low percentages of copper compounds. </a:t>
            </a:r>
          </a:p>
          <a:p>
            <a:endParaRPr lang="en-US" sz="2400" dirty="0">
              <a:latin typeface="Century Gothic" panose="020B0502020202020204" pitchFamily="34" charset="0"/>
            </a:endParaRPr>
          </a:p>
          <a:p>
            <a:r>
              <a:rPr lang="en-US" sz="2400" b="1" dirty="0">
                <a:solidFill>
                  <a:srgbClr val="009193"/>
                </a:solidFill>
                <a:latin typeface="Century Gothic" panose="020B0502020202020204" pitchFamily="34" charset="0"/>
              </a:rPr>
              <a:t>Describe</a:t>
            </a:r>
            <a:r>
              <a:rPr lang="en-US" sz="2400" dirty="0">
                <a:latin typeface="Century Gothic" panose="020B0502020202020204" pitchFamily="34" charset="0"/>
              </a:rPr>
              <a:t> how copper compounds are obtained by phytomining.</a:t>
            </a:r>
            <a:endParaRPr lang="en-US" sz="2400" b="1" dirty="0">
              <a:solidFill>
                <a:srgbClr val="009193"/>
              </a:solidFill>
              <a:latin typeface="Century Gothic" panose="020B0502020202020204" pitchFamily="34" charset="0"/>
            </a:endParaRPr>
          </a:p>
        </p:txBody>
      </p:sp>
      <p:sp>
        <p:nvSpPr>
          <p:cNvPr id="7" name="TextBox 6">
            <a:extLst>
              <a:ext uri="{FF2B5EF4-FFF2-40B4-BE49-F238E27FC236}">
                <a16:creationId xmlns:a16="http://schemas.microsoft.com/office/drawing/2014/main" id="{B7A3DBB4-E61A-41DB-AB0D-ECE0B2A2E82B}"/>
              </a:ext>
            </a:extLst>
          </p:cNvPr>
          <p:cNvSpPr txBox="1"/>
          <p:nvPr/>
        </p:nvSpPr>
        <p:spPr>
          <a:xfrm>
            <a:off x="319084" y="3974409"/>
            <a:ext cx="5596918" cy="2215991"/>
          </a:xfrm>
          <a:prstGeom prst="rect">
            <a:avLst/>
          </a:prstGeom>
          <a:noFill/>
          <a:ln>
            <a:noFill/>
          </a:ln>
        </p:spPr>
        <p:txBody>
          <a:bodyPr wrap="square" rtlCol="0">
            <a:spAutoFit/>
          </a:bodyPr>
          <a:lstStyle/>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grow </a:t>
            </a:r>
            <a:r>
              <a:rPr lang="en-GB" sz="1800" b="1" i="0" dirty="0">
                <a:solidFill>
                  <a:schemeClr val="accent2">
                    <a:lumMod val="60000"/>
                    <a:lumOff val="40000"/>
                  </a:schemeClr>
                </a:solidFill>
                <a:effectLst/>
                <a:latin typeface="Century Gothic" panose="020B0502020202020204" pitchFamily="34" charset="0"/>
              </a:rPr>
              <a:t>plants</a:t>
            </a:r>
            <a:r>
              <a:rPr lang="en-GB" sz="1800" i="0" dirty="0">
                <a:solidFill>
                  <a:schemeClr val="accent2">
                    <a:lumMod val="60000"/>
                    <a:lumOff val="40000"/>
                  </a:schemeClr>
                </a:solidFill>
                <a:effectLst/>
                <a:latin typeface="Century Gothic" panose="020B0502020202020204" pitchFamily="34" charset="0"/>
              </a:rPr>
              <a:t> on land containing copper ores</a:t>
            </a:r>
          </a:p>
          <a:p>
            <a:pPr marL="342900" indent="-342900" algn="l">
              <a:spcBef>
                <a:spcPts val="1200"/>
              </a:spcBef>
              <a:spcAft>
                <a:spcPts val="0"/>
              </a:spcAft>
              <a:buFont typeface="Arial" panose="020B0604020202020204" pitchFamily="34" charset="0"/>
              <a:buChar char="•"/>
            </a:pPr>
            <a:r>
              <a:rPr lang="en-GB" sz="1800" b="1" i="0" dirty="0">
                <a:solidFill>
                  <a:schemeClr val="accent2">
                    <a:lumMod val="60000"/>
                    <a:lumOff val="40000"/>
                  </a:schemeClr>
                </a:solidFill>
                <a:effectLst/>
                <a:latin typeface="Century Gothic" panose="020B0502020202020204" pitchFamily="34" charset="0"/>
              </a:rPr>
              <a:t>burn</a:t>
            </a:r>
            <a:r>
              <a:rPr lang="en-GB" sz="1800" i="0" dirty="0">
                <a:solidFill>
                  <a:schemeClr val="accent2">
                    <a:lumMod val="60000"/>
                    <a:lumOff val="40000"/>
                  </a:schemeClr>
                </a:solidFill>
                <a:effectLst/>
                <a:latin typeface="Century Gothic" panose="020B0502020202020204" pitchFamily="34" charset="0"/>
              </a:rPr>
              <a:t> th</a:t>
            </a:r>
            <a:r>
              <a:rPr lang="en-GB" sz="1800" dirty="0">
                <a:solidFill>
                  <a:schemeClr val="accent2">
                    <a:lumMod val="60000"/>
                    <a:lumOff val="40000"/>
                  </a:schemeClr>
                </a:solidFill>
                <a:latin typeface="Century Gothic" panose="020B0502020202020204" pitchFamily="34" charset="0"/>
              </a:rPr>
              <a:t>e plants to form ash (copper oxide)</a:t>
            </a:r>
            <a:endParaRPr lang="en-GB" sz="1800" i="0" dirty="0">
              <a:solidFill>
                <a:schemeClr val="accent2">
                  <a:lumMod val="60000"/>
                  <a:lumOff val="40000"/>
                </a:schemeClr>
              </a:solidFill>
              <a:effectLst/>
              <a:latin typeface="Century Gothic" panose="020B0502020202020204" pitchFamily="34" charset="0"/>
            </a:endParaRP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dissolve the copper oxide in (sulfuric) acid to form copper sulfate (leachate) </a:t>
            </a:r>
            <a:r>
              <a:rPr lang="en-GB" sz="1800" b="1" i="0" dirty="0">
                <a:solidFill>
                  <a:schemeClr val="accent2">
                    <a:lumMod val="60000"/>
                    <a:lumOff val="40000"/>
                  </a:schemeClr>
                </a:solidFill>
                <a:effectLst/>
                <a:latin typeface="Century Gothic" panose="020B0502020202020204" pitchFamily="34" charset="0"/>
              </a:rPr>
              <a:t>solution</a:t>
            </a: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carry out the </a:t>
            </a:r>
            <a:r>
              <a:rPr lang="en-GB" sz="1800" b="1" i="0" dirty="0">
                <a:solidFill>
                  <a:schemeClr val="accent2">
                    <a:lumMod val="60000"/>
                    <a:lumOff val="40000"/>
                  </a:schemeClr>
                </a:solidFill>
                <a:effectLst/>
                <a:latin typeface="Century Gothic" panose="020B0502020202020204" pitchFamily="34" charset="0"/>
              </a:rPr>
              <a:t>electrolysis</a:t>
            </a:r>
            <a:r>
              <a:rPr lang="en-GB" sz="1800" i="0" dirty="0">
                <a:solidFill>
                  <a:schemeClr val="accent2">
                    <a:lumMod val="60000"/>
                    <a:lumOff val="40000"/>
                  </a:schemeClr>
                </a:solidFill>
                <a:effectLst/>
                <a:latin typeface="Century Gothic" panose="020B0502020202020204" pitchFamily="34" charset="0"/>
              </a:rPr>
              <a:t> of this solution to form pure copper</a:t>
            </a:r>
          </a:p>
        </p:txBody>
      </p:sp>
      <p:pic>
        <p:nvPicPr>
          <p:cNvPr id="20" name="Picture 19" descr="Shape, arrow&#10;&#10;Description automatically generated">
            <a:extLst>
              <a:ext uri="{FF2B5EF4-FFF2-40B4-BE49-F238E27FC236}">
                <a16:creationId xmlns:a16="http://schemas.microsoft.com/office/drawing/2014/main" id="{2F0F854C-E082-574A-B428-617FA8EBFF66}"/>
              </a:ext>
            </a:extLst>
          </p:cNvPr>
          <p:cNvPicPr>
            <a:picLocks noChangeAspect="1"/>
          </p:cNvPicPr>
          <p:nvPr/>
        </p:nvPicPr>
        <p:blipFill>
          <a:blip r:embed="rId3"/>
          <a:stretch>
            <a:fillRect/>
          </a:stretch>
        </p:blipFill>
        <p:spPr>
          <a:xfrm>
            <a:off x="10290718" y="5571410"/>
            <a:ext cx="1182136" cy="1182136"/>
          </a:xfrm>
          <a:prstGeom prst="rect">
            <a:avLst/>
          </a:prstGeom>
        </p:spPr>
      </p:pic>
      <p:sp>
        <p:nvSpPr>
          <p:cNvPr id="2" name="TextBox 1">
            <a:extLst>
              <a:ext uri="{FF2B5EF4-FFF2-40B4-BE49-F238E27FC236}">
                <a16:creationId xmlns:a16="http://schemas.microsoft.com/office/drawing/2014/main" id="{5F3F488F-36CB-FE4A-94A9-8F8BD092DEC8}"/>
              </a:ext>
            </a:extLst>
          </p:cNvPr>
          <p:cNvSpPr txBox="1"/>
          <p:nvPr/>
        </p:nvSpPr>
        <p:spPr>
          <a:xfrm>
            <a:off x="218921" y="855835"/>
            <a:ext cx="2489414" cy="369332"/>
          </a:xfrm>
          <a:prstGeom prst="rect">
            <a:avLst/>
          </a:prstGeom>
          <a:noFill/>
        </p:spPr>
        <p:txBody>
          <a:bodyPr wrap="square" rtlCol="0">
            <a:spAutoFit/>
          </a:bodyPr>
          <a:lstStyle/>
          <a:p>
            <a:r>
              <a:rPr lang="en-GB">
                <a:solidFill>
                  <a:schemeClr val="bg1">
                    <a:lumMod val="50000"/>
                  </a:schemeClr>
                </a:solidFill>
                <a:latin typeface="Century Gothic" panose="020B0502020202020204" pitchFamily="34" charset="0"/>
              </a:rPr>
              <a:t>Example question:</a:t>
            </a:r>
          </a:p>
        </p:txBody>
      </p:sp>
      <p:sp>
        <p:nvSpPr>
          <p:cNvPr id="21" name="TextBox 20">
            <a:extLst>
              <a:ext uri="{FF2B5EF4-FFF2-40B4-BE49-F238E27FC236}">
                <a16:creationId xmlns:a16="http://schemas.microsoft.com/office/drawing/2014/main" id="{12163F85-209C-5545-936C-371E724261DE}"/>
              </a:ext>
            </a:extLst>
          </p:cNvPr>
          <p:cNvSpPr txBox="1"/>
          <p:nvPr/>
        </p:nvSpPr>
        <p:spPr>
          <a:xfrm>
            <a:off x="218921" y="3746917"/>
            <a:ext cx="2339513" cy="369332"/>
          </a:xfrm>
          <a:prstGeom prst="rect">
            <a:avLst/>
          </a:prstGeom>
          <a:noFill/>
        </p:spPr>
        <p:txBody>
          <a:bodyPr wrap="square" rtlCol="0">
            <a:spAutoFit/>
          </a:bodyPr>
          <a:lstStyle/>
          <a:p>
            <a:r>
              <a:rPr lang="en-GB" dirty="0">
                <a:solidFill>
                  <a:schemeClr val="bg1">
                    <a:lumMod val="50000"/>
                  </a:schemeClr>
                </a:solidFill>
                <a:latin typeface="Century Gothic" panose="020B0502020202020204" pitchFamily="34" charset="0"/>
              </a:rPr>
              <a:t>Model answer:</a:t>
            </a:r>
          </a:p>
        </p:txBody>
      </p:sp>
      <p:sp>
        <p:nvSpPr>
          <p:cNvPr id="9" name="Rectangle 8">
            <a:extLst>
              <a:ext uri="{FF2B5EF4-FFF2-40B4-BE49-F238E27FC236}">
                <a16:creationId xmlns:a16="http://schemas.microsoft.com/office/drawing/2014/main" id="{A07B0842-5305-4C43-A260-1CE4004B73D0}"/>
              </a:ext>
            </a:extLst>
          </p:cNvPr>
          <p:cNvSpPr/>
          <p:nvPr/>
        </p:nvSpPr>
        <p:spPr>
          <a:xfrm>
            <a:off x="6811966" y="926759"/>
            <a:ext cx="4303388" cy="4524315"/>
          </a:xfrm>
          <a:prstGeom prst="rect">
            <a:avLst/>
          </a:prstGeom>
        </p:spPr>
        <p:txBody>
          <a:bodyPr wrap="square">
            <a:spAutoFit/>
          </a:bodyPr>
          <a:lstStyle/>
          <a:p>
            <a:r>
              <a:rPr lang="en-GB" sz="2400">
                <a:latin typeface="Century Gothic" panose="020B0502020202020204" pitchFamily="34" charset="0"/>
              </a:rPr>
              <a:t>To ‘describe’, your answer should:</a:t>
            </a:r>
          </a:p>
          <a:p>
            <a:pPr algn="ctr"/>
            <a:endParaRPr lang="en-GB" sz="2400">
              <a:latin typeface="Century Gothic" panose="020B0502020202020204" pitchFamily="34" charset="0"/>
            </a:endParaRPr>
          </a:p>
          <a:p>
            <a:pPr marL="285750" indent="-285750">
              <a:buFont typeface="Arial" panose="020B0604020202020204" pitchFamily="34" charset="0"/>
              <a:buChar char="•"/>
            </a:pPr>
            <a:r>
              <a:rPr lang="en-GB" sz="2400">
                <a:latin typeface="Century Gothic" panose="020B0502020202020204" pitchFamily="34" charset="0"/>
              </a:rPr>
              <a:t>Use </a:t>
            </a:r>
            <a:r>
              <a:rPr lang="en-GB" sz="2400" b="1">
                <a:latin typeface="Century Gothic" panose="020B0502020202020204" pitchFamily="34" charset="0"/>
              </a:rPr>
              <a:t>bullet points </a:t>
            </a:r>
            <a:r>
              <a:rPr lang="en-GB" sz="2400">
                <a:latin typeface="Century Gothic" panose="020B0502020202020204" pitchFamily="34" charset="0"/>
              </a:rPr>
              <a:t>to keep your answer clear</a:t>
            </a:r>
          </a:p>
          <a:p>
            <a:pPr marL="285750" indent="-285750">
              <a:buFont typeface="Arial" panose="020B0604020202020204" pitchFamily="34" charset="0"/>
              <a:buChar char="•"/>
            </a:pPr>
            <a:r>
              <a:rPr lang="en-GB" sz="2400">
                <a:latin typeface="Century Gothic" panose="020B0502020202020204" pitchFamily="34" charset="0"/>
              </a:rPr>
              <a:t>Cover enough points to </a:t>
            </a:r>
            <a:r>
              <a:rPr lang="en-GB" sz="2400" b="1">
                <a:latin typeface="Century Gothic" panose="020B0502020202020204" pitchFamily="34" charset="0"/>
              </a:rPr>
              <a:t>fully answer </a:t>
            </a:r>
            <a:r>
              <a:rPr lang="en-GB" sz="2400">
                <a:latin typeface="Century Gothic" panose="020B0502020202020204" pitchFamily="34" charset="0"/>
              </a:rPr>
              <a:t>the question</a:t>
            </a:r>
          </a:p>
          <a:p>
            <a:pPr marL="285750" indent="-285750">
              <a:buFont typeface="Arial" panose="020B0604020202020204" pitchFamily="34" charset="0"/>
              <a:buChar char="•"/>
            </a:pPr>
            <a:r>
              <a:rPr lang="en-GB" sz="2400">
                <a:latin typeface="Century Gothic" panose="020B0502020202020204" pitchFamily="34" charset="0"/>
              </a:rPr>
              <a:t>Use scientific </a:t>
            </a:r>
            <a:r>
              <a:rPr lang="en-GB" sz="2400" b="1">
                <a:latin typeface="Century Gothic" panose="020B0502020202020204" pitchFamily="34" charset="0"/>
              </a:rPr>
              <a:t>keywords</a:t>
            </a:r>
            <a:r>
              <a:rPr lang="en-GB" sz="2400">
                <a:latin typeface="Century Gothic" panose="020B0502020202020204" pitchFamily="34" charset="0"/>
              </a:rPr>
              <a:t> in your answer</a:t>
            </a:r>
          </a:p>
          <a:p>
            <a:pPr marL="285750" indent="-285750">
              <a:buFont typeface="Arial" panose="020B0604020202020204" pitchFamily="34" charset="0"/>
              <a:buChar char="•"/>
            </a:pPr>
            <a:r>
              <a:rPr lang="en-GB" sz="2400">
                <a:latin typeface="Century Gothic" panose="020B0502020202020204" pitchFamily="34" charset="0"/>
              </a:rPr>
              <a:t>‘</a:t>
            </a:r>
            <a:r>
              <a:rPr lang="en-GB" sz="2400" b="1">
                <a:latin typeface="Century Gothic" panose="020B0502020202020204" pitchFamily="34" charset="0"/>
              </a:rPr>
              <a:t>Say what you see</a:t>
            </a:r>
            <a:r>
              <a:rPr lang="en-GB" sz="2400">
                <a:latin typeface="Century Gothic" panose="020B0502020202020204" pitchFamily="34" charset="0"/>
              </a:rPr>
              <a:t>’ if there is a diagram, graph or table. </a:t>
            </a:r>
          </a:p>
        </p:txBody>
      </p:sp>
    </p:spTree>
    <p:extLst>
      <p:ext uri="{BB962C8B-B14F-4D97-AF65-F5344CB8AC3E}">
        <p14:creationId xmlns:p14="http://schemas.microsoft.com/office/powerpoint/2010/main" val="263677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96B27-BC5F-44BF-BDF5-A20B8148A74B}"/>
              </a:ext>
            </a:extLst>
          </p:cNvPr>
          <p:cNvSpPr>
            <a:spLocks noGrp="1"/>
          </p:cNvSpPr>
          <p:nvPr>
            <p:ph type="title"/>
          </p:nvPr>
        </p:nvSpPr>
        <p:spPr>
          <a:xfrm>
            <a:off x="301037" y="104454"/>
            <a:ext cx="11136983" cy="461665"/>
          </a:xfrm>
        </p:spPr>
        <p:txBody>
          <a:bodyPr>
            <a:noAutofit/>
          </a:bodyPr>
          <a:lstStyle/>
          <a:p>
            <a:r>
              <a:rPr lang="en-GB" dirty="0">
                <a:latin typeface="Century Gothic" panose="020B0502020202020204" pitchFamily="34" charset="0"/>
              </a:rPr>
              <a:t>We: Describe: </a:t>
            </a:r>
            <a:r>
              <a:rPr lang="en-GB" i="1" dirty="0">
                <a:latin typeface="Century Gothic" panose="020B0502020202020204" pitchFamily="34" charset="0"/>
              </a:rPr>
              <a:t>to recall facts, events or processes in an accurate way</a:t>
            </a:r>
          </a:p>
        </p:txBody>
      </p:sp>
      <p:sp>
        <p:nvSpPr>
          <p:cNvPr id="6" name="TextBox 5">
            <a:extLst>
              <a:ext uri="{FF2B5EF4-FFF2-40B4-BE49-F238E27FC236}">
                <a16:creationId xmlns:a16="http://schemas.microsoft.com/office/drawing/2014/main" id="{738BD3D1-C602-476B-9ED5-198C26001B3D}"/>
              </a:ext>
            </a:extLst>
          </p:cNvPr>
          <p:cNvSpPr txBox="1"/>
          <p:nvPr/>
        </p:nvSpPr>
        <p:spPr>
          <a:xfrm>
            <a:off x="218920" y="1123386"/>
            <a:ext cx="6534805" cy="2985433"/>
          </a:xfrm>
          <a:prstGeom prst="rect">
            <a:avLst/>
          </a:prstGeom>
          <a:noFill/>
          <a:ln>
            <a:noFill/>
          </a:ln>
        </p:spPr>
        <p:txBody>
          <a:bodyPr wrap="square" rtlCol="0">
            <a:spAutoFit/>
          </a:bodyPr>
          <a:lstStyle/>
          <a:p>
            <a:pPr algn="l">
              <a:spcBef>
                <a:spcPts val="1200"/>
              </a:spcBef>
              <a:spcAft>
                <a:spcPts val="0"/>
              </a:spcAft>
            </a:pPr>
            <a:r>
              <a:rPr lang="en-GB" sz="2400" b="0" i="0" dirty="0">
                <a:solidFill>
                  <a:srgbClr val="222222"/>
                </a:solidFill>
                <a:effectLst/>
                <a:latin typeface="Century Gothic" panose="020B0502020202020204" pitchFamily="34" charset="0"/>
              </a:rPr>
              <a:t>Soil near copper mines is often contaminated with low percentages of copper compounds.</a:t>
            </a:r>
          </a:p>
          <a:p>
            <a:pPr algn="l">
              <a:spcBef>
                <a:spcPts val="1200"/>
              </a:spcBef>
              <a:spcAft>
                <a:spcPts val="0"/>
              </a:spcAft>
            </a:pPr>
            <a:r>
              <a:rPr lang="en-GB" sz="2400" b="0" i="0" dirty="0">
                <a:solidFill>
                  <a:srgbClr val="222222"/>
                </a:solidFill>
                <a:effectLst/>
                <a:latin typeface="Century Gothic" panose="020B0502020202020204" pitchFamily="34" charset="0"/>
              </a:rPr>
              <a:t>Phytomining is a new way to extract copper compounds from soil.</a:t>
            </a:r>
          </a:p>
          <a:p>
            <a:pPr algn="l">
              <a:spcBef>
                <a:spcPts val="1200"/>
              </a:spcBef>
              <a:spcAft>
                <a:spcPts val="0"/>
              </a:spcAft>
            </a:pPr>
            <a:r>
              <a:rPr lang="en-GB" sz="2400" b="1" i="0" dirty="0">
                <a:solidFill>
                  <a:srgbClr val="009193"/>
                </a:solidFill>
                <a:effectLst/>
                <a:latin typeface="Century Gothic" panose="020B0502020202020204" pitchFamily="34" charset="0"/>
              </a:rPr>
              <a:t>Describe</a:t>
            </a:r>
            <a:r>
              <a:rPr lang="en-GB" sz="2400" b="0" i="0" dirty="0">
                <a:solidFill>
                  <a:srgbClr val="222222"/>
                </a:solidFill>
                <a:effectLst/>
                <a:latin typeface="Century Gothic" panose="020B0502020202020204" pitchFamily="34" charset="0"/>
              </a:rPr>
              <a:t> how copper compounds are extracted by phytomining.</a:t>
            </a:r>
            <a:endParaRPr lang="en-US" sz="2400" b="1" dirty="0">
              <a:solidFill>
                <a:srgbClr val="009193"/>
              </a:solidFill>
              <a:latin typeface="Century Gothic" panose="020B0502020202020204" pitchFamily="34" charset="0"/>
            </a:endParaRPr>
          </a:p>
        </p:txBody>
      </p:sp>
      <p:sp>
        <p:nvSpPr>
          <p:cNvPr id="7" name="TextBox 6">
            <a:extLst>
              <a:ext uri="{FF2B5EF4-FFF2-40B4-BE49-F238E27FC236}">
                <a16:creationId xmlns:a16="http://schemas.microsoft.com/office/drawing/2014/main" id="{B7A3DBB4-E61A-41DB-AB0D-ECE0B2A2E82B}"/>
              </a:ext>
            </a:extLst>
          </p:cNvPr>
          <p:cNvSpPr txBox="1"/>
          <p:nvPr/>
        </p:nvSpPr>
        <p:spPr>
          <a:xfrm>
            <a:off x="335126" y="4503798"/>
            <a:ext cx="5596918" cy="2215991"/>
          </a:xfrm>
          <a:prstGeom prst="rect">
            <a:avLst/>
          </a:prstGeom>
          <a:noFill/>
          <a:ln>
            <a:noFill/>
          </a:ln>
        </p:spPr>
        <p:txBody>
          <a:bodyPr wrap="square" rtlCol="0">
            <a:spAutoFit/>
          </a:bodyPr>
          <a:lstStyle/>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grow </a:t>
            </a:r>
            <a:r>
              <a:rPr lang="en-GB" sz="1800" b="1" i="0" dirty="0">
                <a:solidFill>
                  <a:schemeClr val="accent2">
                    <a:lumMod val="60000"/>
                    <a:lumOff val="40000"/>
                  </a:schemeClr>
                </a:solidFill>
                <a:effectLst/>
                <a:latin typeface="Century Gothic" panose="020B0502020202020204" pitchFamily="34" charset="0"/>
              </a:rPr>
              <a:t>plants</a:t>
            </a:r>
            <a:r>
              <a:rPr lang="en-GB" sz="1800" i="0" dirty="0">
                <a:solidFill>
                  <a:schemeClr val="accent2">
                    <a:lumMod val="60000"/>
                    <a:lumOff val="40000"/>
                  </a:schemeClr>
                </a:solidFill>
                <a:effectLst/>
                <a:latin typeface="Century Gothic" panose="020B0502020202020204" pitchFamily="34" charset="0"/>
              </a:rPr>
              <a:t> on land containing copper ores</a:t>
            </a:r>
          </a:p>
          <a:p>
            <a:pPr marL="342900" indent="-342900" algn="l">
              <a:spcBef>
                <a:spcPts val="1200"/>
              </a:spcBef>
              <a:spcAft>
                <a:spcPts val="0"/>
              </a:spcAft>
              <a:buFont typeface="Arial" panose="020B0604020202020204" pitchFamily="34" charset="0"/>
              <a:buChar char="•"/>
            </a:pPr>
            <a:r>
              <a:rPr lang="en-GB" sz="1800" b="1" i="0" dirty="0">
                <a:solidFill>
                  <a:schemeClr val="accent2">
                    <a:lumMod val="60000"/>
                    <a:lumOff val="40000"/>
                  </a:schemeClr>
                </a:solidFill>
                <a:effectLst/>
                <a:latin typeface="Century Gothic" panose="020B0502020202020204" pitchFamily="34" charset="0"/>
              </a:rPr>
              <a:t>burn</a:t>
            </a:r>
            <a:r>
              <a:rPr lang="en-GB" sz="1800" i="0" dirty="0">
                <a:solidFill>
                  <a:schemeClr val="accent2">
                    <a:lumMod val="60000"/>
                    <a:lumOff val="40000"/>
                  </a:schemeClr>
                </a:solidFill>
                <a:effectLst/>
                <a:latin typeface="Century Gothic" panose="020B0502020202020204" pitchFamily="34" charset="0"/>
              </a:rPr>
              <a:t> th</a:t>
            </a:r>
            <a:r>
              <a:rPr lang="en-GB" sz="1800" dirty="0">
                <a:solidFill>
                  <a:schemeClr val="accent2">
                    <a:lumMod val="60000"/>
                    <a:lumOff val="40000"/>
                  </a:schemeClr>
                </a:solidFill>
                <a:latin typeface="Century Gothic" panose="020B0502020202020204" pitchFamily="34" charset="0"/>
              </a:rPr>
              <a:t>e plants to form ash (copper oxide)</a:t>
            </a:r>
            <a:endParaRPr lang="en-GB" sz="1800" i="0" dirty="0">
              <a:solidFill>
                <a:schemeClr val="accent2">
                  <a:lumMod val="60000"/>
                  <a:lumOff val="40000"/>
                </a:schemeClr>
              </a:solidFill>
              <a:effectLst/>
              <a:latin typeface="Century Gothic" panose="020B0502020202020204" pitchFamily="34" charset="0"/>
            </a:endParaRP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dissolve the copper oxide in (sulfuric) acid to form copper sulfate (leachate) </a:t>
            </a:r>
            <a:r>
              <a:rPr lang="en-GB" sz="1800" b="1" i="0" dirty="0">
                <a:solidFill>
                  <a:schemeClr val="accent2">
                    <a:lumMod val="60000"/>
                    <a:lumOff val="40000"/>
                  </a:schemeClr>
                </a:solidFill>
                <a:effectLst/>
                <a:latin typeface="Century Gothic" panose="020B0502020202020204" pitchFamily="34" charset="0"/>
              </a:rPr>
              <a:t>solution</a:t>
            </a: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carry out the </a:t>
            </a:r>
            <a:r>
              <a:rPr lang="en-GB" sz="1800" b="1" i="0" dirty="0">
                <a:solidFill>
                  <a:schemeClr val="accent2">
                    <a:lumMod val="60000"/>
                    <a:lumOff val="40000"/>
                  </a:schemeClr>
                </a:solidFill>
                <a:effectLst/>
                <a:latin typeface="Century Gothic" panose="020B0502020202020204" pitchFamily="34" charset="0"/>
              </a:rPr>
              <a:t>electrolysis</a:t>
            </a:r>
            <a:r>
              <a:rPr lang="en-GB" sz="1800" i="0" dirty="0">
                <a:solidFill>
                  <a:schemeClr val="accent2">
                    <a:lumMod val="60000"/>
                    <a:lumOff val="40000"/>
                  </a:schemeClr>
                </a:solidFill>
                <a:effectLst/>
                <a:latin typeface="Century Gothic" panose="020B0502020202020204" pitchFamily="34" charset="0"/>
              </a:rPr>
              <a:t> of this solution to form pure copper</a:t>
            </a:r>
          </a:p>
        </p:txBody>
      </p:sp>
      <p:pic>
        <p:nvPicPr>
          <p:cNvPr id="20" name="Picture 19" descr="Shape, arrow&#10;&#10;Description automatically generated">
            <a:extLst>
              <a:ext uri="{FF2B5EF4-FFF2-40B4-BE49-F238E27FC236}">
                <a16:creationId xmlns:a16="http://schemas.microsoft.com/office/drawing/2014/main" id="{2F0F854C-E082-574A-B428-617FA8EBFF66}"/>
              </a:ext>
            </a:extLst>
          </p:cNvPr>
          <p:cNvPicPr>
            <a:picLocks noChangeAspect="1"/>
          </p:cNvPicPr>
          <p:nvPr/>
        </p:nvPicPr>
        <p:blipFill>
          <a:blip r:embed="rId3"/>
          <a:stretch>
            <a:fillRect/>
          </a:stretch>
        </p:blipFill>
        <p:spPr>
          <a:xfrm>
            <a:off x="10290718" y="5571410"/>
            <a:ext cx="1182136" cy="1182136"/>
          </a:xfrm>
          <a:prstGeom prst="rect">
            <a:avLst/>
          </a:prstGeom>
        </p:spPr>
      </p:pic>
      <p:sp>
        <p:nvSpPr>
          <p:cNvPr id="2" name="TextBox 1">
            <a:extLst>
              <a:ext uri="{FF2B5EF4-FFF2-40B4-BE49-F238E27FC236}">
                <a16:creationId xmlns:a16="http://schemas.microsoft.com/office/drawing/2014/main" id="{5F3F488F-36CB-FE4A-94A9-8F8BD092DEC8}"/>
              </a:ext>
            </a:extLst>
          </p:cNvPr>
          <p:cNvSpPr txBox="1"/>
          <p:nvPr/>
        </p:nvSpPr>
        <p:spPr>
          <a:xfrm>
            <a:off x="218921" y="855835"/>
            <a:ext cx="2489414" cy="369332"/>
          </a:xfrm>
          <a:prstGeom prst="rect">
            <a:avLst/>
          </a:prstGeom>
          <a:noFill/>
        </p:spPr>
        <p:txBody>
          <a:bodyPr wrap="square" rtlCol="0">
            <a:spAutoFit/>
          </a:bodyPr>
          <a:lstStyle/>
          <a:p>
            <a:r>
              <a:rPr lang="en-GB">
                <a:solidFill>
                  <a:schemeClr val="bg1">
                    <a:lumMod val="50000"/>
                  </a:schemeClr>
                </a:solidFill>
                <a:latin typeface="Century Gothic" panose="020B0502020202020204" pitchFamily="34" charset="0"/>
              </a:rPr>
              <a:t>Example question:</a:t>
            </a:r>
          </a:p>
        </p:txBody>
      </p:sp>
      <p:sp>
        <p:nvSpPr>
          <p:cNvPr id="21" name="TextBox 20">
            <a:extLst>
              <a:ext uri="{FF2B5EF4-FFF2-40B4-BE49-F238E27FC236}">
                <a16:creationId xmlns:a16="http://schemas.microsoft.com/office/drawing/2014/main" id="{12163F85-209C-5545-936C-371E724261DE}"/>
              </a:ext>
            </a:extLst>
          </p:cNvPr>
          <p:cNvSpPr txBox="1"/>
          <p:nvPr/>
        </p:nvSpPr>
        <p:spPr>
          <a:xfrm>
            <a:off x="251005" y="4180054"/>
            <a:ext cx="2339513" cy="369332"/>
          </a:xfrm>
          <a:prstGeom prst="rect">
            <a:avLst/>
          </a:prstGeom>
          <a:noFill/>
        </p:spPr>
        <p:txBody>
          <a:bodyPr wrap="square" rtlCol="0">
            <a:spAutoFit/>
          </a:bodyPr>
          <a:lstStyle/>
          <a:p>
            <a:r>
              <a:rPr lang="en-GB" dirty="0">
                <a:solidFill>
                  <a:schemeClr val="bg1">
                    <a:lumMod val="50000"/>
                  </a:schemeClr>
                </a:solidFill>
                <a:latin typeface="Century Gothic" panose="020B0502020202020204" pitchFamily="34" charset="0"/>
              </a:rPr>
              <a:t>Model answer:</a:t>
            </a:r>
          </a:p>
        </p:txBody>
      </p:sp>
      <p:sp>
        <p:nvSpPr>
          <p:cNvPr id="9" name="Rectangle 8">
            <a:extLst>
              <a:ext uri="{FF2B5EF4-FFF2-40B4-BE49-F238E27FC236}">
                <a16:creationId xmlns:a16="http://schemas.microsoft.com/office/drawing/2014/main" id="{A07B0842-5305-4C43-A260-1CE4004B73D0}"/>
              </a:ext>
            </a:extLst>
          </p:cNvPr>
          <p:cNvSpPr/>
          <p:nvPr/>
        </p:nvSpPr>
        <p:spPr>
          <a:xfrm>
            <a:off x="6811966" y="926759"/>
            <a:ext cx="4303388" cy="4524315"/>
          </a:xfrm>
          <a:prstGeom prst="rect">
            <a:avLst/>
          </a:prstGeom>
        </p:spPr>
        <p:txBody>
          <a:bodyPr wrap="square">
            <a:spAutoFit/>
          </a:bodyPr>
          <a:lstStyle/>
          <a:p>
            <a:r>
              <a:rPr lang="en-GB" sz="2400">
                <a:latin typeface="Century Gothic" panose="020B0502020202020204" pitchFamily="34" charset="0"/>
              </a:rPr>
              <a:t>To ‘describe’, your answer should:</a:t>
            </a:r>
          </a:p>
          <a:p>
            <a:pPr algn="ctr"/>
            <a:endParaRPr lang="en-GB" sz="2400">
              <a:latin typeface="Century Gothic" panose="020B0502020202020204" pitchFamily="34" charset="0"/>
            </a:endParaRPr>
          </a:p>
          <a:p>
            <a:pPr marL="285750" indent="-285750">
              <a:buFont typeface="Arial" panose="020B0604020202020204" pitchFamily="34" charset="0"/>
              <a:buChar char="•"/>
            </a:pPr>
            <a:r>
              <a:rPr lang="en-GB" sz="2400">
                <a:latin typeface="Century Gothic" panose="020B0502020202020204" pitchFamily="34" charset="0"/>
              </a:rPr>
              <a:t>Use </a:t>
            </a:r>
            <a:r>
              <a:rPr lang="en-GB" sz="2400" b="1">
                <a:latin typeface="Century Gothic" panose="020B0502020202020204" pitchFamily="34" charset="0"/>
              </a:rPr>
              <a:t>bullet points </a:t>
            </a:r>
            <a:r>
              <a:rPr lang="en-GB" sz="2400">
                <a:latin typeface="Century Gothic" panose="020B0502020202020204" pitchFamily="34" charset="0"/>
              </a:rPr>
              <a:t>to keep your answer clear</a:t>
            </a:r>
          </a:p>
          <a:p>
            <a:pPr marL="285750" indent="-285750">
              <a:buFont typeface="Arial" panose="020B0604020202020204" pitchFamily="34" charset="0"/>
              <a:buChar char="•"/>
            </a:pPr>
            <a:r>
              <a:rPr lang="en-GB" sz="2400">
                <a:latin typeface="Century Gothic" panose="020B0502020202020204" pitchFamily="34" charset="0"/>
              </a:rPr>
              <a:t>Cover enough points to </a:t>
            </a:r>
            <a:r>
              <a:rPr lang="en-GB" sz="2400" b="1">
                <a:latin typeface="Century Gothic" panose="020B0502020202020204" pitchFamily="34" charset="0"/>
              </a:rPr>
              <a:t>fully answer </a:t>
            </a:r>
            <a:r>
              <a:rPr lang="en-GB" sz="2400">
                <a:latin typeface="Century Gothic" panose="020B0502020202020204" pitchFamily="34" charset="0"/>
              </a:rPr>
              <a:t>the question</a:t>
            </a:r>
          </a:p>
          <a:p>
            <a:pPr marL="285750" indent="-285750">
              <a:buFont typeface="Arial" panose="020B0604020202020204" pitchFamily="34" charset="0"/>
              <a:buChar char="•"/>
            </a:pPr>
            <a:r>
              <a:rPr lang="en-GB" sz="2400">
                <a:latin typeface="Century Gothic" panose="020B0502020202020204" pitchFamily="34" charset="0"/>
              </a:rPr>
              <a:t>Use scientific </a:t>
            </a:r>
            <a:r>
              <a:rPr lang="en-GB" sz="2400" b="1">
                <a:latin typeface="Century Gothic" panose="020B0502020202020204" pitchFamily="34" charset="0"/>
              </a:rPr>
              <a:t>keywords</a:t>
            </a:r>
            <a:r>
              <a:rPr lang="en-GB" sz="2400">
                <a:latin typeface="Century Gothic" panose="020B0502020202020204" pitchFamily="34" charset="0"/>
              </a:rPr>
              <a:t> in your answer</a:t>
            </a:r>
          </a:p>
          <a:p>
            <a:pPr marL="285750" indent="-285750">
              <a:buFont typeface="Arial" panose="020B0604020202020204" pitchFamily="34" charset="0"/>
              <a:buChar char="•"/>
            </a:pPr>
            <a:r>
              <a:rPr lang="en-GB" sz="2400">
                <a:latin typeface="Century Gothic" panose="020B0502020202020204" pitchFamily="34" charset="0"/>
              </a:rPr>
              <a:t>‘</a:t>
            </a:r>
            <a:r>
              <a:rPr lang="en-GB" sz="2400" b="1">
                <a:latin typeface="Century Gothic" panose="020B0502020202020204" pitchFamily="34" charset="0"/>
              </a:rPr>
              <a:t>Say what you see</a:t>
            </a:r>
            <a:r>
              <a:rPr lang="en-GB" sz="2400">
                <a:latin typeface="Century Gothic" panose="020B0502020202020204" pitchFamily="34" charset="0"/>
              </a:rPr>
              <a:t>’ if there is a diagram, graph or table. </a:t>
            </a:r>
          </a:p>
        </p:txBody>
      </p:sp>
    </p:spTree>
    <p:extLst>
      <p:ext uri="{BB962C8B-B14F-4D97-AF65-F5344CB8AC3E}">
        <p14:creationId xmlns:p14="http://schemas.microsoft.com/office/powerpoint/2010/main" val="147214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96B27-BC5F-44BF-BDF5-A20B8148A74B}"/>
              </a:ext>
            </a:extLst>
          </p:cNvPr>
          <p:cNvSpPr>
            <a:spLocks noGrp="1"/>
          </p:cNvSpPr>
          <p:nvPr>
            <p:ph type="title"/>
          </p:nvPr>
        </p:nvSpPr>
        <p:spPr>
          <a:xfrm>
            <a:off x="301037" y="104454"/>
            <a:ext cx="11136983" cy="461665"/>
          </a:xfrm>
        </p:spPr>
        <p:txBody>
          <a:bodyPr>
            <a:noAutofit/>
          </a:bodyPr>
          <a:lstStyle/>
          <a:p>
            <a:r>
              <a:rPr lang="en-GB" dirty="0">
                <a:latin typeface="Century Gothic" panose="020B0502020202020204" pitchFamily="34" charset="0"/>
              </a:rPr>
              <a:t>You: Describe: </a:t>
            </a:r>
            <a:r>
              <a:rPr lang="en-GB" i="1" dirty="0">
                <a:latin typeface="Century Gothic" panose="020B0502020202020204" pitchFamily="34" charset="0"/>
              </a:rPr>
              <a:t>to recall facts, events or processes in an accurate way</a:t>
            </a:r>
          </a:p>
        </p:txBody>
      </p:sp>
      <p:sp>
        <p:nvSpPr>
          <p:cNvPr id="6" name="TextBox 5">
            <a:extLst>
              <a:ext uri="{FF2B5EF4-FFF2-40B4-BE49-F238E27FC236}">
                <a16:creationId xmlns:a16="http://schemas.microsoft.com/office/drawing/2014/main" id="{738BD3D1-C602-476B-9ED5-198C26001B3D}"/>
              </a:ext>
            </a:extLst>
          </p:cNvPr>
          <p:cNvSpPr txBox="1"/>
          <p:nvPr/>
        </p:nvSpPr>
        <p:spPr>
          <a:xfrm>
            <a:off x="218920" y="1123386"/>
            <a:ext cx="6534805" cy="2092881"/>
          </a:xfrm>
          <a:prstGeom prst="rect">
            <a:avLst/>
          </a:prstGeom>
          <a:noFill/>
          <a:ln>
            <a:noFill/>
          </a:ln>
        </p:spPr>
        <p:txBody>
          <a:bodyPr wrap="square" rtlCol="0">
            <a:spAutoFit/>
          </a:bodyPr>
          <a:lstStyle/>
          <a:p>
            <a:pPr algn="l">
              <a:spcBef>
                <a:spcPts val="1200"/>
              </a:spcBef>
              <a:spcAft>
                <a:spcPts val="0"/>
              </a:spcAft>
            </a:pPr>
            <a:r>
              <a:rPr lang="en-GB" sz="2400" b="0" i="0" dirty="0">
                <a:solidFill>
                  <a:srgbClr val="222222"/>
                </a:solidFill>
                <a:effectLst/>
                <a:latin typeface="Century Gothic" panose="020B0502020202020204" pitchFamily="34" charset="0"/>
              </a:rPr>
              <a:t>Phytomining is used to obtain copper from land that contains very low percentages of copper compounds.</a:t>
            </a:r>
          </a:p>
          <a:p>
            <a:pPr algn="l">
              <a:spcBef>
                <a:spcPts val="1200"/>
              </a:spcBef>
              <a:spcAft>
                <a:spcPts val="0"/>
              </a:spcAft>
            </a:pPr>
            <a:r>
              <a:rPr lang="en-GB" sz="2400" b="1" i="0" dirty="0">
                <a:solidFill>
                  <a:srgbClr val="009193"/>
                </a:solidFill>
                <a:effectLst/>
                <a:latin typeface="Century Gothic" panose="020B0502020202020204" pitchFamily="34" charset="0"/>
              </a:rPr>
              <a:t>Describe</a:t>
            </a:r>
            <a:r>
              <a:rPr lang="en-GB" sz="2400" b="0" i="0" dirty="0">
                <a:solidFill>
                  <a:srgbClr val="222222"/>
                </a:solidFill>
                <a:effectLst/>
                <a:latin typeface="Century Gothic" panose="020B0502020202020204" pitchFamily="34" charset="0"/>
              </a:rPr>
              <a:t> how copper compounds are extracted by phytomining.</a:t>
            </a:r>
            <a:endParaRPr lang="en-US" sz="2400" b="1" dirty="0">
              <a:solidFill>
                <a:srgbClr val="009193"/>
              </a:solidFill>
              <a:latin typeface="Century Gothic" panose="020B0502020202020204" pitchFamily="34" charset="0"/>
            </a:endParaRPr>
          </a:p>
        </p:txBody>
      </p:sp>
      <p:sp>
        <p:nvSpPr>
          <p:cNvPr id="7" name="TextBox 6">
            <a:extLst>
              <a:ext uri="{FF2B5EF4-FFF2-40B4-BE49-F238E27FC236}">
                <a16:creationId xmlns:a16="http://schemas.microsoft.com/office/drawing/2014/main" id="{B7A3DBB4-E61A-41DB-AB0D-ECE0B2A2E82B}"/>
              </a:ext>
            </a:extLst>
          </p:cNvPr>
          <p:cNvSpPr txBox="1"/>
          <p:nvPr/>
        </p:nvSpPr>
        <p:spPr>
          <a:xfrm>
            <a:off x="335126" y="3701693"/>
            <a:ext cx="5596918" cy="2215991"/>
          </a:xfrm>
          <a:prstGeom prst="rect">
            <a:avLst/>
          </a:prstGeom>
          <a:noFill/>
          <a:ln>
            <a:noFill/>
          </a:ln>
        </p:spPr>
        <p:txBody>
          <a:bodyPr wrap="square" rtlCol="0">
            <a:spAutoFit/>
          </a:bodyPr>
          <a:lstStyle/>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grow </a:t>
            </a:r>
            <a:r>
              <a:rPr lang="en-GB" sz="1800" b="1" i="0" dirty="0">
                <a:solidFill>
                  <a:schemeClr val="accent2">
                    <a:lumMod val="60000"/>
                    <a:lumOff val="40000"/>
                  </a:schemeClr>
                </a:solidFill>
                <a:effectLst/>
                <a:latin typeface="Century Gothic" panose="020B0502020202020204" pitchFamily="34" charset="0"/>
              </a:rPr>
              <a:t>plants</a:t>
            </a:r>
            <a:r>
              <a:rPr lang="en-GB" sz="1800" i="0" dirty="0">
                <a:solidFill>
                  <a:schemeClr val="accent2">
                    <a:lumMod val="60000"/>
                    <a:lumOff val="40000"/>
                  </a:schemeClr>
                </a:solidFill>
                <a:effectLst/>
                <a:latin typeface="Century Gothic" panose="020B0502020202020204" pitchFamily="34" charset="0"/>
              </a:rPr>
              <a:t> on land containing copper ores</a:t>
            </a:r>
          </a:p>
          <a:p>
            <a:pPr marL="342900" indent="-342900" algn="l">
              <a:spcBef>
                <a:spcPts val="1200"/>
              </a:spcBef>
              <a:spcAft>
                <a:spcPts val="0"/>
              </a:spcAft>
              <a:buFont typeface="Arial" panose="020B0604020202020204" pitchFamily="34" charset="0"/>
              <a:buChar char="•"/>
            </a:pPr>
            <a:r>
              <a:rPr lang="en-GB" sz="1800" b="1" i="0" dirty="0">
                <a:solidFill>
                  <a:schemeClr val="accent2">
                    <a:lumMod val="60000"/>
                    <a:lumOff val="40000"/>
                  </a:schemeClr>
                </a:solidFill>
                <a:effectLst/>
                <a:latin typeface="Century Gothic" panose="020B0502020202020204" pitchFamily="34" charset="0"/>
              </a:rPr>
              <a:t>burn</a:t>
            </a:r>
            <a:r>
              <a:rPr lang="en-GB" sz="1800" i="0" dirty="0">
                <a:solidFill>
                  <a:schemeClr val="accent2">
                    <a:lumMod val="60000"/>
                    <a:lumOff val="40000"/>
                  </a:schemeClr>
                </a:solidFill>
                <a:effectLst/>
                <a:latin typeface="Century Gothic" panose="020B0502020202020204" pitchFamily="34" charset="0"/>
              </a:rPr>
              <a:t> th</a:t>
            </a:r>
            <a:r>
              <a:rPr lang="en-GB" sz="1800" dirty="0">
                <a:solidFill>
                  <a:schemeClr val="accent2">
                    <a:lumMod val="60000"/>
                    <a:lumOff val="40000"/>
                  </a:schemeClr>
                </a:solidFill>
                <a:latin typeface="Century Gothic" panose="020B0502020202020204" pitchFamily="34" charset="0"/>
              </a:rPr>
              <a:t>e plants to form ash (copper oxide)</a:t>
            </a:r>
            <a:endParaRPr lang="en-GB" sz="1800" i="0" dirty="0">
              <a:solidFill>
                <a:schemeClr val="accent2">
                  <a:lumMod val="60000"/>
                  <a:lumOff val="40000"/>
                </a:schemeClr>
              </a:solidFill>
              <a:effectLst/>
              <a:latin typeface="Century Gothic" panose="020B0502020202020204" pitchFamily="34" charset="0"/>
            </a:endParaRP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dissolve the copper oxide in (sulfuric) acid to form copper sulfate (leachate) </a:t>
            </a:r>
            <a:r>
              <a:rPr lang="en-GB" sz="1800" b="1" i="0" dirty="0">
                <a:solidFill>
                  <a:schemeClr val="accent2">
                    <a:lumMod val="60000"/>
                    <a:lumOff val="40000"/>
                  </a:schemeClr>
                </a:solidFill>
                <a:effectLst/>
                <a:latin typeface="Century Gothic" panose="020B0502020202020204" pitchFamily="34" charset="0"/>
              </a:rPr>
              <a:t>solution</a:t>
            </a:r>
          </a:p>
          <a:p>
            <a:pPr marL="342900" indent="-342900" algn="l">
              <a:spcBef>
                <a:spcPts val="1200"/>
              </a:spcBef>
              <a:spcAft>
                <a:spcPts val="0"/>
              </a:spcAft>
              <a:buFont typeface="Arial" panose="020B0604020202020204" pitchFamily="34" charset="0"/>
              <a:buChar char="•"/>
            </a:pPr>
            <a:r>
              <a:rPr lang="en-GB" sz="1800" i="0" dirty="0">
                <a:solidFill>
                  <a:schemeClr val="accent2">
                    <a:lumMod val="60000"/>
                    <a:lumOff val="40000"/>
                  </a:schemeClr>
                </a:solidFill>
                <a:effectLst/>
                <a:latin typeface="Century Gothic" panose="020B0502020202020204" pitchFamily="34" charset="0"/>
              </a:rPr>
              <a:t>carry out the </a:t>
            </a:r>
            <a:r>
              <a:rPr lang="en-GB" sz="1800" b="1" i="0" dirty="0">
                <a:solidFill>
                  <a:schemeClr val="accent2">
                    <a:lumMod val="60000"/>
                    <a:lumOff val="40000"/>
                  </a:schemeClr>
                </a:solidFill>
                <a:effectLst/>
                <a:latin typeface="Century Gothic" panose="020B0502020202020204" pitchFamily="34" charset="0"/>
              </a:rPr>
              <a:t>electrolysis</a:t>
            </a:r>
            <a:r>
              <a:rPr lang="en-GB" sz="1800" i="0" dirty="0">
                <a:solidFill>
                  <a:schemeClr val="accent2">
                    <a:lumMod val="60000"/>
                    <a:lumOff val="40000"/>
                  </a:schemeClr>
                </a:solidFill>
                <a:effectLst/>
                <a:latin typeface="Century Gothic" panose="020B0502020202020204" pitchFamily="34" charset="0"/>
              </a:rPr>
              <a:t> of this solution to form pure copper</a:t>
            </a:r>
          </a:p>
        </p:txBody>
      </p:sp>
      <p:pic>
        <p:nvPicPr>
          <p:cNvPr id="20" name="Picture 19" descr="Shape, arrow&#10;&#10;Description automatically generated">
            <a:extLst>
              <a:ext uri="{FF2B5EF4-FFF2-40B4-BE49-F238E27FC236}">
                <a16:creationId xmlns:a16="http://schemas.microsoft.com/office/drawing/2014/main" id="{2F0F854C-E082-574A-B428-617FA8EBFF66}"/>
              </a:ext>
            </a:extLst>
          </p:cNvPr>
          <p:cNvPicPr>
            <a:picLocks noChangeAspect="1"/>
          </p:cNvPicPr>
          <p:nvPr/>
        </p:nvPicPr>
        <p:blipFill>
          <a:blip r:embed="rId3"/>
          <a:stretch>
            <a:fillRect/>
          </a:stretch>
        </p:blipFill>
        <p:spPr>
          <a:xfrm>
            <a:off x="10290718" y="5571410"/>
            <a:ext cx="1182136" cy="1182136"/>
          </a:xfrm>
          <a:prstGeom prst="rect">
            <a:avLst/>
          </a:prstGeom>
        </p:spPr>
      </p:pic>
      <p:sp>
        <p:nvSpPr>
          <p:cNvPr id="2" name="TextBox 1">
            <a:extLst>
              <a:ext uri="{FF2B5EF4-FFF2-40B4-BE49-F238E27FC236}">
                <a16:creationId xmlns:a16="http://schemas.microsoft.com/office/drawing/2014/main" id="{5F3F488F-36CB-FE4A-94A9-8F8BD092DEC8}"/>
              </a:ext>
            </a:extLst>
          </p:cNvPr>
          <p:cNvSpPr txBox="1"/>
          <p:nvPr/>
        </p:nvSpPr>
        <p:spPr>
          <a:xfrm>
            <a:off x="218921" y="855835"/>
            <a:ext cx="2489414" cy="369332"/>
          </a:xfrm>
          <a:prstGeom prst="rect">
            <a:avLst/>
          </a:prstGeom>
          <a:noFill/>
        </p:spPr>
        <p:txBody>
          <a:bodyPr wrap="square" rtlCol="0">
            <a:spAutoFit/>
          </a:bodyPr>
          <a:lstStyle/>
          <a:p>
            <a:r>
              <a:rPr lang="en-GB">
                <a:solidFill>
                  <a:schemeClr val="bg1">
                    <a:lumMod val="50000"/>
                  </a:schemeClr>
                </a:solidFill>
                <a:latin typeface="Century Gothic" panose="020B0502020202020204" pitchFamily="34" charset="0"/>
              </a:rPr>
              <a:t>Example question:</a:t>
            </a:r>
          </a:p>
        </p:txBody>
      </p:sp>
      <p:sp>
        <p:nvSpPr>
          <p:cNvPr id="21" name="TextBox 20">
            <a:extLst>
              <a:ext uri="{FF2B5EF4-FFF2-40B4-BE49-F238E27FC236}">
                <a16:creationId xmlns:a16="http://schemas.microsoft.com/office/drawing/2014/main" id="{12163F85-209C-5545-936C-371E724261DE}"/>
              </a:ext>
            </a:extLst>
          </p:cNvPr>
          <p:cNvSpPr txBox="1"/>
          <p:nvPr/>
        </p:nvSpPr>
        <p:spPr>
          <a:xfrm>
            <a:off x="251005" y="3377949"/>
            <a:ext cx="2339513" cy="369332"/>
          </a:xfrm>
          <a:prstGeom prst="rect">
            <a:avLst/>
          </a:prstGeom>
          <a:noFill/>
        </p:spPr>
        <p:txBody>
          <a:bodyPr wrap="square" rtlCol="0">
            <a:spAutoFit/>
          </a:bodyPr>
          <a:lstStyle/>
          <a:p>
            <a:r>
              <a:rPr lang="en-GB" dirty="0">
                <a:solidFill>
                  <a:schemeClr val="bg1">
                    <a:lumMod val="50000"/>
                  </a:schemeClr>
                </a:solidFill>
                <a:latin typeface="Century Gothic" panose="020B0502020202020204" pitchFamily="34" charset="0"/>
              </a:rPr>
              <a:t>Model answer:</a:t>
            </a:r>
          </a:p>
        </p:txBody>
      </p:sp>
      <p:sp>
        <p:nvSpPr>
          <p:cNvPr id="9" name="Rectangle 8">
            <a:extLst>
              <a:ext uri="{FF2B5EF4-FFF2-40B4-BE49-F238E27FC236}">
                <a16:creationId xmlns:a16="http://schemas.microsoft.com/office/drawing/2014/main" id="{A07B0842-5305-4C43-A260-1CE4004B73D0}"/>
              </a:ext>
            </a:extLst>
          </p:cNvPr>
          <p:cNvSpPr/>
          <p:nvPr/>
        </p:nvSpPr>
        <p:spPr>
          <a:xfrm>
            <a:off x="6811966" y="926759"/>
            <a:ext cx="4303388" cy="4524315"/>
          </a:xfrm>
          <a:prstGeom prst="rect">
            <a:avLst/>
          </a:prstGeom>
        </p:spPr>
        <p:txBody>
          <a:bodyPr wrap="square">
            <a:spAutoFit/>
          </a:bodyPr>
          <a:lstStyle/>
          <a:p>
            <a:r>
              <a:rPr lang="en-GB" sz="2400">
                <a:latin typeface="Century Gothic" panose="020B0502020202020204" pitchFamily="34" charset="0"/>
              </a:rPr>
              <a:t>To ‘describe’, your answer should:</a:t>
            </a:r>
          </a:p>
          <a:p>
            <a:pPr algn="ctr"/>
            <a:endParaRPr lang="en-GB" sz="2400">
              <a:latin typeface="Century Gothic" panose="020B0502020202020204" pitchFamily="34" charset="0"/>
            </a:endParaRPr>
          </a:p>
          <a:p>
            <a:pPr marL="285750" indent="-285750">
              <a:buFont typeface="Arial" panose="020B0604020202020204" pitchFamily="34" charset="0"/>
              <a:buChar char="•"/>
            </a:pPr>
            <a:r>
              <a:rPr lang="en-GB" sz="2400">
                <a:latin typeface="Century Gothic" panose="020B0502020202020204" pitchFamily="34" charset="0"/>
              </a:rPr>
              <a:t>Use </a:t>
            </a:r>
            <a:r>
              <a:rPr lang="en-GB" sz="2400" b="1">
                <a:latin typeface="Century Gothic" panose="020B0502020202020204" pitchFamily="34" charset="0"/>
              </a:rPr>
              <a:t>bullet points </a:t>
            </a:r>
            <a:r>
              <a:rPr lang="en-GB" sz="2400">
                <a:latin typeface="Century Gothic" panose="020B0502020202020204" pitchFamily="34" charset="0"/>
              </a:rPr>
              <a:t>to keep your answer clear</a:t>
            </a:r>
          </a:p>
          <a:p>
            <a:pPr marL="285750" indent="-285750">
              <a:buFont typeface="Arial" panose="020B0604020202020204" pitchFamily="34" charset="0"/>
              <a:buChar char="•"/>
            </a:pPr>
            <a:r>
              <a:rPr lang="en-GB" sz="2400">
                <a:latin typeface="Century Gothic" panose="020B0502020202020204" pitchFamily="34" charset="0"/>
              </a:rPr>
              <a:t>Cover enough points to </a:t>
            </a:r>
            <a:r>
              <a:rPr lang="en-GB" sz="2400" b="1">
                <a:latin typeface="Century Gothic" panose="020B0502020202020204" pitchFamily="34" charset="0"/>
              </a:rPr>
              <a:t>fully answer </a:t>
            </a:r>
            <a:r>
              <a:rPr lang="en-GB" sz="2400">
                <a:latin typeface="Century Gothic" panose="020B0502020202020204" pitchFamily="34" charset="0"/>
              </a:rPr>
              <a:t>the question</a:t>
            </a:r>
          </a:p>
          <a:p>
            <a:pPr marL="285750" indent="-285750">
              <a:buFont typeface="Arial" panose="020B0604020202020204" pitchFamily="34" charset="0"/>
              <a:buChar char="•"/>
            </a:pPr>
            <a:r>
              <a:rPr lang="en-GB" sz="2400">
                <a:latin typeface="Century Gothic" panose="020B0502020202020204" pitchFamily="34" charset="0"/>
              </a:rPr>
              <a:t>Use scientific </a:t>
            </a:r>
            <a:r>
              <a:rPr lang="en-GB" sz="2400" b="1">
                <a:latin typeface="Century Gothic" panose="020B0502020202020204" pitchFamily="34" charset="0"/>
              </a:rPr>
              <a:t>keywords</a:t>
            </a:r>
            <a:r>
              <a:rPr lang="en-GB" sz="2400">
                <a:latin typeface="Century Gothic" panose="020B0502020202020204" pitchFamily="34" charset="0"/>
              </a:rPr>
              <a:t> in your answer</a:t>
            </a:r>
          </a:p>
          <a:p>
            <a:pPr marL="285750" indent="-285750">
              <a:buFont typeface="Arial" panose="020B0604020202020204" pitchFamily="34" charset="0"/>
              <a:buChar char="•"/>
            </a:pPr>
            <a:r>
              <a:rPr lang="en-GB" sz="2400">
                <a:latin typeface="Century Gothic" panose="020B0502020202020204" pitchFamily="34" charset="0"/>
              </a:rPr>
              <a:t>‘</a:t>
            </a:r>
            <a:r>
              <a:rPr lang="en-GB" sz="2400" b="1">
                <a:latin typeface="Century Gothic" panose="020B0502020202020204" pitchFamily="34" charset="0"/>
              </a:rPr>
              <a:t>Say what you see</a:t>
            </a:r>
            <a:r>
              <a:rPr lang="en-GB" sz="2400">
                <a:latin typeface="Century Gothic" panose="020B0502020202020204" pitchFamily="34" charset="0"/>
              </a:rPr>
              <a:t>’ if there is a diagram, graph or table. </a:t>
            </a:r>
          </a:p>
        </p:txBody>
      </p:sp>
    </p:spTree>
    <p:extLst>
      <p:ext uri="{BB962C8B-B14F-4D97-AF65-F5344CB8AC3E}">
        <p14:creationId xmlns:p14="http://schemas.microsoft.com/office/powerpoint/2010/main" val="124119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5F1F7C-BDE0-DA2C-FE2C-9E17138931EF}"/>
              </a:ext>
            </a:extLst>
          </p:cNvPr>
          <p:cNvPicPr>
            <a:picLocks noChangeAspect="1"/>
          </p:cNvPicPr>
          <p:nvPr/>
        </p:nvPicPr>
        <p:blipFill>
          <a:blip r:embed="rId3"/>
          <a:stretch>
            <a:fillRect/>
          </a:stretch>
        </p:blipFill>
        <p:spPr>
          <a:xfrm>
            <a:off x="586741" y="908685"/>
            <a:ext cx="10500107" cy="5263515"/>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A</a:t>
            </a:r>
          </a:p>
        </p:txBody>
      </p:sp>
      <p:sp>
        <p:nvSpPr>
          <p:cNvPr id="5" name="TextBox 4">
            <a:extLst>
              <a:ext uri="{FF2B5EF4-FFF2-40B4-BE49-F238E27FC236}">
                <a16:creationId xmlns:a16="http://schemas.microsoft.com/office/drawing/2014/main" id="{51B77549-6758-4DCD-AA0D-436034FC9E20}"/>
              </a:ext>
            </a:extLst>
          </p:cNvPr>
          <p:cNvSpPr txBox="1"/>
          <p:nvPr/>
        </p:nvSpPr>
        <p:spPr>
          <a:xfrm>
            <a:off x="586741" y="5710536"/>
            <a:ext cx="2681753" cy="461664"/>
          </a:xfrm>
          <a:prstGeom prst="rect">
            <a:avLst/>
          </a:prstGeom>
          <a:solidFill>
            <a:schemeClr val="bg1"/>
          </a:solidFill>
        </p:spPr>
        <p:txBody>
          <a:bodyPr wrap="square" rtlCol="0">
            <a:spAutoFit/>
          </a:bodyPr>
          <a:lstStyle/>
          <a:p>
            <a:pPr algn="ctr"/>
            <a:r>
              <a:rPr lang="en-GB" sz="2400" b="1" dirty="0">
                <a:solidFill>
                  <a:schemeClr val="accent2">
                    <a:lumMod val="60000"/>
                    <a:lumOff val="40000"/>
                  </a:schemeClr>
                </a:solidFill>
                <a:latin typeface="Century Gothic" panose="020B0502020202020204" pitchFamily="34" charset="0"/>
              </a:rPr>
              <a:t>phytomining</a:t>
            </a:r>
          </a:p>
        </p:txBody>
      </p:sp>
      <p:cxnSp>
        <p:nvCxnSpPr>
          <p:cNvPr id="11" name="Straight Connector 10">
            <a:extLst>
              <a:ext uri="{FF2B5EF4-FFF2-40B4-BE49-F238E27FC236}">
                <a16:creationId xmlns:a16="http://schemas.microsoft.com/office/drawing/2014/main" id="{DEABA9A8-07E4-CAEB-ACE7-1B330C0D20F2}"/>
              </a:ext>
            </a:extLst>
          </p:cNvPr>
          <p:cNvCxnSpPr/>
          <p:nvPr/>
        </p:nvCxnSpPr>
        <p:spPr>
          <a:xfrm>
            <a:off x="2661812" y="2001203"/>
            <a:ext cx="1630680" cy="6096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59851F3-B8B8-965C-B0CE-ACEB75F84484}"/>
              </a:ext>
            </a:extLst>
          </p:cNvPr>
          <p:cNvCxnSpPr>
            <a:cxnSpLocks/>
          </p:cNvCxnSpPr>
          <p:nvPr/>
        </p:nvCxnSpPr>
        <p:spPr>
          <a:xfrm flipV="1">
            <a:off x="2661812" y="2001203"/>
            <a:ext cx="1630680" cy="6172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2458277-4791-9451-4C15-16F231089298}"/>
              </a:ext>
            </a:extLst>
          </p:cNvPr>
          <p:cNvCxnSpPr>
            <a:cxnSpLocks/>
          </p:cNvCxnSpPr>
          <p:nvPr/>
        </p:nvCxnSpPr>
        <p:spPr>
          <a:xfrm>
            <a:off x="2661812" y="3235643"/>
            <a:ext cx="163068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E9E9040-0517-4A0F-E22A-19D9069C80AD}"/>
              </a:ext>
            </a:extLst>
          </p:cNvPr>
          <p:cNvSpPr txBox="1"/>
          <p:nvPr/>
        </p:nvSpPr>
        <p:spPr>
          <a:xfrm>
            <a:off x="3871446" y="5710534"/>
            <a:ext cx="2509085" cy="461665"/>
          </a:xfrm>
          <a:prstGeom prst="rect">
            <a:avLst/>
          </a:prstGeom>
          <a:solidFill>
            <a:schemeClr val="bg1"/>
          </a:solidFill>
        </p:spPr>
        <p:txBody>
          <a:bodyPr wrap="square" rtlCol="0">
            <a:spAutoFit/>
          </a:bodyPr>
          <a:lstStyle/>
          <a:p>
            <a:pPr algn="ctr"/>
            <a:r>
              <a:rPr lang="en-GB" sz="2400" b="1" dirty="0">
                <a:solidFill>
                  <a:schemeClr val="accent2">
                    <a:lumMod val="60000"/>
                    <a:lumOff val="40000"/>
                  </a:schemeClr>
                </a:solidFill>
                <a:latin typeface="Century Gothic" panose="020B0502020202020204" pitchFamily="34" charset="0"/>
              </a:rPr>
              <a:t>bioleaching</a:t>
            </a:r>
          </a:p>
        </p:txBody>
      </p:sp>
      <p:sp>
        <p:nvSpPr>
          <p:cNvPr id="13" name="TextBox 12">
            <a:extLst>
              <a:ext uri="{FF2B5EF4-FFF2-40B4-BE49-F238E27FC236}">
                <a16:creationId xmlns:a16="http://schemas.microsoft.com/office/drawing/2014/main" id="{C991C5E2-36D7-0FDB-5030-AAA584820F76}"/>
              </a:ext>
            </a:extLst>
          </p:cNvPr>
          <p:cNvSpPr txBox="1"/>
          <p:nvPr/>
        </p:nvSpPr>
        <p:spPr>
          <a:xfrm>
            <a:off x="8035047" y="4676162"/>
            <a:ext cx="2487039" cy="479498"/>
          </a:xfrm>
          <a:prstGeom prst="rect">
            <a:avLst/>
          </a:prstGeom>
          <a:solidFill>
            <a:schemeClr val="bg1"/>
          </a:solidFill>
        </p:spPr>
        <p:txBody>
          <a:bodyPr wrap="square" rtlCol="0">
            <a:spAutoFit/>
          </a:bodyPr>
          <a:lstStyle/>
          <a:p>
            <a:pPr algn="ctr"/>
            <a:r>
              <a:rPr lang="en-GB" sz="2400" b="1" dirty="0">
                <a:solidFill>
                  <a:schemeClr val="accent2">
                    <a:lumMod val="60000"/>
                    <a:lumOff val="40000"/>
                  </a:schemeClr>
                </a:solidFill>
                <a:latin typeface="Century Gothic" panose="020B0502020202020204" pitchFamily="34" charset="0"/>
              </a:rPr>
              <a:t>metal</a:t>
            </a:r>
          </a:p>
        </p:txBody>
      </p:sp>
    </p:spTree>
    <p:extLst>
      <p:ext uri="{BB962C8B-B14F-4D97-AF65-F5344CB8AC3E}">
        <p14:creationId xmlns:p14="http://schemas.microsoft.com/office/powerpoint/2010/main" val="381680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EB862E9-39FB-771C-CABB-720AF2562A1D}"/>
              </a:ext>
            </a:extLst>
          </p:cNvPr>
          <p:cNvPicPr>
            <a:picLocks noChangeAspect="1"/>
          </p:cNvPicPr>
          <p:nvPr/>
        </p:nvPicPr>
        <p:blipFill>
          <a:blip r:embed="rId3"/>
          <a:stretch>
            <a:fillRect/>
          </a:stretch>
        </p:blipFill>
        <p:spPr>
          <a:xfrm>
            <a:off x="228715" y="719999"/>
            <a:ext cx="9032017" cy="5918854"/>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A</a:t>
            </a:r>
          </a:p>
        </p:txBody>
      </p:sp>
      <p:sp>
        <p:nvSpPr>
          <p:cNvPr id="5" name="TextBox 4">
            <a:extLst>
              <a:ext uri="{FF2B5EF4-FFF2-40B4-BE49-F238E27FC236}">
                <a16:creationId xmlns:a16="http://schemas.microsoft.com/office/drawing/2014/main" id="{51B77549-6758-4DCD-AA0D-436034FC9E20}"/>
              </a:ext>
            </a:extLst>
          </p:cNvPr>
          <p:cNvSpPr txBox="1"/>
          <p:nvPr/>
        </p:nvSpPr>
        <p:spPr>
          <a:xfrm>
            <a:off x="528375" y="1017245"/>
            <a:ext cx="8732357"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Destroys habitats</a:t>
            </a:r>
          </a:p>
        </p:txBody>
      </p:sp>
      <p:sp>
        <p:nvSpPr>
          <p:cNvPr id="7" name="TextBox 6">
            <a:extLst>
              <a:ext uri="{FF2B5EF4-FFF2-40B4-BE49-F238E27FC236}">
                <a16:creationId xmlns:a16="http://schemas.microsoft.com/office/drawing/2014/main" id="{13A1A11B-AFA5-1B09-BABE-04A725F2309F}"/>
              </a:ext>
            </a:extLst>
          </p:cNvPr>
          <p:cNvSpPr txBox="1"/>
          <p:nvPr/>
        </p:nvSpPr>
        <p:spPr>
          <a:xfrm>
            <a:off x="528375" y="2121090"/>
            <a:ext cx="8732357"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Fixed amount on Earth and doesn’t replenish</a:t>
            </a:r>
          </a:p>
        </p:txBody>
      </p:sp>
      <p:sp>
        <p:nvSpPr>
          <p:cNvPr id="8" name="TextBox 7">
            <a:extLst>
              <a:ext uri="{FF2B5EF4-FFF2-40B4-BE49-F238E27FC236}">
                <a16:creationId xmlns:a16="http://schemas.microsoft.com/office/drawing/2014/main" id="{89353845-A7CB-15F8-5777-B09788210F29}"/>
              </a:ext>
            </a:extLst>
          </p:cNvPr>
          <p:cNvSpPr txBox="1"/>
          <p:nvPr/>
        </p:nvSpPr>
        <p:spPr>
          <a:xfrm>
            <a:off x="528375" y="2994102"/>
            <a:ext cx="10812340"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Both use organisms. Both used to obtain copper ore from low-grade ore</a:t>
            </a:r>
          </a:p>
        </p:txBody>
      </p:sp>
      <p:sp>
        <p:nvSpPr>
          <p:cNvPr id="9" name="TextBox 8">
            <a:extLst>
              <a:ext uri="{FF2B5EF4-FFF2-40B4-BE49-F238E27FC236}">
                <a16:creationId xmlns:a16="http://schemas.microsoft.com/office/drawing/2014/main" id="{B28E8914-EC28-B570-FD81-282C21E27228}"/>
              </a:ext>
            </a:extLst>
          </p:cNvPr>
          <p:cNvSpPr txBox="1"/>
          <p:nvPr/>
        </p:nvSpPr>
        <p:spPr>
          <a:xfrm>
            <a:off x="540000" y="3798227"/>
            <a:ext cx="8720732"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Copper ore is becoming more scarce.</a:t>
            </a:r>
          </a:p>
          <a:p>
            <a:r>
              <a:rPr lang="en-GB" sz="2400" b="1" dirty="0">
                <a:solidFill>
                  <a:schemeClr val="accent2">
                    <a:lumMod val="60000"/>
                    <a:lumOff val="40000"/>
                  </a:schemeClr>
                </a:solidFill>
                <a:latin typeface="Century Gothic" panose="020B0502020202020204" pitchFamily="34" charset="0"/>
              </a:rPr>
              <a:t>Methods used to extract copper ore are costly.</a:t>
            </a:r>
          </a:p>
        </p:txBody>
      </p:sp>
      <p:sp>
        <p:nvSpPr>
          <p:cNvPr id="13" name="TextBox 12">
            <a:extLst>
              <a:ext uri="{FF2B5EF4-FFF2-40B4-BE49-F238E27FC236}">
                <a16:creationId xmlns:a16="http://schemas.microsoft.com/office/drawing/2014/main" id="{FF8FB08B-E1D4-4F4B-BF70-81052E65BC52}"/>
              </a:ext>
            </a:extLst>
          </p:cNvPr>
          <p:cNvSpPr txBox="1"/>
          <p:nvPr/>
        </p:nvSpPr>
        <p:spPr>
          <a:xfrm>
            <a:off x="789677" y="5444711"/>
            <a:ext cx="8276502"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Reduction with carbon.</a:t>
            </a:r>
          </a:p>
        </p:txBody>
      </p:sp>
      <p:sp>
        <p:nvSpPr>
          <p:cNvPr id="15" name="TextBox 14">
            <a:extLst>
              <a:ext uri="{FF2B5EF4-FFF2-40B4-BE49-F238E27FC236}">
                <a16:creationId xmlns:a16="http://schemas.microsoft.com/office/drawing/2014/main" id="{CB2490CF-88BB-BFD8-F974-1E1CE8E574E5}"/>
              </a:ext>
            </a:extLst>
          </p:cNvPr>
          <p:cNvSpPr txBox="1"/>
          <p:nvPr/>
        </p:nvSpPr>
        <p:spPr>
          <a:xfrm>
            <a:off x="789677" y="6011043"/>
            <a:ext cx="8276502"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Electrolysis of copper compounds in solution.</a:t>
            </a:r>
          </a:p>
        </p:txBody>
      </p:sp>
    </p:spTree>
    <p:extLst>
      <p:ext uri="{BB962C8B-B14F-4D97-AF65-F5344CB8AC3E}">
        <p14:creationId xmlns:p14="http://schemas.microsoft.com/office/powerpoint/2010/main" val="210764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3"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3F3775-60DF-C6D0-C8EC-23B1733C4BB2}"/>
              </a:ext>
            </a:extLst>
          </p:cNvPr>
          <p:cNvPicPr>
            <a:picLocks noChangeAspect="1"/>
          </p:cNvPicPr>
          <p:nvPr/>
        </p:nvPicPr>
        <p:blipFill>
          <a:blip r:embed="rId3"/>
          <a:stretch>
            <a:fillRect/>
          </a:stretch>
        </p:blipFill>
        <p:spPr>
          <a:xfrm>
            <a:off x="528374" y="853967"/>
            <a:ext cx="10711943" cy="5157076"/>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B</a:t>
            </a:r>
          </a:p>
        </p:txBody>
      </p:sp>
      <p:sp>
        <p:nvSpPr>
          <p:cNvPr id="7" name="TextBox 6">
            <a:extLst>
              <a:ext uri="{FF2B5EF4-FFF2-40B4-BE49-F238E27FC236}">
                <a16:creationId xmlns:a16="http://schemas.microsoft.com/office/drawing/2014/main" id="{13A1A11B-AFA5-1B09-BABE-04A725F2309F}"/>
              </a:ext>
            </a:extLst>
          </p:cNvPr>
          <p:cNvSpPr txBox="1"/>
          <p:nvPr/>
        </p:nvSpPr>
        <p:spPr>
          <a:xfrm>
            <a:off x="893318" y="1290093"/>
            <a:ext cx="10266682" cy="1200329"/>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Copper is a non-renewable resources and is becoming more scarce. We need copper to make electrical wiring so methods have been developed for extraction from the remaining low-grade ores.</a:t>
            </a:r>
          </a:p>
        </p:txBody>
      </p:sp>
      <p:sp>
        <p:nvSpPr>
          <p:cNvPr id="8" name="TextBox 7">
            <a:extLst>
              <a:ext uri="{FF2B5EF4-FFF2-40B4-BE49-F238E27FC236}">
                <a16:creationId xmlns:a16="http://schemas.microsoft.com/office/drawing/2014/main" id="{89353845-A7CB-15F8-5777-B09788210F29}"/>
              </a:ext>
            </a:extLst>
          </p:cNvPr>
          <p:cNvSpPr txBox="1"/>
          <p:nvPr/>
        </p:nvSpPr>
        <p:spPr>
          <a:xfrm>
            <a:off x="893318" y="3431536"/>
            <a:ext cx="10094229"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Plants absorb metal ions from soil containing low-grade copper ore and store them.</a:t>
            </a:r>
          </a:p>
        </p:txBody>
      </p:sp>
      <p:sp>
        <p:nvSpPr>
          <p:cNvPr id="9" name="TextBox 8">
            <a:extLst>
              <a:ext uri="{FF2B5EF4-FFF2-40B4-BE49-F238E27FC236}">
                <a16:creationId xmlns:a16="http://schemas.microsoft.com/office/drawing/2014/main" id="{B28E8914-EC28-B570-FD81-282C21E27228}"/>
              </a:ext>
            </a:extLst>
          </p:cNvPr>
          <p:cNvSpPr txBox="1"/>
          <p:nvPr/>
        </p:nvSpPr>
        <p:spPr>
          <a:xfrm>
            <a:off x="951682" y="4163789"/>
            <a:ext cx="10208317"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The plants are burned in oxygen to produce copper oxide and carbon dioxide.</a:t>
            </a:r>
          </a:p>
        </p:txBody>
      </p:sp>
      <p:sp>
        <p:nvSpPr>
          <p:cNvPr id="13" name="TextBox 12">
            <a:extLst>
              <a:ext uri="{FF2B5EF4-FFF2-40B4-BE49-F238E27FC236}">
                <a16:creationId xmlns:a16="http://schemas.microsoft.com/office/drawing/2014/main" id="{FF8FB08B-E1D4-4F4B-BF70-81052E65BC52}"/>
              </a:ext>
            </a:extLst>
          </p:cNvPr>
          <p:cNvSpPr txBox="1"/>
          <p:nvPr/>
        </p:nvSpPr>
        <p:spPr>
          <a:xfrm>
            <a:off x="951681" y="4900033"/>
            <a:ext cx="10035865"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The copper oxide is added to sulfuric acid to form copper sulfate solution which is then electrolysed to obtain pure copper.</a:t>
            </a:r>
          </a:p>
        </p:txBody>
      </p:sp>
    </p:spTree>
    <p:extLst>
      <p:ext uri="{BB962C8B-B14F-4D97-AF65-F5344CB8AC3E}">
        <p14:creationId xmlns:p14="http://schemas.microsoft.com/office/powerpoint/2010/main" val="21716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71C75D-EF7D-1376-6A76-D2AEDA2DB6E5}"/>
              </a:ext>
            </a:extLst>
          </p:cNvPr>
          <p:cNvPicPr>
            <a:picLocks noChangeAspect="1"/>
          </p:cNvPicPr>
          <p:nvPr/>
        </p:nvPicPr>
        <p:blipFill>
          <a:blip r:embed="rId3"/>
          <a:stretch>
            <a:fillRect/>
          </a:stretch>
        </p:blipFill>
        <p:spPr>
          <a:xfrm>
            <a:off x="539999" y="719999"/>
            <a:ext cx="10608787" cy="4688580"/>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B</a:t>
            </a:r>
          </a:p>
        </p:txBody>
      </p:sp>
      <p:sp>
        <p:nvSpPr>
          <p:cNvPr id="6" name="TextBox 5">
            <a:extLst>
              <a:ext uri="{FF2B5EF4-FFF2-40B4-BE49-F238E27FC236}">
                <a16:creationId xmlns:a16="http://schemas.microsoft.com/office/drawing/2014/main" id="{94CF95C4-A068-A975-33CC-16167EF8B5CC}"/>
              </a:ext>
            </a:extLst>
          </p:cNvPr>
          <p:cNvSpPr txBox="1"/>
          <p:nvPr/>
        </p:nvSpPr>
        <p:spPr>
          <a:xfrm>
            <a:off x="962659" y="1449421"/>
            <a:ext cx="10266682" cy="1200329"/>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Carbon dioxide is the waste gas produced which has an environmental impact because carbon dioxide is a greenhouse gas contributing to global warming.</a:t>
            </a:r>
          </a:p>
        </p:txBody>
      </p:sp>
      <p:sp>
        <p:nvSpPr>
          <p:cNvPr id="7" name="TextBox 6">
            <a:extLst>
              <a:ext uri="{FF2B5EF4-FFF2-40B4-BE49-F238E27FC236}">
                <a16:creationId xmlns:a16="http://schemas.microsoft.com/office/drawing/2014/main" id="{9F0DF935-17E6-764F-1295-4C2DF7CF147C}"/>
              </a:ext>
            </a:extLst>
          </p:cNvPr>
          <p:cNvSpPr txBox="1"/>
          <p:nvPr/>
        </p:nvSpPr>
        <p:spPr>
          <a:xfrm>
            <a:off x="1043214" y="3277184"/>
            <a:ext cx="9482114"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Reduces the need for mining of rock which destroys habitats.</a:t>
            </a:r>
          </a:p>
          <a:p>
            <a:endParaRPr lang="en-GB" sz="2400" b="1" dirty="0">
              <a:solidFill>
                <a:schemeClr val="accent2">
                  <a:lumMod val="60000"/>
                  <a:lumOff val="40000"/>
                </a:schemeClr>
              </a:solidFill>
              <a:latin typeface="Century Gothic" panose="020B0502020202020204" pitchFamily="34" charset="0"/>
            </a:endParaRPr>
          </a:p>
        </p:txBody>
      </p:sp>
      <p:sp>
        <p:nvSpPr>
          <p:cNvPr id="9" name="TextBox 8">
            <a:extLst>
              <a:ext uri="{FF2B5EF4-FFF2-40B4-BE49-F238E27FC236}">
                <a16:creationId xmlns:a16="http://schemas.microsoft.com/office/drawing/2014/main" id="{04692A9E-495E-E7A1-F381-A32424189C7A}"/>
              </a:ext>
            </a:extLst>
          </p:cNvPr>
          <p:cNvSpPr txBox="1"/>
          <p:nvPr/>
        </p:nvSpPr>
        <p:spPr>
          <a:xfrm>
            <a:off x="1004304" y="4475801"/>
            <a:ext cx="9482114" cy="1200329"/>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Copper ore is running out so should be recycled/reused.</a:t>
            </a:r>
          </a:p>
          <a:p>
            <a:r>
              <a:rPr lang="en-GB" sz="2400" b="1" dirty="0">
                <a:solidFill>
                  <a:schemeClr val="accent2">
                    <a:lumMod val="60000"/>
                    <a:lumOff val="40000"/>
                  </a:schemeClr>
                </a:solidFill>
                <a:latin typeface="Century Gothic" panose="020B0502020202020204" pitchFamily="34" charset="0"/>
              </a:rPr>
              <a:t>Landfill sites are filling up.</a:t>
            </a:r>
          </a:p>
          <a:p>
            <a:r>
              <a:rPr lang="en-GB" sz="2400" b="1" dirty="0">
                <a:solidFill>
                  <a:schemeClr val="accent2">
                    <a:lumMod val="60000"/>
                    <a:lumOff val="40000"/>
                  </a:schemeClr>
                </a:solidFill>
                <a:latin typeface="Century Gothic" panose="020B0502020202020204" pitchFamily="34" charset="0"/>
              </a:rPr>
              <a:t>Copper compounds are toxic to organisms</a:t>
            </a:r>
          </a:p>
        </p:txBody>
      </p:sp>
    </p:spTree>
    <p:extLst>
      <p:ext uri="{BB962C8B-B14F-4D97-AF65-F5344CB8AC3E}">
        <p14:creationId xmlns:p14="http://schemas.microsoft.com/office/powerpoint/2010/main" val="1094001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C</a:t>
            </a:r>
          </a:p>
        </p:txBody>
      </p:sp>
      <p:pic>
        <p:nvPicPr>
          <p:cNvPr id="4" name="Picture 3">
            <a:extLst>
              <a:ext uri="{FF2B5EF4-FFF2-40B4-BE49-F238E27FC236}">
                <a16:creationId xmlns:a16="http://schemas.microsoft.com/office/drawing/2014/main" id="{1D2D75AD-4D9B-0055-A96B-98E612EC3A50}"/>
              </a:ext>
            </a:extLst>
          </p:cNvPr>
          <p:cNvPicPr>
            <a:picLocks noChangeAspect="1"/>
          </p:cNvPicPr>
          <p:nvPr/>
        </p:nvPicPr>
        <p:blipFill>
          <a:blip r:embed="rId3"/>
          <a:stretch>
            <a:fillRect/>
          </a:stretch>
        </p:blipFill>
        <p:spPr>
          <a:xfrm>
            <a:off x="540000" y="719999"/>
            <a:ext cx="8851900" cy="5914265"/>
          </a:xfrm>
          <a:prstGeom prst="rect">
            <a:avLst/>
          </a:prstGeom>
        </p:spPr>
      </p:pic>
      <p:sp>
        <p:nvSpPr>
          <p:cNvPr id="6" name="TextBox 5">
            <a:extLst>
              <a:ext uri="{FF2B5EF4-FFF2-40B4-BE49-F238E27FC236}">
                <a16:creationId xmlns:a16="http://schemas.microsoft.com/office/drawing/2014/main" id="{116E3002-88FC-D5CC-D8CF-C290406C8980}"/>
              </a:ext>
            </a:extLst>
          </p:cNvPr>
          <p:cNvSpPr txBox="1"/>
          <p:nvPr/>
        </p:nvSpPr>
        <p:spPr>
          <a:xfrm>
            <a:off x="1490687" y="2783188"/>
            <a:ext cx="7901213"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Good electrical conductor</a:t>
            </a:r>
          </a:p>
        </p:txBody>
      </p:sp>
      <p:sp>
        <p:nvSpPr>
          <p:cNvPr id="7" name="TextBox 6">
            <a:extLst>
              <a:ext uri="{FF2B5EF4-FFF2-40B4-BE49-F238E27FC236}">
                <a16:creationId xmlns:a16="http://schemas.microsoft.com/office/drawing/2014/main" id="{63920A56-A89B-573B-0EE1-F304EE60A2E6}"/>
              </a:ext>
            </a:extLst>
          </p:cNvPr>
          <p:cNvSpPr txBox="1"/>
          <p:nvPr/>
        </p:nvSpPr>
        <p:spPr>
          <a:xfrm>
            <a:off x="1490686" y="3132028"/>
            <a:ext cx="7901213"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Ductile </a:t>
            </a:r>
          </a:p>
        </p:txBody>
      </p:sp>
      <p:sp>
        <p:nvSpPr>
          <p:cNvPr id="8" name="TextBox 7">
            <a:extLst>
              <a:ext uri="{FF2B5EF4-FFF2-40B4-BE49-F238E27FC236}">
                <a16:creationId xmlns:a16="http://schemas.microsoft.com/office/drawing/2014/main" id="{F190CABE-85C9-9A16-19EB-E58B46D1AE68}"/>
              </a:ext>
            </a:extLst>
          </p:cNvPr>
          <p:cNvSpPr txBox="1"/>
          <p:nvPr/>
        </p:nvSpPr>
        <p:spPr>
          <a:xfrm>
            <a:off x="6095999" y="3433174"/>
            <a:ext cx="3295899"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CuS </a:t>
            </a:r>
          </a:p>
        </p:txBody>
      </p:sp>
      <p:sp>
        <p:nvSpPr>
          <p:cNvPr id="9" name="TextBox 8">
            <a:extLst>
              <a:ext uri="{FF2B5EF4-FFF2-40B4-BE49-F238E27FC236}">
                <a16:creationId xmlns:a16="http://schemas.microsoft.com/office/drawing/2014/main" id="{2370BD19-DC95-9484-3212-9807949AC85C}"/>
              </a:ext>
            </a:extLst>
          </p:cNvPr>
          <p:cNvSpPr txBox="1"/>
          <p:nvPr/>
        </p:nvSpPr>
        <p:spPr>
          <a:xfrm>
            <a:off x="1171605" y="5617972"/>
            <a:ext cx="7901213"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CuS + O</a:t>
            </a:r>
            <a:r>
              <a:rPr lang="en-GB" sz="2400" b="1" baseline="-25000" dirty="0">
                <a:solidFill>
                  <a:schemeClr val="accent2">
                    <a:lumMod val="60000"/>
                    <a:lumOff val="40000"/>
                  </a:schemeClr>
                </a:solidFill>
                <a:latin typeface="Century Gothic" panose="020B0502020202020204" pitchFamily="34" charset="0"/>
              </a:rPr>
              <a:t>2</a:t>
            </a:r>
            <a:r>
              <a:rPr lang="en-GB" sz="2400" b="1" dirty="0">
                <a:solidFill>
                  <a:schemeClr val="accent2">
                    <a:lumMod val="60000"/>
                    <a:lumOff val="40000"/>
                  </a:schemeClr>
                </a:solidFill>
                <a:latin typeface="Century Gothic" panose="020B0502020202020204" pitchFamily="34" charset="0"/>
              </a:rPr>
              <a:t> </a:t>
            </a:r>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 Cu + SO</a:t>
            </a:r>
            <a:r>
              <a:rPr lang="en-GB" sz="2400" b="1" baseline="-25000" dirty="0">
                <a:solidFill>
                  <a:schemeClr val="accent2">
                    <a:lumMod val="60000"/>
                    <a:lumOff val="40000"/>
                  </a:schemeClr>
                </a:solidFill>
                <a:latin typeface="Century Gothic" panose="020B0502020202020204" pitchFamily="34" charset="0"/>
              </a:rPr>
              <a:t>2</a:t>
            </a:r>
            <a:r>
              <a:rPr lang="en-GB" sz="2400" b="1" dirty="0">
                <a:solidFill>
                  <a:schemeClr val="accent2">
                    <a:lumMod val="60000"/>
                    <a:lumOff val="40000"/>
                  </a:schemeClr>
                </a:solidFill>
                <a:latin typeface="Century Gothic" panose="020B0502020202020204" pitchFamily="34" charset="0"/>
              </a:rPr>
              <a:t> </a:t>
            </a:r>
          </a:p>
        </p:txBody>
      </p:sp>
      <p:sp>
        <p:nvSpPr>
          <p:cNvPr id="10" name="TextBox 9">
            <a:extLst>
              <a:ext uri="{FF2B5EF4-FFF2-40B4-BE49-F238E27FC236}">
                <a16:creationId xmlns:a16="http://schemas.microsoft.com/office/drawing/2014/main" id="{BF5C581A-02F6-7415-BCE3-D2B25429FCBB}"/>
              </a:ext>
            </a:extLst>
          </p:cNvPr>
          <p:cNvSpPr txBox="1"/>
          <p:nvPr/>
        </p:nvSpPr>
        <p:spPr>
          <a:xfrm>
            <a:off x="1171605" y="6342627"/>
            <a:ext cx="9489910"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Using fossil fuels produces CO</a:t>
            </a:r>
            <a:r>
              <a:rPr lang="en-GB" sz="2400" b="1" baseline="-25000" dirty="0">
                <a:solidFill>
                  <a:schemeClr val="accent2">
                    <a:lumMod val="60000"/>
                    <a:lumOff val="40000"/>
                  </a:schemeClr>
                </a:solidFill>
                <a:latin typeface="Century Gothic" panose="020B0502020202020204" pitchFamily="34" charset="0"/>
              </a:rPr>
              <a:t>2 </a:t>
            </a:r>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which is a greenhouse gas. </a:t>
            </a:r>
          </a:p>
        </p:txBody>
      </p:sp>
      <p:sp>
        <p:nvSpPr>
          <p:cNvPr id="11" name="TextBox 10">
            <a:extLst>
              <a:ext uri="{FF2B5EF4-FFF2-40B4-BE49-F238E27FC236}">
                <a16:creationId xmlns:a16="http://schemas.microsoft.com/office/drawing/2014/main" id="{843CCE76-6821-E676-67F3-D43B4A8291B4}"/>
              </a:ext>
            </a:extLst>
          </p:cNvPr>
          <p:cNvSpPr txBox="1"/>
          <p:nvPr/>
        </p:nvSpPr>
        <p:spPr>
          <a:xfrm>
            <a:off x="6972572" y="5950702"/>
            <a:ext cx="4467156"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SO</a:t>
            </a:r>
            <a:r>
              <a:rPr lang="en-GB" sz="2400" b="1" baseline="-25000" dirty="0">
                <a:solidFill>
                  <a:schemeClr val="accent2">
                    <a:lumMod val="60000"/>
                    <a:lumOff val="40000"/>
                  </a:schemeClr>
                </a:solidFill>
                <a:latin typeface="Century Gothic" panose="020B0502020202020204" pitchFamily="34" charset="0"/>
              </a:rPr>
              <a:t>2 </a:t>
            </a:r>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pollutes the atmosphere.</a:t>
            </a:r>
            <a:r>
              <a:rPr lang="en-GB" sz="2400" b="1" dirty="0">
                <a:solidFill>
                  <a:schemeClr val="accent2">
                    <a:lumMod val="60000"/>
                    <a:lumOff val="40000"/>
                  </a:schemeClr>
                </a:solidFill>
                <a:latin typeface="Century Gothic" panose="020B0502020202020204" pitchFamily="34" charset="0"/>
              </a:rPr>
              <a:t> </a:t>
            </a:r>
          </a:p>
        </p:txBody>
      </p:sp>
    </p:spTree>
    <p:extLst>
      <p:ext uri="{BB962C8B-B14F-4D97-AF65-F5344CB8AC3E}">
        <p14:creationId xmlns:p14="http://schemas.microsoft.com/office/powerpoint/2010/main" val="186587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C5D7CA-D636-3272-D918-8C66B27945ED}"/>
              </a:ext>
            </a:extLst>
          </p:cNvPr>
          <p:cNvPicPr>
            <a:picLocks noChangeAspect="1"/>
          </p:cNvPicPr>
          <p:nvPr/>
        </p:nvPicPr>
        <p:blipFill>
          <a:blip r:embed="rId3"/>
          <a:stretch>
            <a:fillRect/>
          </a:stretch>
        </p:blipFill>
        <p:spPr>
          <a:xfrm>
            <a:off x="535792" y="778363"/>
            <a:ext cx="10331525" cy="5634004"/>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C</a:t>
            </a:r>
          </a:p>
        </p:txBody>
      </p:sp>
      <p:sp>
        <p:nvSpPr>
          <p:cNvPr id="7" name="TextBox 6">
            <a:extLst>
              <a:ext uri="{FF2B5EF4-FFF2-40B4-BE49-F238E27FC236}">
                <a16:creationId xmlns:a16="http://schemas.microsoft.com/office/drawing/2014/main" id="{63920A56-A89B-573B-0EE1-F304EE60A2E6}"/>
              </a:ext>
            </a:extLst>
          </p:cNvPr>
          <p:cNvSpPr txBox="1"/>
          <p:nvPr/>
        </p:nvSpPr>
        <p:spPr>
          <a:xfrm>
            <a:off x="977051" y="2109942"/>
            <a:ext cx="9314812" cy="461665"/>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A solution of ions produced by bacteria in bioleaching. </a:t>
            </a:r>
          </a:p>
        </p:txBody>
      </p:sp>
      <p:sp>
        <p:nvSpPr>
          <p:cNvPr id="8" name="TextBox 7">
            <a:extLst>
              <a:ext uri="{FF2B5EF4-FFF2-40B4-BE49-F238E27FC236}">
                <a16:creationId xmlns:a16="http://schemas.microsoft.com/office/drawing/2014/main" id="{F190CABE-85C9-9A16-19EB-E58B46D1AE68}"/>
              </a:ext>
            </a:extLst>
          </p:cNvPr>
          <p:cNvSpPr txBox="1"/>
          <p:nvPr/>
        </p:nvSpPr>
        <p:spPr>
          <a:xfrm>
            <a:off x="977051" y="3595365"/>
            <a:ext cx="9314813" cy="1200329"/>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rPr>
              <a:t>At the negative electrode (cathode) because copper ions are positively charged so move towards the negative electrode.</a:t>
            </a:r>
          </a:p>
        </p:txBody>
      </p:sp>
      <p:sp>
        <p:nvSpPr>
          <p:cNvPr id="10" name="TextBox 9">
            <a:extLst>
              <a:ext uri="{FF2B5EF4-FFF2-40B4-BE49-F238E27FC236}">
                <a16:creationId xmlns:a16="http://schemas.microsoft.com/office/drawing/2014/main" id="{BF5C581A-02F6-7415-BCE3-D2B25429FCBB}"/>
              </a:ext>
            </a:extLst>
          </p:cNvPr>
          <p:cNvSpPr txBox="1"/>
          <p:nvPr/>
        </p:nvSpPr>
        <p:spPr>
          <a:xfrm>
            <a:off x="956599" y="5671268"/>
            <a:ext cx="9489910" cy="830997"/>
          </a:xfrm>
          <a:prstGeom prst="rect">
            <a:avLst/>
          </a:prstGeom>
          <a:solidFill>
            <a:schemeClr val="bg1"/>
          </a:solidFill>
        </p:spPr>
        <p:txBody>
          <a:bodyPr wrap="square" rtlCol="0">
            <a:spAutoFit/>
          </a:bodyPr>
          <a:lstStyle/>
          <a:p>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Land may not be available.</a:t>
            </a:r>
          </a:p>
          <a:p>
            <a:r>
              <a:rPr lang="en-GB" sz="2400" b="1" dirty="0">
                <a:solidFill>
                  <a:schemeClr val="accent2">
                    <a:lumMod val="60000"/>
                    <a:lumOff val="40000"/>
                  </a:schemeClr>
                </a:solidFill>
                <a:latin typeface="Century Gothic" panose="020B0502020202020204" pitchFamily="34" charset="0"/>
                <a:sym typeface="Wingdings" panose="05000000000000000000" pitchFamily="2" charset="2"/>
              </a:rPr>
              <a:t>Takes a long time for plants to grow.</a:t>
            </a:r>
          </a:p>
        </p:txBody>
      </p:sp>
    </p:spTree>
    <p:extLst>
      <p:ext uri="{BB962C8B-B14F-4D97-AF65-F5344CB8AC3E}">
        <p14:creationId xmlns:p14="http://schemas.microsoft.com/office/powerpoint/2010/main" val="310071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B9F055-7E68-9617-6C39-A5C75E258BD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53BCBC-8B9F-4C92-016E-793E6CFE7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07668207-4403-0234-9F00-49C16C97A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E9AE5BB5-4DB3-E7D7-4D69-68C9B1FA9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77586A44-21DA-C981-AE0B-D65A2E892604}"/>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E758B281-1B4B-DD60-5778-DDD667776F62}"/>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Deliberate Practice</a:t>
            </a:r>
          </a:p>
        </p:txBody>
      </p:sp>
      <p:sp>
        <p:nvSpPr>
          <p:cNvPr id="2" name="TextBox 1">
            <a:extLst>
              <a:ext uri="{FF2B5EF4-FFF2-40B4-BE49-F238E27FC236}">
                <a16:creationId xmlns:a16="http://schemas.microsoft.com/office/drawing/2014/main" id="{94BD0B4D-8415-F605-E864-BFB7DB3B8DCC}"/>
              </a:ext>
            </a:extLst>
          </p:cNvPr>
          <p:cNvSpPr txBox="1"/>
          <p:nvPr/>
        </p:nvSpPr>
        <p:spPr>
          <a:xfrm>
            <a:off x="1226480" y="201613"/>
            <a:ext cx="10618293" cy="9240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170" name="Picture 2">
            <a:extLst>
              <a:ext uri="{FF2B5EF4-FFF2-40B4-BE49-F238E27FC236}">
                <a16:creationId xmlns:a16="http://schemas.microsoft.com/office/drawing/2014/main" id="{75276E1B-B95E-B85E-61FB-93CE9B988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9740" y="-2757"/>
            <a:ext cx="1632176" cy="16284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Silent Solo">
            <a:extLst>
              <a:ext uri="{FF2B5EF4-FFF2-40B4-BE49-F238E27FC236}">
                <a16:creationId xmlns:a16="http://schemas.microsoft.com/office/drawing/2014/main" id="{4E537FD3-8694-A5B6-0FAD-44FC1F54FC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6982" y="-3108"/>
            <a:ext cx="1609298" cy="1609298"/>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59232637-063B-05D0-F252-B9A6EFB3019B}"/>
              </a:ext>
            </a:extLst>
          </p:cNvPr>
          <p:cNvGrpSpPr/>
          <p:nvPr/>
        </p:nvGrpSpPr>
        <p:grpSpPr>
          <a:xfrm>
            <a:off x="9614796" y="6387318"/>
            <a:ext cx="1994299" cy="478636"/>
            <a:chOff x="9614803" y="6387318"/>
            <a:chExt cx="1341657" cy="447712"/>
          </a:xfrm>
        </p:grpSpPr>
        <p:pic>
          <p:nvPicPr>
            <p:cNvPr id="15" name="Picture 14" descr="A picture containing text&#10;&#10;Description automatically generated">
              <a:extLst>
                <a:ext uri="{FF2B5EF4-FFF2-40B4-BE49-F238E27FC236}">
                  <a16:creationId xmlns:a16="http://schemas.microsoft.com/office/drawing/2014/main" id="{4BAF833D-6009-1BED-27AD-5085B6F32A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picture containing text, sign&#10;&#10;Description automatically generated">
              <a:extLst>
                <a:ext uri="{FF2B5EF4-FFF2-40B4-BE49-F238E27FC236}">
                  <a16:creationId xmlns:a16="http://schemas.microsoft.com/office/drawing/2014/main" id="{F664A9E1-D996-928E-4E1B-79AF7652B9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picture containing text&#10;&#10;Description automatically generated">
              <a:extLst>
                <a:ext uri="{FF2B5EF4-FFF2-40B4-BE49-F238E27FC236}">
                  <a16:creationId xmlns:a16="http://schemas.microsoft.com/office/drawing/2014/main" id="{49AC9BF8-DDD5-C067-49F9-2844421B74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D13820B1-56D7-9BF7-D2A9-CF94AA3EBE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Content Placeholder 4">
            <a:extLst>
              <a:ext uri="{FF2B5EF4-FFF2-40B4-BE49-F238E27FC236}">
                <a16:creationId xmlns:a16="http://schemas.microsoft.com/office/drawing/2014/main" id="{40C4611B-A5D1-186D-24B1-AC13FB155242}"/>
              </a:ext>
            </a:extLst>
          </p:cNvPr>
          <p:cNvSpPr>
            <a:spLocks noGrp="1"/>
          </p:cNvSpPr>
          <p:nvPr>
            <p:ph idx="1"/>
          </p:nvPr>
        </p:nvSpPr>
        <p:spPr>
          <a:xfrm>
            <a:off x="838200" y="1825625"/>
            <a:ext cx="10515600" cy="4351338"/>
          </a:xfrm>
        </p:spPr>
        <p:txBody>
          <a:bodyPr/>
          <a:lstStyle/>
          <a:p>
            <a:endParaRPr lang="en-US"/>
          </a:p>
        </p:txBody>
      </p:sp>
    </p:spTree>
    <p:extLst>
      <p:ext uri="{BB962C8B-B14F-4D97-AF65-F5344CB8AC3E}">
        <p14:creationId xmlns:p14="http://schemas.microsoft.com/office/powerpoint/2010/main" val="128215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1CA8D7-C006-B74B-106C-EF9D79B0176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97A2268-8627-CF8F-FC53-1E6EC8781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B71E6B1D-681A-2AB5-64F0-AE25BE77D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A3C0DEB3-2CF6-6ADF-9FA9-CED109446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156B8737-34F3-981A-FEFD-670E7B8AA36D}"/>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15B3FBD3-1CB0-3ACD-C3E8-333C1CB0EFD3}"/>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Deliberate Practice</a:t>
            </a:r>
          </a:p>
        </p:txBody>
      </p:sp>
      <p:sp>
        <p:nvSpPr>
          <p:cNvPr id="2" name="TextBox 1">
            <a:extLst>
              <a:ext uri="{FF2B5EF4-FFF2-40B4-BE49-F238E27FC236}">
                <a16:creationId xmlns:a16="http://schemas.microsoft.com/office/drawing/2014/main" id="{77A67BD2-6483-D1DF-234B-6092940F10DD}"/>
              </a:ext>
            </a:extLst>
          </p:cNvPr>
          <p:cNvSpPr txBox="1"/>
          <p:nvPr/>
        </p:nvSpPr>
        <p:spPr>
          <a:xfrm>
            <a:off x="1226480" y="201613"/>
            <a:ext cx="10618293" cy="9240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pSp>
        <p:nvGrpSpPr>
          <p:cNvPr id="20" name="Group 19">
            <a:extLst>
              <a:ext uri="{FF2B5EF4-FFF2-40B4-BE49-F238E27FC236}">
                <a16:creationId xmlns:a16="http://schemas.microsoft.com/office/drawing/2014/main" id="{7E8B9141-CA11-4BBC-301F-6A4B36F5F2FE}"/>
              </a:ext>
            </a:extLst>
          </p:cNvPr>
          <p:cNvGrpSpPr/>
          <p:nvPr/>
        </p:nvGrpSpPr>
        <p:grpSpPr>
          <a:xfrm>
            <a:off x="9614796" y="6387318"/>
            <a:ext cx="1994299" cy="478636"/>
            <a:chOff x="9614803" y="6387318"/>
            <a:chExt cx="1341657" cy="447712"/>
          </a:xfrm>
        </p:grpSpPr>
        <p:pic>
          <p:nvPicPr>
            <p:cNvPr id="15" name="Picture 14" descr="A picture containing text&#10;&#10;Description automatically generated">
              <a:extLst>
                <a:ext uri="{FF2B5EF4-FFF2-40B4-BE49-F238E27FC236}">
                  <a16:creationId xmlns:a16="http://schemas.microsoft.com/office/drawing/2014/main" id="{460FCC92-DE22-4B8D-87D5-F5A080DB9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picture containing text, sign&#10;&#10;Description automatically generated">
              <a:extLst>
                <a:ext uri="{FF2B5EF4-FFF2-40B4-BE49-F238E27FC236}">
                  <a16:creationId xmlns:a16="http://schemas.microsoft.com/office/drawing/2014/main" id="{349829CF-97A9-F6D8-2383-E560F726CA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picture containing text&#10;&#10;Description automatically generated">
              <a:extLst>
                <a:ext uri="{FF2B5EF4-FFF2-40B4-BE49-F238E27FC236}">
                  <a16:creationId xmlns:a16="http://schemas.microsoft.com/office/drawing/2014/main" id="{C52E9103-4D92-373F-9063-04CE068294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FFA1F1A4-3B6F-66A2-5FEF-381F2B97E7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itle 2">
            <a:extLst>
              <a:ext uri="{FF2B5EF4-FFF2-40B4-BE49-F238E27FC236}">
                <a16:creationId xmlns:a16="http://schemas.microsoft.com/office/drawing/2014/main" id="{2767C3F0-45B4-3B5D-7D2F-BB8B349FAEC4}"/>
              </a:ext>
            </a:extLst>
          </p:cNvPr>
          <p:cNvSpPr>
            <a:spLocks noGrp="1"/>
          </p:cNvSpPr>
          <p:nvPr>
            <p:ph type="title"/>
          </p:nvPr>
        </p:nvSpPr>
        <p:spPr>
          <a:xfrm>
            <a:off x="936469" y="352425"/>
            <a:ext cx="10814316" cy="461665"/>
          </a:xfrm>
        </p:spPr>
        <p:txBody>
          <a:bodyPr>
            <a:noAutofit/>
          </a:bodyPr>
          <a:lstStyle/>
          <a:p>
            <a:r>
              <a:rPr lang="en-GB" sz="2400" dirty="0">
                <a:latin typeface="Century Gothic" panose="020B0502020202020204" pitchFamily="34" charset="0"/>
              </a:rPr>
              <a:t>I: Describe: </a:t>
            </a:r>
            <a:r>
              <a:rPr lang="en-GB" sz="2400" i="1" dirty="0">
                <a:latin typeface="Century Gothic" panose="020B0502020202020204" pitchFamily="34" charset="0"/>
              </a:rPr>
              <a:t>to recall facts, events or processes in an accurate way</a:t>
            </a:r>
          </a:p>
        </p:txBody>
      </p:sp>
      <p:sp>
        <p:nvSpPr>
          <p:cNvPr id="6" name="TextBox 5">
            <a:extLst>
              <a:ext uri="{FF2B5EF4-FFF2-40B4-BE49-F238E27FC236}">
                <a16:creationId xmlns:a16="http://schemas.microsoft.com/office/drawing/2014/main" id="{CA3919A6-1AF2-ACC8-C464-B20E50F7E07F}"/>
              </a:ext>
            </a:extLst>
          </p:cNvPr>
          <p:cNvSpPr txBox="1"/>
          <p:nvPr/>
        </p:nvSpPr>
        <p:spPr>
          <a:xfrm>
            <a:off x="879253" y="1076877"/>
            <a:ext cx="10754743" cy="1569660"/>
          </a:xfrm>
          <a:prstGeom prst="rect">
            <a:avLst/>
          </a:prstGeom>
          <a:solidFill>
            <a:schemeClr val="accent2">
              <a:lumMod val="20000"/>
              <a:lumOff val="80000"/>
            </a:schemeClr>
          </a:solidFill>
          <a:ln>
            <a:noFill/>
          </a:ln>
        </p:spPr>
        <p:txBody>
          <a:bodyPr wrap="square" rtlCol="0">
            <a:spAutoFit/>
          </a:bodyPr>
          <a:lstStyle/>
          <a:p>
            <a:r>
              <a:rPr lang="en-US" sz="2400" dirty="0">
                <a:latin typeface="Century Gothic" panose="020B0502020202020204" pitchFamily="34" charset="0"/>
              </a:rPr>
              <a:t>Phytomining is used to obtain copper from land that contains very low percentages of copper compounds. </a:t>
            </a:r>
          </a:p>
          <a:p>
            <a:endParaRPr lang="en-US" sz="2400" dirty="0">
              <a:latin typeface="Century Gothic" panose="020B0502020202020204" pitchFamily="34" charset="0"/>
            </a:endParaRPr>
          </a:p>
          <a:p>
            <a:r>
              <a:rPr lang="en-US" sz="2400" b="1" dirty="0">
                <a:solidFill>
                  <a:srgbClr val="009193"/>
                </a:solidFill>
                <a:latin typeface="Century Gothic" panose="020B0502020202020204" pitchFamily="34" charset="0"/>
              </a:rPr>
              <a:t>Describe</a:t>
            </a:r>
            <a:r>
              <a:rPr lang="en-US" sz="2400" dirty="0">
                <a:latin typeface="Century Gothic" panose="020B0502020202020204" pitchFamily="34" charset="0"/>
              </a:rPr>
              <a:t> how copper compounds are obtained by phytomining.</a:t>
            </a:r>
            <a:endParaRPr lang="en-US" sz="2400" b="1" dirty="0">
              <a:solidFill>
                <a:srgbClr val="009193"/>
              </a:solidFill>
              <a:latin typeface="Century Gothic" panose="020B0502020202020204" pitchFamily="34" charset="0"/>
            </a:endParaRPr>
          </a:p>
        </p:txBody>
      </p:sp>
      <p:sp>
        <p:nvSpPr>
          <p:cNvPr id="8" name="TextBox 7">
            <a:extLst>
              <a:ext uri="{FF2B5EF4-FFF2-40B4-BE49-F238E27FC236}">
                <a16:creationId xmlns:a16="http://schemas.microsoft.com/office/drawing/2014/main" id="{CE1A05A8-5365-D77D-74B5-7671029EC1C7}"/>
              </a:ext>
            </a:extLst>
          </p:cNvPr>
          <p:cNvSpPr txBox="1"/>
          <p:nvPr/>
        </p:nvSpPr>
        <p:spPr>
          <a:xfrm>
            <a:off x="1226480" y="3550930"/>
            <a:ext cx="9285760" cy="2092881"/>
          </a:xfrm>
          <a:prstGeom prst="rect">
            <a:avLst/>
          </a:prstGeom>
          <a:noFill/>
          <a:ln>
            <a:noFill/>
          </a:ln>
        </p:spPr>
        <p:txBody>
          <a:bodyPr wrap="square" rtlCol="0">
            <a:spAutoFit/>
          </a:bodyPr>
          <a:lstStyle/>
          <a:p>
            <a:pPr marL="342900" indent="-342900" algn="l">
              <a:spcBef>
                <a:spcPts val="1200"/>
              </a:spcBef>
              <a:spcAft>
                <a:spcPts val="0"/>
              </a:spcAft>
              <a:buFont typeface="Arial" panose="020B0604020202020204" pitchFamily="34" charset="0"/>
              <a:buChar char="•"/>
            </a:pPr>
            <a:r>
              <a:rPr lang="en-GB" sz="2000" i="0" dirty="0">
                <a:solidFill>
                  <a:schemeClr val="bg2">
                    <a:lumMod val="25000"/>
                  </a:schemeClr>
                </a:solidFill>
                <a:effectLst/>
                <a:latin typeface="Century Gothic" panose="020B0502020202020204" pitchFamily="34" charset="0"/>
              </a:rPr>
              <a:t>grow </a:t>
            </a:r>
            <a:r>
              <a:rPr lang="en-GB" sz="2000" b="1" i="0" dirty="0">
                <a:solidFill>
                  <a:schemeClr val="bg2">
                    <a:lumMod val="25000"/>
                  </a:schemeClr>
                </a:solidFill>
                <a:effectLst/>
                <a:latin typeface="Century Gothic" panose="020B0502020202020204" pitchFamily="34" charset="0"/>
              </a:rPr>
              <a:t>plants</a:t>
            </a:r>
            <a:r>
              <a:rPr lang="en-GB" sz="2000" i="0" dirty="0">
                <a:solidFill>
                  <a:schemeClr val="bg2">
                    <a:lumMod val="25000"/>
                  </a:schemeClr>
                </a:solidFill>
                <a:effectLst/>
                <a:latin typeface="Century Gothic" panose="020B0502020202020204" pitchFamily="34" charset="0"/>
              </a:rPr>
              <a:t> on land containing copper ores</a:t>
            </a:r>
          </a:p>
          <a:p>
            <a:pPr marL="342900" indent="-342900" algn="l">
              <a:spcBef>
                <a:spcPts val="1200"/>
              </a:spcBef>
              <a:spcAft>
                <a:spcPts val="0"/>
              </a:spcAft>
              <a:buFont typeface="Arial" panose="020B0604020202020204" pitchFamily="34" charset="0"/>
              <a:buChar char="•"/>
            </a:pPr>
            <a:r>
              <a:rPr lang="en-GB" sz="2000" b="1" i="0" dirty="0">
                <a:solidFill>
                  <a:schemeClr val="bg2">
                    <a:lumMod val="25000"/>
                  </a:schemeClr>
                </a:solidFill>
                <a:effectLst/>
                <a:latin typeface="Century Gothic" panose="020B0502020202020204" pitchFamily="34" charset="0"/>
              </a:rPr>
              <a:t>burn</a:t>
            </a:r>
            <a:r>
              <a:rPr lang="en-GB" sz="2000" i="0" dirty="0">
                <a:solidFill>
                  <a:schemeClr val="bg2">
                    <a:lumMod val="25000"/>
                  </a:schemeClr>
                </a:solidFill>
                <a:effectLst/>
                <a:latin typeface="Century Gothic" panose="020B0502020202020204" pitchFamily="34" charset="0"/>
              </a:rPr>
              <a:t> th</a:t>
            </a:r>
            <a:r>
              <a:rPr lang="en-GB" sz="2000" dirty="0">
                <a:solidFill>
                  <a:schemeClr val="bg2">
                    <a:lumMod val="25000"/>
                  </a:schemeClr>
                </a:solidFill>
                <a:latin typeface="Century Gothic" panose="020B0502020202020204" pitchFamily="34" charset="0"/>
              </a:rPr>
              <a:t>e plants to form ash (copper oxide)</a:t>
            </a:r>
            <a:endParaRPr lang="en-GB" sz="2000" i="0" dirty="0">
              <a:solidFill>
                <a:schemeClr val="bg2">
                  <a:lumMod val="25000"/>
                </a:schemeClr>
              </a:solidFill>
              <a:effectLst/>
              <a:latin typeface="Century Gothic" panose="020B0502020202020204" pitchFamily="34" charset="0"/>
            </a:endParaRPr>
          </a:p>
          <a:p>
            <a:pPr marL="342900" indent="-342900" algn="l">
              <a:spcBef>
                <a:spcPts val="1200"/>
              </a:spcBef>
              <a:spcAft>
                <a:spcPts val="0"/>
              </a:spcAft>
              <a:buFont typeface="Arial" panose="020B0604020202020204" pitchFamily="34" charset="0"/>
              <a:buChar char="•"/>
            </a:pPr>
            <a:r>
              <a:rPr lang="en-GB" sz="2000" i="0" dirty="0">
                <a:solidFill>
                  <a:schemeClr val="bg2">
                    <a:lumMod val="25000"/>
                  </a:schemeClr>
                </a:solidFill>
                <a:effectLst/>
                <a:latin typeface="Century Gothic" panose="020B0502020202020204" pitchFamily="34" charset="0"/>
              </a:rPr>
              <a:t>dissolve the copper oxide in (sulfuric) acid to form copper sulfate (leachate) </a:t>
            </a:r>
            <a:r>
              <a:rPr lang="en-GB" sz="2000" b="1" i="0" dirty="0">
                <a:solidFill>
                  <a:schemeClr val="bg2">
                    <a:lumMod val="25000"/>
                  </a:schemeClr>
                </a:solidFill>
                <a:effectLst/>
                <a:latin typeface="Century Gothic" panose="020B0502020202020204" pitchFamily="34" charset="0"/>
              </a:rPr>
              <a:t>solution</a:t>
            </a:r>
          </a:p>
          <a:p>
            <a:pPr marL="342900" indent="-342900" algn="l">
              <a:spcBef>
                <a:spcPts val="1200"/>
              </a:spcBef>
              <a:spcAft>
                <a:spcPts val="0"/>
              </a:spcAft>
              <a:buFont typeface="Arial" panose="020B0604020202020204" pitchFamily="34" charset="0"/>
              <a:buChar char="•"/>
            </a:pPr>
            <a:r>
              <a:rPr lang="en-GB" sz="2000" i="0" dirty="0">
                <a:solidFill>
                  <a:schemeClr val="bg2">
                    <a:lumMod val="25000"/>
                  </a:schemeClr>
                </a:solidFill>
                <a:effectLst/>
                <a:latin typeface="Century Gothic" panose="020B0502020202020204" pitchFamily="34" charset="0"/>
              </a:rPr>
              <a:t>carry out the </a:t>
            </a:r>
            <a:r>
              <a:rPr lang="en-GB" sz="2000" b="1" i="0" dirty="0">
                <a:solidFill>
                  <a:schemeClr val="bg2">
                    <a:lumMod val="25000"/>
                  </a:schemeClr>
                </a:solidFill>
                <a:effectLst/>
                <a:latin typeface="Century Gothic" panose="020B0502020202020204" pitchFamily="34" charset="0"/>
              </a:rPr>
              <a:t>electrolysis</a:t>
            </a:r>
            <a:r>
              <a:rPr lang="en-GB" sz="2000" i="0" dirty="0">
                <a:solidFill>
                  <a:schemeClr val="bg2">
                    <a:lumMod val="25000"/>
                  </a:schemeClr>
                </a:solidFill>
                <a:effectLst/>
                <a:latin typeface="Century Gothic" panose="020B0502020202020204" pitchFamily="34" charset="0"/>
              </a:rPr>
              <a:t> of this solution to form pure copper</a:t>
            </a:r>
          </a:p>
        </p:txBody>
      </p:sp>
      <p:sp>
        <p:nvSpPr>
          <p:cNvPr id="12" name="TextBox 11">
            <a:extLst>
              <a:ext uri="{FF2B5EF4-FFF2-40B4-BE49-F238E27FC236}">
                <a16:creationId xmlns:a16="http://schemas.microsoft.com/office/drawing/2014/main" id="{1C90FA3F-2080-37AF-41A6-DE07C8F3A6F9}"/>
              </a:ext>
            </a:extLst>
          </p:cNvPr>
          <p:cNvSpPr txBox="1"/>
          <p:nvPr/>
        </p:nvSpPr>
        <p:spPr>
          <a:xfrm>
            <a:off x="1126317" y="3323438"/>
            <a:ext cx="2339513" cy="369332"/>
          </a:xfrm>
          <a:prstGeom prst="rect">
            <a:avLst/>
          </a:prstGeom>
          <a:noFill/>
        </p:spPr>
        <p:txBody>
          <a:bodyPr wrap="square" rtlCol="0">
            <a:spAutoFit/>
          </a:bodyPr>
          <a:lstStyle/>
          <a:p>
            <a:r>
              <a:rPr lang="en-GB" dirty="0">
                <a:solidFill>
                  <a:schemeClr val="bg1">
                    <a:lumMod val="50000"/>
                  </a:schemeClr>
                </a:solidFill>
                <a:latin typeface="Century Gothic" panose="020B0502020202020204" pitchFamily="34" charset="0"/>
              </a:rPr>
              <a:t>Model answer:</a:t>
            </a:r>
          </a:p>
        </p:txBody>
      </p:sp>
    </p:spTree>
    <p:extLst>
      <p:ext uri="{BB962C8B-B14F-4D97-AF65-F5344CB8AC3E}">
        <p14:creationId xmlns:p14="http://schemas.microsoft.com/office/powerpoint/2010/main" val="237472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B060-7673-E7EE-3135-CF22880C1AA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B8927C47-DA11-46EB-5730-9D2DF5D2E642}"/>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Deliberate Practice</a:t>
            </a:r>
          </a:p>
        </p:txBody>
      </p:sp>
      <p:sp>
        <p:nvSpPr>
          <p:cNvPr id="5" name="Title 2">
            <a:extLst>
              <a:ext uri="{FF2B5EF4-FFF2-40B4-BE49-F238E27FC236}">
                <a16:creationId xmlns:a16="http://schemas.microsoft.com/office/drawing/2014/main" id="{659791DD-2BFD-87F5-CBF1-532711F5E095}"/>
              </a:ext>
            </a:extLst>
          </p:cNvPr>
          <p:cNvSpPr>
            <a:spLocks noGrp="1"/>
          </p:cNvSpPr>
          <p:nvPr>
            <p:ph type="title"/>
          </p:nvPr>
        </p:nvSpPr>
        <p:spPr>
          <a:xfrm>
            <a:off x="1016655" y="104454"/>
            <a:ext cx="11136983" cy="461665"/>
          </a:xfrm>
        </p:spPr>
        <p:txBody>
          <a:bodyPr>
            <a:noAutofit/>
          </a:bodyPr>
          <a:lstStyle/>
          <a:p>
            <a:r>
              <a:rPr lang="en-GB" sz="2400" dirty="0">
                <a:latin typeface="Century Gothic" panose="020B0502020202020204" pitchFamily="34" charset="0"/>
              </a:rPr>
              <a:t>We: Describe: </a:t>
            </a:r>
            <a:r>
              <a:rPr lang="en-GB" sz="2400" i="1" dirty="0">
                <a:latin typeface="Century Gothic" panose="020B0502020202020204" pitchFamily="34" charset="0"/>
              </a:rPr>
              <a:t>to recall facts, events or processes in an accurate way</a:t>
            </a:r>
          </a:p>
        </p:txBody>
      </p:sp>
      <p:sp>
        <p:nvSpPr>
          <p:cNvPr id="14" name="TextBox 13">
            <a:extLst>
              <a:ext uri="{FF2B5EF4-FFF2-40B4-BE49-F238E27FC236}">
                <a16:creationId xmlns:a16="http://schemas.microsoft.com/office/drawing/2014/main" id="{E96EC880-29B2-D583-FE35-32FF476B376D}"/>
              </a:ext>
            </a:extLst>
          </p:cNvPr>
          <p:cNvSpPr txBox="1"/>
          <p:nvPr/>
        </p:nvSpPr>
        <p:spPr>
          <a:xfrm>
            <a:off x="934538" y="1123386"/>
            <a:ext cx="10535219" cy="1877437"/>
          </a:xfrm>
          <a:prstGeom prst="rect">
            <a:avLst/>
          </a:prstGeom>
          <a:noFill/>
          <a:ln>
            <a:noFill/>
          </a:ln>
        </p:spPr>
        <p:txBody>
          <a:bodyPr wrap="square" rtlCol="0">
            <a:spAutoFit/>
          </a:bodyPr>
          <a:lstStyle/>
          <a:p>
            <a:pPr algn="l">
              <a:spcBef>
                <a:spcPts val="1200"/>
              </a:spcBef>
              <a:spcAft>
                <a:spcPts val="0"/>
              </a:spcAft>
            </a:pPr>
            <a:r>
              <a:rPr lang="en-GB" sz="2400" b="0" i="0" dirty="0">
                <a:solidFill>
                  <a:srgbClr val="222222"/>
                </a:solidFill>
                <a:effectLst/>
                <a:latin typeface="Century Gothic" panose="020B0502020202020204" pitchFamily="34" charset="0"/>
              </a:rPr>
              <a:t>Soil near copper mines is often contaminated with low percentages of copper compounds.</a:t>
            </a:r>
          </a:p>
          <a:p>
            <a:pPr algn="l">
              <a:spcBef>
                <a:spcPts val="1200"/>
              </a:spcBef>
              <a:spcAft>
                <a:spcPts val="0"/>
              </a:spcAft>
            </a:pPr>
            <a:r>
              <a:rPr lang="en-GB" sz="2400" b="0" i="0" dirty="0">
                <a:solidFill>
                  <a:srgbClr val="222222"/>
                </a:solidFill>
                <a:effectLst/>
                <a:latin typeface="Century Gothic" panose="020B0502020202020204" pitchFamily="34" charset="0"/>
              </a:rPr>
              <a:t>Phytomining is a new way to extract copper compounds from soil.</a:t>
            </a:r>
          </a:p>
          <a:p>
            <a:pPr algn="l">
              <a:spcBef>
                <a:spcPts val="1200"/>
              </a:spcBef>
              <a:spcAft>
                <a:spcPts val="0"/>
              </a:spcAft>
            </a:pPr>
            <a:r>
              <a:rPr lang="en-GB" sz="2400" b="1" i="0" dirty="0">
                <a:solidFill>
                  <a:srgbClr val="009193"/>
                </a:solidFill>
                <a:effectLst/>
                <a:latin typeface="Century Gothic" panose="020B0502020202020204" pitchFamily="34" charset="0"/>
              </a:rPr>
              <a:t>Describe</a:t>
            </a:r>
            <a:r>
              <a:rPr lang="en-GB" sz="2400" b="0" i="0" dirty="0">
                <a:solidFill>
                  <a:srgbClr val="222222"/>
                </a:solidFill>
                <a:effectLst/>
                <a:latin typeface="Century Gothic" panose="020B0502020202020204" pitchFamily="34" charset="0"/>
              </a:rPr>
              <a:t> how copper compounds are extracted by phytomining.</a:t>
            </a:r>
            <a:endParaRPr lang="en-US" sz="2400" b="1" dirty="0">
              <a:solidFill>
                <a:srgbClr val="009193"/>
              </a:solidFill>
              <a:latin typeface="Century Gothic" panose="020B0502020202020204" pitchFamily="34" charset="0"/>
            </a:endParaRPr>
          </a:p>
        </p:txBody>
      </p:sp>
    </p:spTree>
    <p:extLst>
      <p:ext uri="{BB962C8B-B14F-4D97-AF65-F5344CB8AC3E}">
        <p14:creationId xmlns:p14="http://schemas.microsoft.com/office/powerpoint/2010/main" val="3370177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BB98-7226-FAC0-0568-FDD48747146E}"/>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A5EB5743-B577-32A5-8704-2D72B42688D8}"/>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Deliberate Practice</a:t>
            </a:r>
          </a:p>
        </p:txBody>
      </p:sp>
      <p:sp>
        <p:nvSpPr>
          <p:cNvPr id="4" name="Title 2">
            <a:extLst>
              <a:ext uri="{FF2B5EF4-FFF2-40B4-BE49-F238E27FC236}">
                <a16:creationId xmlns:a16="http://schemas.microsoft.com/office/drawing/2014/main" id="{D7A52B35-CED7-066C-7F13-AE0E0BFE7DFF}"/>
              </a:ext>
            </a:extLst>
          </p:cNvPr>
          <p:cNvSpPr>
            <a:spLocks noGrp="1"/>
          </p:cNvSpPr>
          <p:nvPr>
            <p:ph type="title"/>
          </p:nvPr>
        </p:nvSpPr>
        <p:spPr>
          <a:xfrm>
            <a:off x="905197" y="153441"/>
            <a:ext cx="11136983" cy="461665"/>
          </a:xfrm>
        </p:spPr>
        <p:txBody>
          <a:bodyPr>
            <a:noAutofit/>
          </a:bodyPr>
          <a:lstStyle/>
          <a:p>
            <a:r>
              <a:rPr lang="en-GB" sz="2400" dirty="0">
                <a:latin typeface="Century Gothic" panose="020B0502020202020204" pitchFamily="34" charset="0"/>
              </a:rPr>
              <a:t>You: Describe: </a:t>
            </a:r>
            <a:r>
              <a:rPr lang="en-GB" sz="2400" i="1" dirty="0">
                <a:latin typeface="Century Gothic" panose="020B0502020202020204" pitchFamily="34" charset="0"/>
              </a:rPr>
              <a:t>to recall facts, events or processes in an accurate way</a:t>
            </a:r>
          </a:p>
        </p:txBody>
      </p:sp>
      <p:sp>
        <p:nvSpPr>
          <p:cNvPr id="6" name="TextBox 5">
            <a:extLst>
              <a:ext uri="{FF2B5EF4-FFF2-40B4-BE49-F238E27FC236}">
                <a16:creationId xmlns:a16="http://schemas.microsoft.com/office/drawing/2014/main" id="{32979D0B-13B2-7916-C8EA-009D7BA2BAAD}"/>
              </a:ext>
            </a:extLst>
          </p:cNvPr>
          <p:cNvSpPr txBox="1"/>
          <p:nvPr/>
        </p:nvSpPr>
        <p:spPr>
          <a:xfrm>
            <a:off x="823080" y="1172373"/>
            <a:ext cx="11368920" cy="1354217"/>
          </a:xfrm>
          <a:prstGeom prst="rect">
            <a:avLst/>
          </a:prstGeom>
          <a:noFill/>
          <a:ln>
            <a:noFill/>
          </a:ln>
        </p:spPr>
        <p:txBody>
          <a:bodyPr wrap="square" rtlCol="0">
            <a:spAutoFit/>
          </a:bodyPr>
          <a:lstStyle/>
          <a:p>
            <a:pPr algn="l">
              <a:spcBef>
                <a:spcPts val="1200"/>
              </a:spcBef>
              <a:spcAft>
                <a:spcPts val="0"/>
              </a:spcAft>
            </a:pPr>
            <a:r>
              <a:rPr lang="en-GB" sz="2400" b="0" i="0" dirty="0">
                <a:solidFill>
                  <a:srgbClr val="222222"/>
                </a:solidFill>
                <a:effectLst/>
                <a:latin typeface="Century Gothic" panose="020B0502020202020204" pitchFamily="34" charset="0"/>
              </a:rPr>
              <a:t>Phytomining is used to obtain copper from land that contains very low percentages of copper compounds.</a:t>
            </a:r>
          </a:p>
          <a:p>
            <a:pPr algn="l">
              <a:spcBef>
                <a:spcPts val="1200"/>
              </a:spcBef>
              <a:spcAft>
                <a:spcPts val="0"/>
              </a:spcAft>
            </a:pPr>
            <a:r>
              <a:rPr lang="en-GB" sz="2400" b="1" i="0" dirty="0">
                <a:solidFill>
                  <a:srgbClr val="009193"/>
                </a:solidFill>
                <a:effectLst/>
                <a:latin typeface="Century Gothic" panose="020B0502020202020204" pitchFamily="34" charset="0"/>
              </a:rPr>
              <a:t>Describe</a:t>
            </a:r>
            <a:r>
              <a:rPr lang="en-GB" sz="2400" b="0" i="0" dirty="0">
                <a:solidFill>
                  <a:srgbClr val="222222"/>
                </a:solidFill>
                <a:effectLst/>
                <a:latin typeface="Century Gothic" panose="020B0502020202020204" pitchFamily="34" charset="0"/>
              </a:rPr>
              <a:t> how copper compounds are extracted by phytomining.</a:t>
            </a:r>
            <a:endParaRPr lang="en-US" sz="2400" b="1" dirty="0">
              <a:solidFill>
                <a:srgbClr val="009193"/>
              </a:solidFill>
              <a:latin typeface="Century Gothic" panose="020B0502020202020204" pitchFamily="34" charset="0"/>
            </a:endParaRPr>
          </a:p>
        </p:txBody>
      </p:sp>
    </p:spTree>
    <p:extLst>
      <p:ext uri="{BB962C8B-B14F-4D97-AF65-F5344CB8AC3E}">
        <p14:creationId xmlns:p14="http://schemas.microsoft.com/office/powerpoint/2010/main" val="876818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80C8-EB93-6075-C7A3-638B2F2633AB}"/>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E2E03DA-830F-7936-7117-01065C80CFA9}"/>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9" name="TextBox 8">
            <a:extLst>
              <a:ext uri="{FF2B5EF4-FFF2-40B4-BE49-F238E27FC236}">
                <a16:creationId xmlns:a16="http://schemas.microsoft.com/office/drawing/2014/main" id="{3D93D582-C47D-C2E7-5F33-9C588434FDEA}"/>
              </a:ext>
            </a:extLst>
          </p:cNvPr>
          <p:cNvSpPr txBox="1"/>
          <p:nvPr/>
        </p:nvSpPr>
        <p:spPr>
          <a:xfrm>
            <a:off x="2901043" y="2551837"/>
            <a:ext cx="6193970" cy="1754326"/>
          </a:xfrm>
          <a:prstGeom prst="rect">
            <a:avLst/>
          </a:prstGeom>
          <a:noFill/>
        </p:spPr>
        <p:txBody>
          <a:bodyPr wrap="square">
            <a:spAutoFit/>
          </a:bodyPr>
          <a:lstStyle/>
          <a:p>
            <a:pPr>
              <a:buNone/>
            </a:pPr>
            <a:r>
              <a:rPr lang="en-US" b="1" dirty="0"/>
              <a:t>Which organism is used in bioleaching?</a:t>
            </a:r>
            <a:endParaRPr lang="en-US" dirty="0"/>
          </a:p>
          <a:p>
            <a:pPr>
              <a:buFont typeface="+mj-lt"/>
              <a:buAutoNum type="arabicPeriod"/>
            </a:pPr>
            <a:r>
              <a:rPr lang="en-US" dirty="0"/>
              <a:t>Plants</a:t>
            </a:r>
          </a:p>
          <a:p>
            <a:pPr>
              <a:buFont typeface="+mj-lt"/>
              <a:buAutoNum type="arabicPeriod"/>
            </a:pPr>
            <a:r>
              <a:rPr lang="en-US" dirty="0"/>
              <a:t>Animals</a:t>
            </a:r>
          </a:p>
          <a:p>
            <a:pPr>
              <a:buFont typeface="+mj-lt"/>
              <a:buAutoNum type="arabicPeriod"/>
            </a:pPr>
            <a:r>
              <a:rPr lang="en-US" dirty="0"/>
              <a:t>Bacteria</a:t>
            </a:r>
          </a:p>
          <a:p>
            <a:pPr>
              <a:buFont typeface="+mj-lt"/>
              <a:buAutoNum type="arabicPeriod"/>
            </a:pPr>
            <a:r>
              <a:rPr lang="en-US" dirty="0"/>
              <a:t>Fungi</a:t>
            </a:r>
          </a:p>
          <a:p>
            <a:pPr>
              <a:buNone/>
            </a:pPr>
            <a:r>
              <a:rPr lang="en-US" dirty="0"/>
              <a:t>✅ </a:t>
            </a:r>
            <a:r>
              <a:rPr lang="en-US" b="1" dirty="0"/>
              <a:t>Answer:</a:t>
            </a:r>
            <a:r>
              <a:rPr lang="en-US" dirty="0"/>
              <a:t> 3</a:t>
            </a:r>
          </a:p>
        </p:txBody>
      </p:sp>
    </p:spTree>
    <p:extLst>
      <p:ext uri="{BB962C8B-B14F-4D97-AF65-F5344CB8AC3E}">
        <p14:creationId xmlns:p14="http://schemas.microsoft.com/office/powerpoint/2010/main" val="3747867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B277E-D2D2-0EC8-1BDE-C26EBAD2A7E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82FDC26D-FC88-C390-F3F9-ED845211C772}"/>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3" name="TextBox 2">
            <a:extLst>
              <a:ext uri="{FF2B5EF4-FFF2-40B4-BE49-F238E27FC236}">
                <a16:creationId xmlns:a16="http://schemas.microsoft.com/office/drawing/2014/main" id="{4D6BA6CA-282A-5855-3914-04B5F855A70F}"/>
              </a:ext>
            </a:extLst>
          </p:cNvPr>
          <p:cNvSpPr txBox="1"/>
          <p:nvPr/>
        </p:nvSpPr>
        <p:spPr>
          <a:xfrm>
            <a:off x="2901043" y="2551837"/>
            <a:ext cx="6193970" cy="1754326"/>
          </a:xfrm>
          <a:prstGeom prst="rect">
            <a:avLst/>
          </a:prstGeom>
          <a:noFill/>
        </p:spPr>
        <p:txBody>
          <a:bodyPr wrap="square">
            <a:spAutoFit/>
          </a:bodyPr>
          <a:lstStyle/>
          <a:p>
            <a:pPr>
              <a:buNone/>
            </a:pPr>
            <a:r>
              <a:rPr lang="en-US" b="1" dirty="0"/>
              <a:t>Which method uses plants to extract metals?</a:t>
            </a:r>
            <a:endParaRPr lang="en-US" dirty="0"/>
          </a:p>
          <a:p>
            <a:pPr>
              <a:buFont typeface="+mj-lt"/>
              <a:buAutoNum type="arabicPeriod"/>
            </a:pPr>
            <a:r>
              <a:rPr lang="en-US" dirty="0"/>
              <a:t>Mining</a:t>
            </a:r>
          </a:p>
          <a:p>
            <a:pPr>
              <a:buFont typeface="+mj-lt"/>
              <a:buAutoNum type="arabicPeriod"/>
            </a:pPr>
            <a:r>
              <a:rPr lang="en-US" dirty="0"/>
              <a:t>Quarrying</a:t>
            </a:r>
          </a:p>
          <a:p>
            <a:pPr>
              <a:buFont typeface="+mj-lt"/>
              <a:buAutoNum type="arabicPeriod"/>
            </a:pPr>
            <a:r>
              <a:rPr lang="en-US" dirty="0"/>
              <a:t>Bioleaching</a:t>
            </a:r>
          </a:p>
          <a:p>
            <a:pPr>
              <a:buFont typeface="+mj-lt"/>
              <a:buAutoNum type="arabicPeriod"/>
            </a:pPr>
            <a:r>
              <a:rPr lang="en-US" dirty="0" err="1"/>
              <a:t>Phytomining</a:t>
            </a:r>
            <a:endParaRPr lang="en-US" dirty="0"/>
          </a:p>
          <a:p>
            <a:pPr>
              <a:buNone/>
            </a:pPr>
            <a:r>
              <a:rPr lang="en-US" dirty="0"/>
              <a:t>✅ </a:t>
            </a:r>
            <a:r>
              <a:rPr lang="en-US" b="1" dirty="0"/>
              <a:t>Answer:</a:t>
            </a:r>
            <a:r>
              <a:rPr lang="en-US" dirty="0"/>
              <a:t> 4</a:t>
            </a:r>
          </a:p>
        </p:txBody>
      </p:sp>
    </p:spTree>
    <p:extLst>
      <p:ext uri="{BB962C8B-B14F-4D97-AF65-F5344CB8AC3E}">
        <p14:creationId xmlns:p14="http://schemas.microsoft.com/office/powerpoint/2010/main" val="3413771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AB8FA-CDDC-3B98-2CE1-04FF2F29338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50F786B-1105-891D-4279-E0C18B85DAF1}"/>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3" name="TextBox 2">
            <a:extLst>
              <a:ext uri="{FF2B5EF4-FFF2-40B4-BE49-F238E27FC236}">
                <a16:creationId xmlns:a16="http://schemas.microsoft.com/office/drawing/2014/main" id="{D3A410A7-76C2-1E33-538A-55C8575A0DD7}"/>
              </a:ext>
            </a:extLst>
          </p:cNvPr>
          <p:cNvSpPr txBox="1"/>
          <p:nvPr/>
        </p:nvSpPr>
        <p:spPr>
          <a:xfrm>
            <a:off x="2901043" y="2551837"/>
            <a:ext cx="6193970" cy="1477328"/>
          </a:xfrm>
          <a:prstGeom prst="rect">
            <a:avLst/>
          </a:prstGeom>
          <a:noFill/>
        </p:spPr>
        <p:txBody>
          <a:bodyPr wrap="square">
            <a:spAutoFit/>
          </a:bodyPr>
          <a:lstStyle/>
          <a:p>
            <a:r>
              <a:rPr lang="en-US" b="1" dirty="0"/>
              <a:t>What is a leachate?</a:t>
            </a:r>
            <a:endParaRPr lang="en-US" dirty="0"/>
          </a:p>
          <a:p>
            <a:r>
              <a:rPr lang="en-US" dirty="0"/>
              <a:t>Solid ore</a:t>
            </a:r>
          </a:p>
          <a:p>
            <a:r>
              <a:rPr lang="en-US" dirty="0"/>
              <a:t>Melted rock</a:t>
            </a:r>
          </a:p>
          <a:p>
            <a:r>
              <a:rPr lang="en-US" dirty="0"/>
              <a:t>A solution of metal ions</a:t>
            </a:r>
          </a:p>
          <a:p>
            <a:r>
              <a:rPr lang="en-US" dirty="0"/>
              <a:t>Pure copper metal</a:t>
            </a:r>
          </a:p>
        </p:txBody>
      </p:sp>
    </p:spTree>
    <p:extLst>
      <p:ext uri="{BB962C8B-B14F-4D97-AF65-F5344CB8AC3E}">
        <p14:creationId xmlns:p14="http://schemas.microsoft.com/office/powerpoint/2010/main" val="3148230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B3CD2-28AB-873D-6FFA-4BD1DA2D6B2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A01679FD-8E11-2318-1F15-DEAB3435B758}"/>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4" name="TextBox 3">
            <a:extLst>
              <a:ext uri="{FF2B5EF4-FFF2-40B4-BE49-F238E27FC236}">
                <a16:creationId xmlns:a16="http://schemas.microsoft.com/office/drawing/2014/main" id="{143A051C-36E5-7666-BFD8-C329CC217A87}"/>
              </a:ext>
            </a:extLst>
          </p:cNvPr>
          <p:cNvSpPr txBox="1"/>
          <p:nvPr/>
        </p:nvSpPr>
        <p:spPr>
          <a:xfrm>
            <a:off x="2901043" y="3244334"/>
            <a:ext cx="6193970" cy="369332"/>
          </a:xfrm>
          <a:prstGeom prst="rect">
            <a:avLst/>
          </a:prstGeom>
          <a:noFill/>
        </p:spPr>
        <p:txBody>
          <a:bodyPr wrap="square">
            <a:spAutoFit/>
          </a:bodyPr>
          <a:lstStyle/>
          <a:p>
            <a:pPr>
              <a:buNone/>
            </a:pPr>
            <a:r>
              <a:rPr lang="en-US" b="1" dirty="0"/>
              <a:t>The rocks melt during bioleaching.</a:t>
            </a:r>
            <a:endParaRPr lang="en-US" dirty="0"/>
          </a:p>
        </p:txBody>
      </p:sp>
      <p:sp>
        <p:nvSpPr>
          <p:cNvPr id="6" name="TextBox 5">
            <a:extLst>
              <a:ext uri="{FF2B5EF4-FFF2-40B4-BE49-F238E27FC236}">
                <a16:creationId xmlns:a16="http://schemas.microsoft.com/office/drawing/2014/main" id="{7929971E-76D1-8AE0-85C7-F50FD2B14697}"/>
              </a:ext>
            </a:extLst>
          </p:cNvPr>
          <p:cNvSpPr txBox="1"/>
          <p:nvPr/>
        </p:nvSpPr>
        <p:spPr>
          <a:xfrm>
            <a:off x="2999015" y="3941020"/>
            <a:ext cx="6193970" cy="369332"/>
          </a:xfrm>
          <a:prstGeom prst="rect">
            <a:avLst/>
          </a:prstGeom>
          <a:noFill/>
        </p:spPr>
        <p:txBody>
          <a:bodyPr wrap="square">
            <a:spAutoFit/>
          </a:bodyPr>
          <a:lstStyle/>
          <a:p>
            <a:r>
              <a:rPr lang="en-US" dirty="0"/>
              <a:t>True / False</a:t>
            </a:r>
          </a:p>
        </p:txBody>
      </p:sp>
    </p:spTree>
    <p:extLst>
      <p:ext uri="{BB962C8B-B14F-4D97-AF65-F5344CB8AC3E}">
        <p14:creationId xmlns:p14="http://schemas.microsoft.com/office/powerpoint/2010/main" val="1506343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643D-4A11-ABD9-95F8-E816383F0FA1}"/>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3D6E0B6-B7C3-B96E-FAFB-C24113A07B63}"/>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4" name="TextBox 3">
            <a:extLst>
              <a:ext uri="{FF2B5EF4-FFF2-40B4-BE49-F238E27FC236}">
                <a16:creationId xmlns:a16="http://schemas.microsoft.com/office/drawing/2014/main" id="{10A4386F-54CC-8D17-25C4-1B55EF92BA71}"/>
              </a:ext>
            </a:extLst>
          </p:cNvPr>
          <p:cNvSpPr txBox="1"/>
          <p:nvPr/>
        </p:nvSpPr>
        <p:spPr>
          <a:xfrm>
            <a:off x="2901043" y="3244334"/>
            <a:ext cx="6193970" cy="369332"/>
          </a:xfrm>
          <a:prstGeom prst="rect">
            <a:avLst/>
          </a:prstGeom>
          <a:noFill/>
        </p:spPr>
        <p:txBody>
          <a:bodyPr wrap="square">
            <a:spAutoFit/>
          </a:bodyPr>
          <a:lstStyle/>
          <a:p>
            <a:pPr>
              <a:buNone/>
            </a:pPr>
            <a:r>
              <a:rPr lang="en-US" b="1" dirty="0"/>
              <a:t>The rocks melt during bioleaching.</a:t>
            </a:r>
            <a:endParaRPr lang="en-US" dirty="0"/>
          </a:p>
        </p:txBody>
      </p:sp>
      <p:sp>
        <p:nvSpPr>
          <p:cNvPr id="6" name="TextBox 5">
            <a:extLst>
              <a:ext uri="{FF2B5EF4-FFF2-40B4-BE49-F238E27FC236}">
                <a16:creationId xmlns:a16="http://schemas.microsoft.com/office/drawing/2014/main" id="{22B4AE4E-753B-9BC0-BD56-574C3DCD287E}"/>
              </a:ext>
            </a:extLst>
          </p:cNvPr>
          <p:cNvSpPr txBox="1"/>
          <p:nvPr/>
        </p:nvSpPr>
        <p:spPr>
          <a:xfrm>
            <a:off x="2999015" y="3941020"/>
            <a:ext cx="6193970" cy="369332"/>
          </a:xfrm>
          <a:prstGeom prst="rect">
            <a:avLst/>
          </a:prstGeom>
          <a:noFill/>
        </p:spPr>
        <p:txBody>
          <a:bodyPr wrap="square">
            <a:spAutoFit/>
          </a:bodyPr>
          <a:lstStyle/>
          <a:p>
            <a:r>
              <a:rPr lang="en-US" dirty="0"/>
              <a:t>True / False</a:t>
            </a:r>
          </a:p>
        </p:txBody>
      </p:sp>
    </p:spTree>
    <p:extLst>
      <p:ext uri="{BB962C8B-B14F-4D97-AF65-F5344CB8AC3E}">
        <p14:creationId xmlns:p14="http://schemas.microsoft.com/office/powerpoint/2010/main" val="2060240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DF934-4C94-E441-3472-BA7AE54EE3B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24E1722-ACE3-9A6D-7FD7-A13F6823209D}"/>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5" name="TextBox 4">
            <a:extLst>
              <a:ext uri="{FF2B5EF4-FFF2-40B4-BE49-F238E27FC236}">
                <a16:creationId xmlns:a16="http://schemas.microsoft.com/office/drawing/2014/main" id="{67C71291-4DBC-E7CE-CB06-26FF96E4DBD7}"/>
              </a:ext>
            </a:extLst>
          </p:cNvPr>
          <p:cNvSpPr txBox="1"/>
          <p:nvPr/>
        </p:nvSpPr>
        <p:spPr>
          <a:xfrm>
            <a:off x="2901043" y="2551837"/>
            <a:ext cx="6193970" cy="1754326"/>
          </a:xfrm>
          <a:prstGeom prst="rect">
            <a:avLst/>
          </a:prstGeom>
          <a:noFill/>
        </p:spPr>
        <p:txBody>
          <a:bodyPr wrap="square">
            <a:spAutoFit/>
          </a:bodyPr>
          <a:lstStyle/>
          <a:p>
            <a:pPr>
              <a:buNone/>
            </a:pPr>
            <a:r>
              <a:rPr lang="en-US" b="1" dirty="0"/>
              <a:t>What is </a:t>
            </a:r>
            <a:r>
              <a:rPr lang="en-US" b="1" dirty="0" err="1"/>
              <a:t>phytomining</a:t>
            </a:r>
            <a:r>
              <a:rPr lang="en-US" b="1" dirty="0"/>
              <a:t>?</a:t>
            </a:r>
            <a:endParaRPr lang="en-US" dirty="0"/>
          </a:p>
          <a:p>
            <a:pPr>
              <a:buFont typeface="+mj-lt"/>
              <a:buAutoNum type="arabicPeriod"/>
            </a:pPr>
            <a:r>
              <a:rPr lang="en-US" dirty="0"/>
              <a:t>Extracting metals using bacteria</a:t>
            </a:r>
          </a:p>
          <a:p>
            <a:pPr>
              <a:buFont typeface="+mj-lt"/>
              <a:buAutoNum type="arabicPeriod"/>
            </a:pPr>
            <a:r>
              <a:rPr lang="en-US" dirty="0"/>
              <a:t>Extracting metals using plants</a:t>
            </a:r>
          </a:p>
          <a:p>
            <a:pPr>
              <a:buFont typeface="+mj-lt"/>
              <a:buAutoNum type="arabicPeriod"/>
            </a:pPr>
            <a:r>
              <a:rPr lang="en-US" dirty="0"/>
              <a:t>Extracting metals by melting rock</a:t>
            </a:r>
          </a:p>
          <a:p>
            <a:pPr>
              <a:buFont typeface="+mj-lt"/>
              <a:buAutoNum type="arabicPeriod"/>
            </a:pPr>
            <a:r>
              <a:rPr lang="en-US" dirty="0"/>
              <a:t>Extracting metals by electrolysis</a:t>
            </a:r>
          </a:p>
          <a:p>
            <a:pPr>
              <a:buNone/>
            </a:pPr>
            <a:r>
              <a:rPr lang="en-US" dirty="0"/>
              <a:t>✅ </a:t>
            </a:r>
            <a:r>
              <a:rPr lang="en-US" b="1" dirty="0"/>
              <a:t>Answer:</a:t>
            </a:r>
            <a:r>
              <a:rPr lang="en-US" dirty="0"/>
              <a:t> 2</a:t>
            </a:r>
          </a:p>
        </p:txBody>
      </p:sp>
    </p:spTree>
    <p:extLst>
      <p:ext uri="{BB962C8B-B14F-4D97-AF65-F5344CB8AC3E}">
        <p14:creationId xmlns:p14="http://schemas.microsoft.com/office/powerpoint/2010/main" val="2268593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C227E-7E74-1F66-8DCE-E0CBDDC4E06A}"/>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DBEDD096-6D1C-54D2-3B67-B5342C5BA1FD}"/>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3" name="TextBox 2">
            <a:extLst>
              <a:ext uri="{FF2B5EF4-FFF2-40B4-BE49-F238E27FC236}">
                <a16:creationId xmlns:a16="http://schemas.microsoft.com/office/drawing/2014/main" id="{47D3860A-D2BB-B8B4-AA4B-71946BEA128E}"/>
              </a:ext>
            </a:extLst>
          </p:cNvPr>
          <p:cNvSpPr txBox="1"/>
          <p:nvPr/>
        </p:nvSpPr>
        <p:spPr>
          <a:xfrm>
            <a:off x="2901043" y="2551837"/>
            <a:ext cx="6193970" cy="1754326"/>
          </a:xfrm>
          <a:prstGeom prst="rect">
            <a:avLst/>
          </a:prstGeom>
          <a:noFill/>
        </p:spPr>
        <p:txBody>
          <a:bodyPr wrap="square">
            <a:spAutoFit/>
          </a:bodyPr>
          <a:lstStyle/>
          <a:p>
            <a:pPr>
              <a:buNone/>
            </a:pPr>
            <a:r>
              <a:rPr lang="en-US" b="1" dirty="0"/>
              <a:t>Where do the plants get the metal from in </a:t>
            </a:r>
            <a:r>
              <a:rPr lang="en-US" b="1" dirty="0" err="1"/>
              <a:t>phytomining</a:t>
            </a:r>
            <a:r>
              <a:rPr lang="en-US" b="1" dirty="0"/>
              <a:t>?</a:t>
            </a:r>
            <a:endParaRPr lang="en-US" dirty="0"/>
          </a:p>
          <a:p>
            <a:pPr>
              <a:buFont typeface="+mj-lt"/>
              <a:buAutoNum type="arabicPeriod"/>
            </a:pPr>
            <a:r>
              <a:rPr lang="en-US" dirty="0"/>
              <a:t>The air</a:t>
            </a:r>
          </a:p>
          <a:p>
            <a:pPr>
              <a:buFont typeface="+mj-lt"/>
              <a:buAutoNum type="arabicPeriod"/>
            </a:pPr>
            <a:r>
              <a:rPr lang="en-US" dirty="0"/>
              <a:t>The leaves</a:t>
            </a:r>
          </a:p>
          <a:p>
            <a:pPr>
              <a:buFont typeface="+mj-lt"/>
              <a:buAutoNum type="arabicPeriod"/>
            </a:pPr>
            <a:r>
              <a:rPr lang="en-US" dirty="0"/>
              <a:t>The soil</a:t>
            </a:r>
          </a:p>
          <a:p>
            <a:pPr>
              <a:buFont typeface="+mj-lt"/>
              <a:buAutoNum type="arabicPeriod"/>
            </a:pPr>
            <a:r>
              <a:rPr lang="en-US" dirty="0"/>
              <a:t>The water only</a:t>
            </a:r>
          </a:p>
          <a:p>
            <a:pPr>
              <a:buNone/>
            </a:pPr>
            <a:r>
              <a:rPr lang="en-US" dirty="0"/>
              <a:t>✅ </a:t>
            </a:r>
            <a:r>
              <a:rPr lang="en-US" b="1" dirty="0"/>
              <a:t>Answer:</a:t>
            </a:r>
            <a:r>
              <a:rPr lang="en-US" dirty="0"/>
              <a:t> 3</a:t>
            </a:r>
          </a:p>
        </p:txBody>
      </p:sp>
    </p:spTree>
    <p:extLst>
      <p:ext uri="{BB962C8B-B14F-4D97-AF65-F5344CB8AC3E}">
        <p14:creationId xmlns:p14="http://schemas.microsoft.com/office/powerpoint/2010/main" val="303337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A7371-1EE0-C89D-4AA8-4BA9B704ED5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82F502FF-2E7E-EB1C-3566-0C939CB757E0}"/>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4" name="TextBox 3">
            <a:extLst>
              <a:ext uri="{FF2B5EF4-FFF2-40B4-BE49-F238E27FC236}">
                <a16:creationId xmlns:a16="http://schemas.microsoft.com/office/drawing/2014/main" id="{A2B6185A-786E-5645-67C2-336611772DFD}"/>
              </a:ext>
            </a:extLst>
          </p:cNvPr>
          <p:cNvSpPr txBox="1"/>
          <p:nvPr/>
        </p:nvSpPr>
        <p:spPr>
          <a:xfrm>
            <a:off x="2901043" y="2551837"/>
            <a:ext cx="6193970" cy="1754326"/>
          </a:xfrm>
          <a:prstGeom prst="rect">
            <a:avLst/>
          </a:prstGeom>
          <a:noFill/>
        </p:spPr>
        <p:txBody>
          <a:bodyPr wrap="square">
            <a:spAutoFit/>
          </a:bodyPr>
          <a:lstStyle/>
          <a:p>
            <a:pPr>
              <a:buNone/>
            </a:pPr>
            <a:r>
              <a:rPr lang="en-US" b="1" dirty="0"/>
              <a:t>What happens to the plants after they have absorbed metal compounds?</a:t>
            </a:r>
            <a:endParaRPr lang="en-US" dirty="0"/>
          </a:p>
          <a:p>
            <a:pPr>
              <a:buFont typeface="+mj-lt"/>
              <a:buAutoNum type="arabicPeriod"/>
            </a:pPr>
            <a:r>
              <a:rPr lang="en-US" dirty="0"/>
              <a:t>They are eaten</a:t>
            </a:r>
          </a:p>
          <a:p>
            <a:pPr>
              <a:buFont typeface="+mj-lt"/>
              <a:buAutoNum type="arabicPeriod"/>
            </a:pPr>
            <a:r>
              <a:rPr lang="en-US" dirty="0"/>
              <a:t>They are frozen</a:t>
            </a:r>
          </a:p>
          <a:p>
            <a:pPr>
              <a:buFont typeface="+mj-lt"/>
              <a:buAutoNum type="arabicPeriod"/>
            </a:pPr>
            <a:r>
              <a:rPr lang="en-US" dirty="0"/>
              <a:t>They are harvested and burned</a:t>
            </a:r>
          </a:p>
          <a:p>
            <a:pPr>
              <a:buFont typeface="+mj-lt"/>
              <a:buAutoNum type="arabicPeriod"/>
            </a:pPr>
            <a:r>
              <a:rPr lang="en-US" dirty="0"/>
              <a:t>They are left to rot</a:t>
            </a:r>
          </a:p>
        </p:txBody>
      </p:sp>
    </p:spTree>
    <p:extLst>
      <p:ext uri="{BB962C8B-B14F-4D97-AF65-F5344CB8AC3E}">
        <p14:creationId xmlns:p14="http://schemas.microsoft.com/office/powerpoint/2010/main" val="2698343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1C66-3663-E42B-E5EE-EB0C3A66FED2}"/>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73B1869-13BA-D575-CE98-3CBAFAB3E930}"/>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dirty="0">
                <a:solidFill>
                  <a:schemeClr val="bg1"/>
                </a:solidFill>
              </a:rPr>
              <a:t>Check for Understanding</a:t>
            </a:r>
          </a:p>
        </p:txBody>
      </p:sp>
      <p:sp>
        <p:nvSpPr>
          <p:cNvPr id="3" name="TextBox 2">
            <a:extLst>
              <a:ext uri="{FF2B5EF4-FFF2-40B4-BE49-F238E27FC236}">
                <a16:creationId xmlns:a16="http://schemas.microsoft.com/office/drawing/2014/main" id="{41ED0535-295B-80D3-BC0C-5791398FFB8A}"/>
              </a:ext>
            </a:extLst>
          </p:cNvPr>
          <p:cNvSpPr txBox="1"/>
          <p:nvPr/>
        </p:nvSpPr>
        <p:spPr>
          <a:xfrm>
            <a:off x="2901043" y="2551837"/>
            <a:ext cx="6193970" cy="1754326"/>
          </a:xfrm>
          <a:prstGeom prst="rect">
            <a:avLst/>
          </a:prstGeom>
          <a:noFill/>
        </p:spPr>
        <p:txBody>
          <a:bodyPr wrap="square">
            <a:spAutoFit/>
          </a:bodyPr>
          <a:lstStyle/>
          <a:p>
            <a:pPr>
              <a:buNone/>
            </a:pPr>
            <a:r>
              <a:rPr lang="en-US" b="1" dirty="0"/>
              <a:t>Why is </a:t>
            </a:r>
            <a:r>
              <a:rPr lang="en-US" b="1" dirty="0" err="1"/>
              <a:t>phytomining</a:t>
            </a:r>
            <a:r>
              <a:rPr lang="en-US" b="1" dirty="0"/>
              <a:t> considered more environmentally friendly than mining?</a:t>
            </a:r>
            <a:endParaRPr lang="en-US" dirty="0"/>
          </a:p>
          <a:p>
            <a:pPr>
              <a:buFont typeface="+mj-lt"/>
              <a:buAutoNum type="arabicPeriod"/>
            </a:pPr>
            <a:r>
              <a:rPr lang="en-US" dirty="0"/>
              <a:t>It is faster</a:t>
            </a:r>
          </a:p>
          <a:p>
            <a:pPr>
              <a:buFont typeface="+mj-lt"/>
              <a:buAutoNum type="arabicPeriod"/>
            </a:pPr>
            <a:r>
              <a:rPr lang="en-US" dirty="0"/>
              <a:t>It uses high temperatures</a:t>
            </a:r>
          </a:p>
          <a:p>
            <a:pPr>
              <a:buFont typeface="+mj-lt"/>
              <a:buAutoNum type="arabicPeriod"/>
            </a:pPr>
            <a:r>
              <a:rPr lang="en-US" dirty="0"/>
              <a:t>It causes less habitat destruction</a:t>
            </a:r>
          </a:p>
          <a:p>
            <a:pPr>
              <a:buFont typeface="+mj-lt"/>
              <a:buAutoNum type="arabicPeriod"/>
            </a:pPr>
            <a:r>
              <a:rPr lang="en-US" dirty="0"/>
              <a:t>It produces more waste</a:t>
            </a:r>
          </a:p>
        </p:txBody>
      </p:sp>
    </p:spTree>
    <p:extLst>
      <p:ext uri="{BB962C8B-B14F-4D97-AF65-F5344CB8AC3E}">
        <p14:creationId xmlns:p14="http://schemas.microsoft.com/office/powerpoint/2010/main" val="1103796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2B80-6F91-F846-B16D-491D27C6968A}"/>
              </a:ext>
            </a:extLst>
          </p:cNvPr>
          <p:cNvSpPr>
            <a:spLocks noGrp="1"/>
          </p:cNvSpPr>
          <p:nvPr>
            <p:ph type="title"/>
          </p:nvPr>
        </p:nvSpPr>
        <p:spPr/>
        <p:txBody>
          <a:bodyPr/>
          <a:lstStyle/>
          <a:p>
            <a:r>
              <a:rPr lang="en-US">
                <a:latin typeface="Century Gothic" panose="020B0502020202020204" pitchFamily="34" charset="0"/>
              </a:rPr>
              <a:t>Answer the questions below.</a:t>
            </a:r>
          </a:p>
        </p:txBody>
      </p:sp>
      <p:sp>
        <p:nvSpPr>
          <p:cNvPr id="3" name="TextBox 2">
            <a:extLst>
              <a:ext uri="{FF2B5EF4-FFF2-40B4-BE49-F238E27FC236}">
                <a16:creationId xmlns:a16="http://schemas.microsoft.com/office/drawing/2014/main" id="{BE4F3523-268C-D64A-BE91-11249F4811AA}"/>
              </a:ext>
            </a:extLst>
          </p:cNvPr>
          <p:cNvSpPr txBox="1"/>
          <p:nvPr/>
        </p:nvSpPr>
        <p:spPr>
          <a:xfrm>
            <a:off x="540001" y="996078"/>
            <a:ext cx="10938986" cy="1938992"/>
          </a:xfrm>
          <a:prstGeom prst="rect">
            <a:avLst/>
          </a:prstGeom>
          <a:noFill/>
        </p:spPr>
        <p:txBody>
          <a:bodyPr wrap="square" rtlCol="0">
            <a:spAutoFit/>
          </a:bodyPr>
          <a:lstStyle/>
          <a:p>
            <a:pPr marL="457200" indent="-457200">
              <a:buAutoNum type="arabicPeriod"/>
            </a:pPr>
            <a:r>
              <a:rPr lang="en-GB" sz="2400" dirty="0">
                <a:latin typeface="Century Gothic" panose="020B0502020202020204" pitchFamily="34" charset="0"/>
              </a:rPr>
              <a:t>State the name of the process where plants are used to extract metals from compounds.</a:t>
            </a:r>
          </a:p>
          <a:p>
            <a:pPr marL="342900" indent="-342900">
              <a:buFont typeface="Wingdings" pitchFamily="2" charset="2"/>
              <a:buChar char="q"/>
            </a:pPr>
            <a:r>
              <a:rPr lang="en-GB" sz="2400" dirty="0">
                <a:latin typeface="Century Gothic" panose="020B0502020202020204" pitchFamily="34" charset="0"/>
              </a:rPr>
              <a:t>A. Phytomining</a:t>
            </a:r>
          </a:p>
          <a:p>
            <a:pPr marL="342900" indent="-342900">
              <a:buFont typeface="Wingdings" pitchFamily="2" charset="2"/>
              <a:buChar char="q"/>
            </a:pPr>
            <a:r>
              <a:rPr lang="en-GB" sz="2400" dirty="0">
                <a:latin typeface="Century Gothic" panose="020B0502020202020204" pitchFamily="34" charset="0"/>
              </a:rPr>
              <a:t>B. Bioleaching</a:t>
            </a:r>
          </a:p>
          <a:p>
            <a:pPr marL="342900" indent="-342900">
              <a:buFont typeface="Wingdings" pitchFamily="2" charset="2"/>
              <a:buChar char="q"/>
            </a:pPr>
            <a:r>
              <a:rPr lang="en-GB" sz="2400" dirty="0">
                <a:latin typeface="Century Gothic" panose="020B0502020202020204" pitchFamily="34" charset="0"/>
              </a:rPr>
              <a:t>C. Mining</a:t>
            </a:r>
          </a:p>
        </p:txBody>
      </p:sp>
      <p:sp>
        <p:nvSpPr>
          <p:cNvPr id="4" name="TextBox 3">
            <a:extLst>
              <a:ext uri="{FF2B5EF4-FFF2-40B4-BE49-F238E27FC236}">
                <a16:creationId xmlns:a16="http://schemas.microsoft.com/office/drawing/2014/main" id="{49D9FD6F-2370-714D-B4BC-9DA02B16D063}"/>
              </a:ext>
            </a:extLst>
          </p:cNvPr>
          <p:cNvSpPr txBox="1"/>
          <p:nvPr/>
        </p:nvSpPr>
        <p:spPr>
          <a:xfrm>
            <a:off x="540001" y="3054472"/>
            <a:ext cx="10938986" cy="1938992"/>
          </a:xfrm>
          <a:prstGeom prst="rect">
            <a:avLst/>
          </a:prstGeom>
          <a:noFill/>
        </p:spPr>
        <p:txBody>
          <a:bodyPr wrap="square" rtlCol="0">
            <a:spAutoFit/>
          </a:bodyPr>
          <a:lstStyle/>
          <a:p>
            <a:r>
              <a:rPr lang="en-GB" sz="2400" dirty="0">
                <a:latin typeface="Century Gothic" panose="020B0502020202020204" pitchFamily="34" charset="0"/>
              </a:rPr>
              <a:t>2. Copper is now extracted from ores containing a low percentage of copper compounds. Why is this?</a:t>
            </a:r>
          </a:p>
          <a:p>
            <a:pPr marL="342900" indent="-342900">
              <a:buFont typeface="Wingdings" pitchFamily="2" charset="2"/>
              <a:buChar char="q"/>
            </a:pPr>
            <a:r>
              <a:rPr lang="en-GB" sz="2400" dirty="0">
                <a:latin typeface="Century Gothic" panose="020B0502020202020204" pitchFamily="34" charset="0"/>
              </a:rPr>
              <a:t>A. Other methods are too expensive</a:t>
            </a:r>
          </a:p>
          <a:p>
            <a:pPr marL="342900" indent="-342900">
              <a:buFont typeface="Wingdings" pitchFamily="2" charset="2"/>
              <a:buChar char="q"/>
            </a:pPr>
            <a:r>
              <a:rPr lang="en-GB" sz="2400" dirty="0">
                <a:latin typeface="Century Gothic" panose="020B0502020202020204" pitchFamily="34" charset="0"/>
              </a:rPr>
              <a:t>B. Copper ores are becoming scarce</a:t>
            </a:r>
          </a:p>
          <a:p>
            <a:pPr marL="342900" indent="-342900">
              <a:buFont typeface="Wingdings" pitchFamily="2" charset="2"/>
              <a:buChar char="q"/>
            </a:pPr>
            <a:r>
              <a:rPr lang="en-GB" sz="2400" dirty="0">
                <a:latin typeface="Century Gothic" panose="020B0502020202020204" pitchFamily="34" charset="0"/>
              </a:rPr>
              <a:t>C. So that electrolysis can be carried out</a:t>
            </a:r>
          </a:p>
        </p:txBody>
      </p:sp>
      <p:sp>
        <p:nvSpPr>
          <p:cNvPr id="5" name="TextBox 4">
            <a:extLst>
              <a:ext uri="{FF2B5EF4-FFF2-40B4-BE49-F238E27FC236}">
                <a16:creationId xmlns:a16="http://schemas.microsoft.com/office/drawing/2014/main" id="{FA56AB9A-831D-8048-BB27-E49EAE012180}"/>
              </a:ext>
            </a:extLst>
          </p:cNvPr>
          <p:cNvSpPr txBox="1"/>
          <p:nvPr/>
        </p:nvSpPr>
        <p:spPr>
          <a:xfrm>
            <a:off x="540000" y="5112866"/>
            <a:ext cx="10565713" cy="1569660"/>
          </a:xfrm>
          <a:prstGeom prst="rect">
            <a:avLst/>
          </a:prstGeom>
          <a:noFill/>
        </p:spPr>
        <p:txBody>
          <a:bodyPr wrap="none" rtlCol="0">
            <a:spAutoFit/>
          </a:bodyPr>
          <a:lstStyle/>
          <a:p>
            <a:r>
              <a:rPr lang="en-GB" sz="2400" dirty="0">
                <a:latin typeface="Century Gothic" panose="020B0502020202020204" pitchFamily="34" charset="0"/>
              </a:rPr>
              <a:t>3. Why is phytomining preferable to traditional mining of copper ores?</a:t>
            </a:r>
          </a:p>
          <a:p>
            <a:pPr marL="342900" indent="-342900">
              <a:buFont typeface="Wingdings" pitchFamily="2" charset="2"/>
              <a:buChar char="q"/>
            </a:pPr>
            <a:r>
              <a:rPr lang="en-GB" sz="2400" dirty="0">
                <a:latin typeface="Century Gothic" panose="020B0502020202020204" pitchFamily="34" charset="0"/>
              </a:rPr>
              <a:t>A. It results in less destruction of habitats</a:t>
            </a:r>
          </a:p>
          <a:p>
            <a:pPr marL="342900" indent="-342900">
              <a:buFont typeface="Wingdings" pitchFamily="2" charset="2"/>
              <a:buChar char="q"/>
            </a:pPr>
            <a:r>
              <a:rPr lang="en-GB" sz="2400" dirty="0">
                <a:latin typeface="Century Gothic" panose="020B0502020202020204" pitchFamily="34" charset="0"/>
              </a:rPr>
              <a:t>B. It is faster</a:t>
            </a:r>
          </a:p>
          <a:p>
            <a:pPr marL="342900" indent="-342900">
              <a:buFont typeface="Wingdings" pitchFamily="2" charset="2"/>
              <a:buChar char="q"/>
            </a:pPr>
            <a:r>
              <a:rPr lang="en-GB" sz="2400" dirty="0">
                <a:latin typeface="Century Gothic" panose="020B0502020202020204" pitchFamily="34" charset="0"/>
              </a:rPr>
              <a:t>C. It is more expensive</a:t>
            </a:r>
          </a:p>
        </p:txBody>
      </p:sp>
      <p:sp>
        <p:nvSpPr>
          <p:cNvPr id="6" name="TextBox 5">
            <a:extLst>
              <a:ext uri="{FF2B5EF4-FFF2-40B4-BE49-F238E27FC236}">
                <a16:creationId xmlns:a16="http://schemas.microsoft.com/office/drawing/2014/main" id="{414A8B36-6BDF-BE4B-8892-9B947E7C3878}"/>
              </a:ext>
            </a:extLst>
          </p:cNvPr>
          <p:cNvSpPr txBox="1"/>
          <p:nvPr/>
        </p:nvSpPr>
        <p:spPr>
          <a:xfrm>
            <a:off x="540000" y="1587538"/>
            <a:ext cx="530915" cy="646331"/>
          </a:xfrm>
          <a:prstGeom prst="rect">
            <a:avLst/>
          </a:prstGeom>
          <a:noFill/>
        </p:spPr>
        <p:txBody>
          <a:bodyPr wrap="none" rtlCol="0">
            <a:spAutoFit/>
          </a:bodyPr>
          <a:lstStyle/>
          <a:p>
            <a:r>
              <a:rPr lang="en-GB" sz="3600" b="1">
                <a:solidFill>
                  <a:srgbClr val="0070C0"/>
                </a:solidFill>
              </a:rPr>
              <a:t>✓</a:t>
            </a:r>
          </a:p>
        </p:txBody>
      </p:sp>
      <p:sp>
        <p:nvSpPr>
          <p:cNvPr id="7" name="TextBox 6">
            <a:extLst>
              <a:ext uri="{FF2B5EF4-FFF2-40B4-BE49-F238E27FC236}">
                <a16:creationId xmlns:a16="http://schemas.microsoft.com/office/drawing/2014/main" id="{35D929A0-231D-1240-9D4E-D34941075FB6}"/>
              </a:ext>
            </a:extLst>
          </p:cNvPr>
          <p:cNvSpPr txBox="1"/>
          <p:nvPr/>
        </p:nvSpPr>
        <p:spPr>
          <a:xfrm>
            <a:off x="540000" y="3977801"/>
            <a:ext cx="530915" cy="646331"/>
          </a:xfrm>
          <a:prstGeom prst="rect">
            <a:avLst/>
          </a:prstGeom>
          <a:noFill/>
        </p:spPr>
        <p:txBody>
          <a:bodyPr wrap="none" rtlCol="0">
            <a:spAutoFit/>
          </a:bodyPr>
          <a:lstStyle/>
          <a:p>
            <a:r>
              <a:rPr lang="en-GB" sz="3600" b="1" dirty="0">
                <a:solidFill>
                  <a:srgbClr val="0070C0"/>
                </a:solidFill>
              </a:rPr>
              <a:t>✓</a:t>
            </a:r>
          </a:p>
        </p:txBody>
      </p:sp>
      <p:sp>
        <p:nvSpPr>
          <p:cNvPr id="8" name="TextBox 7">
            <a:extLst>
              <a:ext uri="{FF2B5EF4-FFF2-40B4-BE49-F238E27FC236}">
                <a16:creationId xmlns:a16="http://schemas.microsoft.com/office/drawing/2014/main" id="{2D665B36-599A-0A4B-82CC-E13599829A11}"/>
              </a:ext>
            </a:extLst>
          </p:cNvPr>
          <p:cNvSpPr txBox="1"/>
          <p:nvPr/>
        </p:nvSpPr>
        <p:spPr>
          <a:xfrm>
            <a:off x="555372" y="5288826"/>
            <a:ext cx="530915" cy="646331"/>
          </a:xfrm>
          <a:prstGeom prst="rect">
            <a:avLst/>
          </a:prstGeom>
          <a:noFill/>
        </p:spPr>
        <p:txBody>
          <a:bodyPr wrap="none" rtlCol="0">
            <a:spAutoFit/>
          </a:bodyPr>
          <a:lstStyle/>
          <a:p>
            <a:r>
              <a:rPr lang="en-GB" sz="3600" b="1" dirty="0">
                <a:solidFill>
                  <a:srgbClr val="0070C0"/>
                </a:solidFill>
              </a:rPr>
              <a:t>✓</a:t>
            </a:r>
          </a:p>
        </p:txBody>
      </p:sp>
    </p:spTree>
    <p:extLst>
      <p:ext uri="{BB962C8B-B14F-4D97-AF65-F5344CB8AC3E}">
        <p14:creationId xmlns:p14="http://schemas.microsoft.com/office/powerpoint/2010/main" val="122434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8756AD595E1543893B9C37A0C9C8FD" ma:contentTypeVersion="21" ma:contentTypeDescription="Create a new document." ma:contentTypeScope="" ma:versionID="64b1032288ab72dc7f2345e0587662ef">
  <xsd:schema xmlns:xsd="http://www.w3.org/2001/XMLSchema" xmlns:xs="http://www.w3.org/2001/XMLSchema" xmlns:p="http://schemas.microsoft.com/office/2006/metadata/properties" xmlns:ns2="65a4e5fc-8c76-4ebf-8d85-4508e738e527" xmlns:ns3="97260271-9b44-431f-a802-d08909452894" targetNamespace="http://schemas.microsoft.com/office/2006/metadata/properties" ma:root="true" ma:fieldsID="aacaa07c85aefd71e1dbb9b2437b615f" ns2:_="" ns3:_="">
    <xsd:import namespace="65a4e5fc-8c76-4ebf-8d85-4508e738e527"/>
    <xsd:import namespace="97260271-9b44-431f-a802-d0890945289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_Flow_SignoffStatus" minOccurs="0"/>
                <xsd:element ref="ns2:Complete"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a4e5fc-8c76-4ebf-8d85-4508e738e5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ece25d9-12d7-4481-8120-14121ffe4470"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Sign-off status" ma:internalName="Sign_x002d_off_x0020_status">
      <xsd:simpleType>
        <xsd:restriction base="dms:Text"/>
      </xsd:simpleType>
    </xsd:element>
    <xsd:element name="Complete" ma:index="25" nillable="true" ma:displayName="Complete" ma:default="1" ma:format="Dropdown" ma:internalName="Complete">
      <xsd:simpleType>
        <xsd:restriction base="dms:Boolea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260271-9b44-431f-a802-d0890945289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6ab9708-1e81-4924-b61c-30706acb3c8f}" ma:internalName="TaxCatchAll" ma:showField="CatchAllData" ma:web="97260271-9b44-431f-a802-d089094528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7260271-9b44-431f-a802-d08909452894" xsi:nil="true"/>
    <_Flow_SignoffStatus xmlns="65a4e5fc-8c76-4ebf-8d85-4508e738e527" xsi:nil="true"/>
    <lcf76f155ced4ddcb4097134ff3c332f xmlns="65a4e5fc-8c76-4ebf-8d85-4508e738e527">
      <Terms xmlns="http://schemas.microsoft.com/office/infopath/2007/PartnerControls"/>
    </lcf76f155ced4ddcb4097134ff3c332f>
    <Complete xmlns="65a4e5fc-8c76-4ebf-8d85-4508e738e527">true</Complete>
  </documentManagement>
</p:properties>
</file>

<file path=customXml/itemProps1.xml><?xml version="1.0" encoding="utf-8"?>
<ds:datastoreItem xmlns:ds="http://schemas.openxmlformats.org/officeDocument/2006/customXml" ds:itemID="{618E27D1-10DA-47F8-B61D-E36F74D7877A}">
  <ds:schemaRefs>
    <ds:schemaRef ds:uri="65a4e5fc-8c76-4ebf-8d85-4508e738e527"/>
    <ds:schemaRef ds:uri="97260271-9b44-431f-a802-d089094528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8B0502-705D-4976-994E-F2B0BB2A2AC4}">
  <ds:schemaRefs>
    <ds:schemaRef ds:uri="http://schemas.microsoft.com/sharepoint/v3/contenttype/forms"/>
  </ds:schemaRefs>
</ds:datastoreItem>
</file>

<file path=customXml/itemProps3.xml><?xml version="1.0" encoding="utf-8"?>
<ds:datastoreItem xmlns:ds="http://schemas.openxmlformats.org/officeDocument/2006/customXml" ds:itemID="{32399761-A4E1-4B8C-A6BD-461911EFB2C2}">
  <ds:schemaRefs>
    <ds:schemaRef ds:uri="65a4e5fc-8c76-4ebf-8d85-4508e738e527"/>
    <ds:schemaRef ds:uri="97260271-9b44-431f-a802-d08909452894"/>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966</TotalTime>
  <Words>4197</Words>
  <Application>Microsoft Macintosh PowerPoint</Application>
  <PresentationFormat>Widescreen</PresentationFormat>
  <Paragraphs>461</Paragraphs>
  <Slides>38</Slides>
  <Notes>36</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vt:lpstr>
      <vt:lpstr>Aptos Display</vt:lpstr>
      <vt:lpstr>Arial</vt:lpstr>
      <vt:lpstr>Calibri</vt:lpstr>
      <vt:lpstr>Century Gothic</vt:lpstr>
      <vt:lpstr>Georgia</vt:lpstr>
      <vt:lpstr>Wingdings</vt:lpstr>
      <vt:lpstr>Office Theme</vt:lpstr>
      <vt:lpstr>PowerPoint Presentation</vt:lpstr>
      <vt:lpstr>PowerPoint Presentation</vt:lpstr>
      <vt:lpstr>PowerPoint Presentation</vt:lpstr>
      <vt:lpstr>PowerPoint Presentation</vt:lpstr>
      <vt:lpstr>MWB Quiz</vt:lpstr>
      <vt:lpstr>MWB Quiz</vt:lpstr>
      <vt:lpstr>PowerPoint Presentation</vt:lpstr>
      <vt:lpstr>Extracting Copper</vt:lpstr>
      <vt:lpstr>PowerPoint Presentation</vt:lpstr>
      <vt:lpstr>PowerPoint Presentation</vt:lpstr>
      <vt:lpstr>PowerPoint Presentation</vt:lpstr>
      <vt:lpstr>PowerPoint Presentation</vt:lpstr>
      <vt:lpstr>Is this statement correct?</vt:lpstr>
      <vt:lpstr>Drill</vt:lpstr>
      <vt:lpstr>Drill answers</vt:lpstr>
      <vt:lpstr>I: Describe: to recall facts, events or processes in an accurate way</vt:lpstr>
      <vt:lpstr>We: Describe: to recall facts, events or processes in an accurate way</vt:lpstr>
      <vt:lpstr>You: Describe: to recall facts, events or processes in an accurate way</vt:lpstr>
      <vt:lpstr>Answers – Section A</vt:lpstr>
      <vt:lpstr>Answers – Section A</vt:lpstr>
      <vt:lpstr>Answers – Section B</vt:lpstr>
      <vt:lpstr>Answers – Section B</vt:lpstr>
      <vt:lpstr>Answers – Section C</vt:lpstr>
      <vt:lpstr>Answers – Section C</vt:lpstr>
      <vt:lpstr>PowerPoint Presentation</vt:lpstr>
      <vt:lpstr>I: Describe: to recall facts, events or processes in an accurate way</vt:lpstr>
      <vt:lpstr>We: Describe: to recall facts, events or processes in an accurate way</vt:lpstr>
      <vt:lpstr>You: Describe: to recall facts, events or processes in an accurate 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Answer the questions below.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Myint (Chobham)</dc:creator>
  <cp:lastModifiedBy>Maria Sharif</cp:lastModifiedBy>
  <cp:revision>38</cp:revision>
  <dcterms:created xsi:type="dcterms:W3CDTF">2025-08-22T20:39:15Z</dcterms:created>
  <dcterms:modified xsi:type="dcterms:W3CDTF">2026-01-27T13:37:00Z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0x0101009E8756AD595E1543893B9C37A0C9C8FD</vt:lpwstr>
  </property>
  <property fmtid="{D5CDD505-2E9C-101B-9397-08002B2CF9AE}" pid="3" name="MediaServiceImageTags">
    <vt:lpwstr/>
  </property>
</Properties>
</file>