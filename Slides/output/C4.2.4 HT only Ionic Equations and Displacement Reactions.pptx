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1"/>
  </p:notesMasterIdLst>
  <p:sldIdLst>
    <p:sldId id="272" r:id="rId5"/>
    <p:sldId id="281" r:id="rId6"/>
    <p:sldId id="280" r:id="rId7"/>
    <p:sldId id="273" r:id="rId8"/>
    <p:sldId id="275" r:id="rId9"/>
    <p:sldId id="282" r:id="rId10"/>
    <p:sldId id="385" r:id="rId11"/>
    <p:sldId id="388" r:id="rId12"/>
    <p:sldId id="389" r:id="rId13"/>
    <p:sldId id="390" r:id="rId14"/>
    <p:sldId id="391" r:id="rId15"/>
    <p:sldId id="378" r:id="rId16"/>
    <p:sldId id="372" r:id="rId17"/>
    <p:sldId id="392" r:id="rId18"/>
    <p:sldId id="393" r:id="rId19"/>
    <p:sldId id="279" r:id="rId20"/>
    <p:sldId id="394" r:id="rId21"/>
    <p:sldId id="395" r:id="rId22"/>
    <p:sldId id="396" r:id="rId23"/>
    <p:sldId id="397" r:id="rId24"/>
    <p:sldId id="398" r:id="rId25"/>
    <p:sldId id="399" r:id="rId26"/>
    <p:sldId id="400" r:id="rId27"/>
    <p:sldId id="401" r:id="rId28"/>
    <p:sldId id="387" r:id="rId29"/>
    <p:sldId id="386"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449"/>
    <p:restoredTop sz="78085"/>
  </p:normalViewPr>
  <p:slideViewPr>
    <p:cSldViewPr snapToGrid="0">
      <p:cViewPr varScale="1">
        <p:scale>
          <a:sx n="64" d="100"/>
          <a:sy n="64" d="100"/>
        </p:scale>
        <p:origin x="184" y="8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ableStyles" Target="tableStyles.xml"/><Relationship Id="rId8" Type="http://schemas.openxmlformats.org/officeDocument/2006/relationships/slide" Target="slides/slide4.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35B0610-311D-4348-915B-DDD1A9938AEC}" type="doc">
      <dgm:prSet loTypeId="urn:microsoft.com/office/officeart/2005/8/layout/chevron1" loCatId="process" qsTypeId="urn:microsoft.com/office/officeart/2005/8/quickstyle/simple1" qsCatId="simple" csTypeId="urn:microsoft.com/office/officeart/2005/8/colors/accent1_2" csCatId="accent1" phldr="1"/>
      <dgm:spPr/>
    </dgm:pt>
    <dgm:pt modelId="{94FF8DC1-DFE2-4E07-A857-EE722082E6D3}">
      <dgm:prSet phldrT="[Text]" phldr="0"/>
      <dgm:spPr/>
      <dgm:t>
        <a:bodyPr/>
        <a:lstStyle/>
        <a:p>
          <a:pPr rtl="0"/>
          <a:r>
            <a:rPr lang="en-US">
              <a:latin typeface="Aptos Display" panose="02110004020202020204"/>
            </a:rPr>
            <a:t>Lesson 1</a:t>
          </a:r>
          <a:endParaRPr lang="en-US"/>
        </a:p>
      </dgm:t>
    </dgm:pt>
    <dgm:pt modelId="{98700FB0-8142-45AF-A9DB-336DC6E4FF2E}" type="parTrans" cxnId="{07CB7721-BB66-45F0-BA6D-1132CACBC270}">
      <dgm:prSet/>
      <dgm:spPr/>
    </dgm:pt>
    <dgm:pt modelId="{4D5F3DE0-AEA4-470F-B496-327CC722D6AE}" type="sibTrans" cxnId="{07CB7721-BB66-45F0-BA6D-1132CACBC270}">
      <dgm:prSet/>
      <dgm:spPr/>
    </dgm:pt>
    <dgm:pt modelId="{8731E2D6-B6F0-4671-8C0F-F345E4EAE7EA}">
      <dgm:prSet phldrT="[Text]" phldr="0"/>
      <dgm:spPr/>
      <dgm:t>
        <a:bodyPr/>
        <a:lstStyle/>
        <a:p>
          <a:pPr rtl="0"/>
          <a:r>
            <a:rPr lang="en-US">
              <a:latin typeface="Aptos Display" panose="02110004020202020204"/>
            </a:rPr>
            <a:t>Lesson 2</a:t>
          </a:r>
        </a:p>
      </dgm:t>
    </dgm:pt>
    <dgm:pt modelId="{337CC7F5-FB13-4C57-A1A9-F99882EBFF13}" type="parTrans" cxnId="{807A06A0-C873-4B4A-B2A9-2F706D1FF34D}">
      <dgm:prSet/>
      <dgm:spPr/>
    </dgm:pt>
    <dgm:pt modelId="{9E1BF1F3-D241-4BD3-9912-EE4EB4FE4AD0}" type="sibTrans" cxnId="{807A06A0-C873-4B4A-B2A9-2F706D1FF34D}">
      <dgm:prSet/>
      <dgm:spPr/>
    </dgm:pt>
    <dgm:pt modelId="{5C329195-4BF1-4FAE-9B65-2268C4FF0177}">
      <dgm:prSet phldrT="[Text]" phldr="0"/>
      <dgm:spPr/>
      <dgm:t>
        <a:bodyPr/>
        <a:lstStyle/>
        <a:p>
          <a:pPr rtl="0"/>
          <a:r>
            <a:rPr lang="en-US">
              <a:latin typeface="Aptos Display" panose="02110004020202020204"/>
            </a:rPr>
            <a:t>Lesson 3</a:t>
          </a:r>
        </a:p>
      </dgm:t>
    </dgm:pt>
    <dgm:pt modelId="{179CF818-26A5-4364-8107-FC1DD8FD5AB3}" type="parTrans" cxnId="{4FFFA4CC-5036-4A5C-AF62-274EB3408F2D}">
      <dgm:prSet/>
      <dgm:spPr/>
    </dgm:pt>
    <dgm:pt modelId="{752A639A-8CC7-453B-B946-79E92EF462C6}" type="sibTrans" cxnId="{4FFFA4CC-5036-4A5C-AF62-274EB3408F2D}">
      <dgm:prSet/>
      <dgm:spPr/>
    </dgm:pt>
    <dgm:pt modelId="{A52461F9-6676-4EE9-97A1-CD4390B7A899}">
      <dgm:prSet phldr="0"/>
      <dgm:spPr/>
      <dgm:t>
        <a:bodyPr/>
        <a:lstStyle/>
        <a:p>
          <a:pPr rtl="0"/>
          <a:r>
            <a:rPr lang="en-US">
              <a:latin typeface="Aptos Display" panose="02110004020202020204"/>
            </a:rPr>
            <a:t>Lesson 4</a:t>
          </a:r>
        </a:p>
      </dgm:t>
    </dgm:pt>
    <dgm:pt modelId="{A19FE63A-6384-49DC-9085-626402609174}" type="parTrans" cxnId="{F68D6A07-3BA8-4B79-B18A-F0C483E12D83}">
      <dgm:prSet/>
      <dgm:spPr/>
    </dgm:pt>
    <dgm:pt modelId="{65E597CD-8CF1-49B6-8CC2-E42862CBAE4C}" type="sibTrans" cxnId="{F68D6A07-3BA8-4B79-B18A-F0C483E12D83}">
      <dgm:prSet/>
      <dgm:spPr/>
    </dgm:pt>
    <dgm:pt modelId="{9A193C4C-21B9-4EF6-8303-A913451C7365}">
      <dgm:prSet phldr="0"/>
      <dgm:spPr/>
      <dgm:t>
        <a:bodyPr/>
        <a:lstStyle/>
        <a:p>
          <a:pPr rtl="0"/>
          <a:r>
            <a:rPr lang="en-US">
              <a:latin typeface="Aptos Display" panose="02110004020202020204"/>
            </a:rPr>
            <a:t>Lesson 5</a:t>
          </a:r>
        </a:p>
      </dgm:t>
    </dgm:pt>
    <dgm:pt modelId="{1DF00475-CDC9-4168-9E50-A23E3DC7266C}" type="parTrans" cxnId="{73866023-ED0B-4EDF-B999-ABED7595BB32}">
      <dgm:prSet/>
      <dgm:spPr/>
    </dgm:pt>
    <dgm:pt modelId="{FF815E0A-5F33-4E02-9B58-E227E7B01CDE}" type="sibTrans" cxnId="{73866023-ED0B-4EDF-B999-ABED7595BB32}">
      <dgm:prSet/>
      <dgm:spPr/>
    </dgm:pt>
    <dgm:pt modelId="{03F5FEED-92F6-47A1-A88B-1653A57FE17A}">
      <dgm:prSet phldr="0"/>
      <dgm:spPr/>
      <dgm:t>
        <a:bodyPr/>
        <a:lstStyle/>
        <a:p>
          <a:pPr rtl="0"/>
          <a:r>
            <a:rPr lang="en-US">
              <a:latin typeface="Aptos Display" panose="02110004020202020204"/>
            </a:rPr>
            <a:t>Lesson 6</a:t>
          </a:r>
        </a:p>
      </dgm:t>
    </dgm:pt>
    <dgm:pt modelId="{3BCF4CE6-7ACA-4D2F-AC5B-4D1D90E55824}" type="parTrans" cxnId="{E5AADDE9-3773-4032-A7B9-885DDFAD8B97}">
      <dgm:prSet/>
      <dgm:spPr/>
    </dgm:pt>
    <dgm:pt modelId="{EF539413-B11F-4304-99A4-66005D187C6E}" type="sibTrans" cxnId="{E5AADDE9-3773-4032-A7B9-885DDFAD8B97}">
      <dgm:prSet/>
      <dgm:spPr/>
    </dgm:pt>
    <dgm:pt modelId="{668E6D2D-2A4B-4E0B-BFD2-D030B22D2C93}">
      <dgm:prSet phldr="0"/>
      <dgm:spPr/>
      <dgm:t>
        <a:bodyPr/>
        <a:lstStyle/>
        <a:p>
          <a:pPr rtl="0"/>
          <a:r>
            <a:rPr lang="en-US">
              <a:latin typeface="Aptos Display" panose="02110004020202020204"/>
            </a:rPr>
            <a:t>Lesson 8</a:t>
          </a:r>
        </a:p>
      </dgm:t>
    </dgm:pt>
    <dgm:pt modelId="{E8729609-8474-4F93-9322-9868A4503E5E}" type="parTrans" cxnId="{8B051765-9AEA-44C2-8BA5-BC5D2A784D07}">
      <dgm:prSet/>
      <dgm:spPr/>
    </dgm:pt>
    <dgm:pt modelId="{E413D3A7-5D9B-4C38-8A54-ED080E157E6D}" type="sibTrans" cxnId="{8B051765-9AEA-44C2-8BA5-BC5D2A784D07}">
      <dgm:prSet/>
      <dgm:spPr/>
    </dgm:pt>
    <dgm:pt modelId="{EA4350A7-521B-4006-947C-92F6CD8F489E}">
      <dgm:prSet phldr="0"/>
      <dgm:spPr/>
      <dgm:t>
        <a:bodyPr/>
        <a:lstStyle/>
        <a:p>
          <a:pPr rtl="0"/>
          <a:r>
            <a:rPr lang="en-US">
              <a:latin typeface="Aptos Display" panose="02110004020202020204"/>
            </a:rPr>
            <a:t>Lesson 9</a:t>
          </a:r>
        </a:p>
      </dgm:t>
    </dgm:pt>
    <dgm:pt modelId="{320FF8BA-F2BB-4139-909D-045AF6222395}" type="parTrans" cxnId="{0A1676ED-D067-4793-98D9-564BAE2FD75B}">
      <dgm:prSet/>
      <dgm:spPr/>
    </dgm:pt>
    <dgm:pt modelId="{BDAD7E01-BFCD-4DC7-AC09-202A787D99BB}" type="sibTrans" cxnId="{0A1676ED-D067-4793-98D9-564BAE2FD75B}">
      <dgm:prSet/>
      <dgm:spPr/>
    </dgm:pt>
    <dgm:pt modelId="{DA35A0F9-9656-4FA0-91C9-3A8CA933A4F9}">
      <dgm:prSet phldr="0"/>
      <dgm:spPr/>
      <dgm:t>
        <a:bodyPr/>
        <a:lstStyle/>
        <a:p>
          <a:pPr rtl="0"/>
          <a:r>
            <a:rPr lang="en-US">
              <a:latin typeface="Aptos Display" panose="02110004020202020204"/>
            </a:rPr>
            <a:t>Lesson 10</a:t>
          </a:r>
        </a:p>
      </dgm:t>
    </dgm:pt>
    <dgm:pt modelId="{5CE3DBDB-7431-447E-8A55-EB0425AFF8FF}" type="parTrans" cxnId="{6015110E-856E-4923-8265-192DCAE0654C}">
      <dgm:prSet/>
      <dgm:spPr/>
    </dgm:pt>
    <dgm:pt modelId="{5FA867F8-9D05-4E3E-96BD-8B008F35D90C}" type="sibTrans" cxnId="{6015110E-856E-4923-8265-192DCAE0654C}">
      <dgm:prSet/>
      <dgm:spPr/>
    </dgm:pt>
    <dgm:pt modelId="{A0040AD4-FF20-40CE-AE6C-2827E1B4FC99}">
      <dgm:prSet phldr="0"/>
      <dgm:spPr/>
      <dgm:t>
        <a:bodyPr/>
        <a:lstStyle/>
        <a:p>
          <a:pPr rtl="0"/>
          <a:r>
            <a:rPr lang="en-US">
              <a:latin typeface="Aptos Display" panose="02110004020202020204"/>
            </a:rPr>
            <a:t>Lesson 7</a:t>
          </a:r>
        </a:p>
      </dgm:t>
    </dgm:pt>
    <dgm:pt modelId="{4A8033A3-0C99-4356-9EE8-F5155DED00AE}" type="parTrans" cxnId="{3D35672C-EFE4-443B-9E2E-310026CEC04C}">
      <dgm:prSet/>
      <dgm:spPr/>
    </dgm:pt>
    <dgm:pt modelId="{62253709-0C06-4719-8708-911BC00A8974}" type="sibTrans" cxnId="{3D35672C-EFE4-443B-9E2E-310026CEC04C}">
      <dgm:prSet/>
      <dgm:spPr/>
    </dgm:pt>
    <dgm:pt modelId="{C8ACF9E2-E672-4C51-9494-F4DC60668984}" type="pres">
      <dgm:prSet presAssocID="{635B0610-311D-4348-915B-DDD1A9938AEC}" presName="Name0" presStyleCnt="0">
        <dgm:presLayoutVars>
          <dgm:dir/>
          <dgm:animLvl val="lvl"/>
          <dgm:resizeHandles val="exact"/>
        </dgm:presLayoutVars>
      </dgm:prSet>
      <dgm:spPr/>
    </dgm:pt>
    <dgm:pt modelId="{68B8EBFE-9EDA-45AC-8EBC-570918CF1F0A}" type="pres">
      <dgm:prSet presAssocID="{94FF8DC1-DFE2-4E07-A857-EE722082E6D3}" presName="parTxOnly" presStyleLbl="node1" presStyleIdx="0" presStyleCnt="10">
        <dgm:presLayoutVars>
          <dgm:chMax val="0"/>
          <dgm:chPref val="0"/>
          <dgm:bulletEnabled val="1"/>
        </dgm:presLayoutVars>
      </dgm:prSet>
      <dgm:spPr/>
    </dgm:pt>
    <dgm:pt modelId="{56180EC6-0166-471A-9DA1-C6886C0EB9C7}" type="pres">
      <dgm:prSet presAssocID="{4D5F3DE0-AEA4-470F-B496-327CC722D6AE}" presName="parTxOnlySpace" presStyleCnt="0"/>
      <dgm:spPr/>
    </dgm:pt>
    <dgm:pt modelId="{BB6DF1F9-503C-4015-95D9-C36337738F20}" type="pres">
      <dgm:prSet presAssocID="{8731E2D6-B6F0-4671-8C0F-F345E4EAE7EA}" presName="parTxOnly" presStyleLbl="node1" presStyleIdx="1" presStyleCnt="10">
        <dgm:presLayoutVars>
          <dgm:chMax val="0"/>
          <dgm:chPref val="0"/>
          <dgm:bulletEnabled val="1"/>
        </dgm:presLayoutVars>
      </dgm:prSet>
      <dgm:spPr/>
    </dgm:pt>
    <dgm:pt modelId="{F595DFB2-E8AF-427C-B4FF-10F9B97954B1}" type="pres">
      <dgm:prSet presAssocID="{9E1BF1F3-D241-4BD3-9912-EE4EB4FE4AD0}" presName="parTxOnlySpace" presStyleCnt="0"/>
      <dgm:spPr/>
    </dgm:pt>
    <dgm:pt modelId="{DE182856-3BE8-4EFE-A29A-5BEF77535E43}" type="pres">
      <dgm:prSet presAssocID="{5C329195-4BF1-4FAE-9B65-2268C4FF0177}" presName="parTxOnly" presStyleLbl="node1" presStyleIdx="2" presStyleCnt="10">
        <dgm:presLayoutVars>
          <dgm:chMax val="0"/>
          <dgm:chPref val="0"/>
          <dgm:bulletEnabled val="1"/>
        </dgm:presLayoutVars>
      </dgm:prSet>
      <dgm:spPr/>
    </dgm:pt>
    <dgm:pt modelId="{BE68944F-2D35-4C51-A4FD-D95E65C35504}" type="pres">
      <dgm:prSet presAssocID="{752A639A-8CC7-453B-B946-79E92EF462C6}" presName="parTxOnlySpace" presStyleCnt="0"/>
      <dgm:spPr/>
    </dgm:pt>
    <dgm:pt modelId="{14674A6A-7936-4E05-BD7A-0E91412AA42E}" type="pres">
      <dgm:prSet presAssocID="{A52461F9-6676-4EE9-97A1-CD4390B7A899}" presName="parTxOnly" presStyleLbl="node1" presStyleIdx="3" presStyleCnt="10">
        <dgm:presLayoutVars>
          <dgm:chMax val="0"/>
          <dgm:chPref val="0"/>
          <dgm:bulletEnabled val="1"/>
        </dgm:presLayoutVars>
      </dgm:prSet>
      <dgm:spPr/>
    </dgm:pt>
    <dgm:pt modelId="{DCBC511F-1DC0-4373-84A4-703EAB97E393}" type="pres">
      <dgm:prSet presAssocID="{65E597CD-8CF1-49B6-8CC2-E42862CBAE4C}" presName="parTxOnlySpace" presStyleCnt="0"/>
      <dgm:spPr/>
    </dgm:pt>
    <dgm:pt modelId="{1EDDAC8A-AF1B-41CF-BBA6-E7E6BBF11B52}" type="pres">
      <dgm:prSet presAssocID="{9A193C4C-21B9-4EF6-8303-A913451C7365}" presName="parTxOnly" presStyleLbl="node1" presStyleIdx="4" presStyleCnt="10">
        <dgm:presLayoutVars>
          <dgm:chMax val="0"/>
          <dgm:chPref val="0"/>
          <dgm:bulletEnabled val="1"/>
        </dgm:presLayoutVars>
      </dgm:prSet>
      <dgm:spPr/>
    </dgm:pt>
    <dgm:pt modelId="{19C10A48-7246-4BF4-BF07-32D8D275C2C4}" type="pres">
      <dgm:prSet presAssocID="{FF815E0A-5F33-4E02-9B58-E227E7B01CDE}" presName="parTxOnlySpace" presStyleCnt="0"/>
      <dgm:spPr/>
    </dgm:pt>
    <dgm:pt modelId="{1ACCC987-2AC2-4EE5-ACE7-6DDFA8547BDF}" type="pres">
      <dgm:prSet presAssocID="{03F5FEED-92F6-47A1-A88B-1653A57FE17A}" presName="parTxOnly" presStyleLbl="node1" presStyleIdx="5" presStyleCnt="10">
        <dgm:presLayoutVars>
          <dgm:chMax val="0"/>
          <dgm:chPref val="0"/>
          <dgm:bulletEnabled val="1"/>
        </dgm:presLayoutVars>
      </dgm:prSet>
      <dgm:spPr/>
    </dgm:pt>
    <dgm:pt modelId="{7B4CB7AE-D910-4943-877F-CC0737C3752F}" type="pres">
      <dgm:prSet presAssocID="{EF539413-B11F-4304-99A4-66005D187C6E}" presName="parTxOnlySpace" presStyleCnt="0"/>
      <dgm:spPr/>
    </dgm:pt>
    <dgm:pt modelId="{2746B5AD-1476-418A-9AD2-0D3C6FE0B6DD}" type="pres">
      <dgm:prSet presAssocID="{A0040AD4-FF20-40CE-AE6C-2827E1B4FC99}" presName="parTxOnly" presStyleLbl="node1" presStyleIdx="6" presStyleCnt="10">
        <dgm:presLayoutVars>
          <dgm:chMax val="0"/>
          <dgm:chPref val="0"/>
          <dgm:bulletEnabled val="1"/>
        </dgm:presLayoutVars>
      </dgm:prSet>
      <dgm:spPr/>
    </dgm:pt>
    <dgm:pt modelId="{9CD026E3-2C33-433B-B903-84E650E7B24A}" type="pres">
      <dgm:prSet presAssocID="{62253709-0C06-4719-8708-911BC00A8974}" presName="parTxOnlySpace" presStyleCnt="0"/>
      <dgm:spPr/>
    </dgm:pt>
    <dgm:pt modelId="{C061DE45-99C2-48D2-82E1-BBC67C312D8F}" type="pres">
      <dgm:prSet presAssocID="{668E6D2D-2A4B-4E0B-BFD2-D030B22D2C93}" presName="parTxOnly" presStyleLbl="node1" presStyleIdx="7" presStyleCnt="10">
        <dgm:presLayoutVars>
          <dgm:chMax val="0"/>
          <dgm:chPref val="0"/>
          <dgm:bulletEnabled val="1"/>
        </dgm:presLayoutVars>
      </dgm:prSet>
      <dgm:spPr/>
    </dgm:pt>
    <dgm:pt modelId="{BD9DA90E-9FB6-475B-BAE6-437E34CB48CF}" type="pres">
      <dgm:prSet presAssocID="{E413D3A7-5D9B-4C38-8A54-ED080E157E6D}" presName="parTxOnlySpace" presStyleCnt="0"/>
      <dgm:spPr/>
    </dgm:pt>
    <dgm:pt modelId="{626D6980-53B9-45C2-959B-62956FB9B1B1}" type="pres">
      <dgm:prSet presAssocID="{EA4350A7-521B-4006-947C-92F6CD8F489E}" presName="parTxOnly" presStyleLbl="node1" presStyleIdx="8" presStyleCnt="10">
        <dgm:presLayoutVars>
          <dgm:chMax val="0"/>
          <dgm:chPref val="0"/>
          <dgm:bulletEnabled val="1"/>
        </dgm:presLayoutVars>
      </dgm:prSet>
      <dgm:spPr/>
    </dgm:pt>
    <dgm:pt modelId="{A820EFC8-991D-41E3-8FFB-0F68461FC984}" type="pres">
      <dgm:prSet presAssocID="{BDAD7E01-BFCD-4DC7-AC09-202A787D99BB}" presName="parTxOnlySpace" presStyleCnt="0"/>
      <dgm:spPr/>
    </dgm:pt>
    <dgm:pt modelId="{9B3A1FB1-2662-46BE-B777-25ADCF97A8A6}" type="pres">
      <dgm:prSet presAssocID="{DA35A0F9-9656-4FA0-91C9-3A8CA933A4F9}" presName="parTxOnly" presStyleLbl="node1" presStyleIdx="9" presStyleCnt="10">
        <dgm:presLayoutVars>
          <dgm:chMax val="0"/>
          <dgm:chPref val="0"/>
          <dgm:bulletEnabled val="1"/>
        </dgm:presLayoutVars>
      </dgm:prSet>
      <dgm:spPr/>
    </dgm:pt>
  </dgm:ptLst>
  <dgm:cxnLst>
    <dgm:cxn modelId="{F68D6A07-3BA8-4B79-B18A-F0C483E12D83}" srcId="{635B0610-311D-4348-915B-DDD1A9938AEC}" destId="{A52461F9-6676-4EE9-97A1-CD4390B7A899}" srcOrd="3" destOrd="0" parTransId="{A19FE63A-6384-49DC-9085-626402609174}" sibTransId="{65E597CD-8CF1-49B6-8CC2-E42862CBAE4C}"/>
    <dgm:cxn modelId="{6015110E-856E-4923-8265-192DCAE0654C}" srcId="{635B0610-311D-4348-915B-DDD1A9938AEC}" destId="{DA35A0F9-9656-4FA0-91C9-3A8CA933A4F9}" srcOrd="9" destOrd="0" parTransId="{5CE3DBDB-7431-447E-8A55-EB0425AFF8FF}" sibTransId="{5FA867F8-9D05-4E3E-96BD-8B008F35D90C}"/>
    <dgm:cxn modelId="{F6F40D15-E5DC-4F62-BFD2-C8783837D827}" type="presOf" srcId="{03F5FEED-92F6-47A1-A88B-1653A57FE17A}" destId="{1ACCC987-2AC2-4EE5-ACE7-6DDFA8547BDF}" srcOrd="0" destOrd="0" presId="urn:microsoft.com/office/officeart/2005/8/layout/chevron1"/>
    <dgm:cxn modelId="{41BCA81B-C283-4D24-AB5A-B89E87274299}" type="presOf" srcId="{9A193C4C-21B9-4EF6-8303-A913451C7365}" destId="{1EDDAC8A-AF1B-41CF-BBA6-E7E6BBF11B52}" srcOrd="0" destOrd="0" presId="urn:microsoft.com/office/officeart/2005/8/layout/chevron1"/>
    <dgm:cxn modelId="{0551941C-B5FF-45A7-B61A-2DEA417CD071}" type="presOf" srcId="{5C329195-4BF1-4FAE-9B65-2268C4FF0177}" destId="{DE182856-3BE8-4EFE-A29A-5BEF77535E43}" srcOrd="0" destOrd="0" presId="urn:microsoft.com/office/officeart/2005/8/layout/chevron1"/>
    <dgm:cxn modelId="{07CB7721-BB66-45F0-BA6D-1132CACBC270}" srcId="{635B0610-311D-4348-915B-DDD1A9938AEC}" destId="{94FF8DC1-DFE2-4E07-A857-EE722082E6D3}" srcOrd="0" destOrd="0" parTransId="{98700FB0-8142-45AF-A9DB-336DC6E4FF2E}" sibTransId="{4D5F3DE0-AEA4-470F-B496-327CC722D6AE}"/>
    <dgm:cxn modelId="{73866023-ED0B-4EDF-B999-ABED7595BB32}" srcId="{635B0610-311D-4348-915B-DDD1A9938AEC}" destId="{9A193C4C-21B9-4EF6-8303-A913451C7365}" srcOrd="4" destOrd="0" parTransId="{1DF00475-CDC9-4168-9E50-A23E3DC7266C}" sibTransId="{FF815E0A-5F33-4E02-9B58-E227E7B01CDE}"/>
    <dgm:cxn modelId="{3D35672C-EFE4-443B-9E2E-310026CEC04C}" srcId="{635B0610-311D-4348-915B-DDD1A9938AEC}" destId="{A0040AD4-FF20-40CE-AE6C-2827E1B4FC99}" srcOrd="6" destOrd="0" parTransId="{4A8033A3-0C99-4356-9EE8-F5155DED00AE}" sibTransId="{62253709-0C06-4719-8708-911BC00A8974}"/>
    <dgm:cxn modelId="{8CD5122E-AD8B-44CD-B280-474B324D3E5C}" type="presOf" srcId="{668E6D2D-2A4B-4E0B-BFD2-D030B22D2C93}" destId="{C061DE45-99C2-48D2-82E1-BBC67C312D8F}" srcOrd="0" destOrd="0" presId="urn:microsoft.com/office/officeart/2005/8/layout/chevron1"/>
    <dgm:cxn modelId="{D9F9E14A-4F2C-47B7-B484-ACBDE640CCB1}" type="presOf" srcId="{A0040AD4-FF20-40CE-AE6C-2827E1B4FC99}" destId="{2746B5AD-1476-418A-9AD2-0D3C6FE0B6DD}" srcOrd="0" destOrd="0" presId="urn:microsoft.com/office/officeart/2005/8/layout/chevron1"/>
    <dgm:cxn modelId="{8B051765-9AEA-44C2-8BA5-BC5D2A784D07}" srcId="{635B0610-311D-4348-915B-DDD1A9938AEC}" destId="{668E6D2D-2A4B-4E0B-BFD2-D030B22D2C93}" srcOrd="7" destOrd="0" parTransId="{E8729609-8474-4F93-9322-9868A4503E5E}" sibTransId="{E413D3A7-5D9B-4C38-8A54-ED080E157E6D}"/>
    <dgm:cxn modelId="{57E41B68-DE42-4519-A27C-FFFE5166A7B5}" type="presOf" srcId="{8731E2D6-B6F0-4671-8C0F-F345E4EAE7EA}" destId="{BB6DF1F9-503C-4015-95D9-C36337738F20}" srcOrd="0" destOrd="0" presId="urn:microsoft.com/office/officeart/2005/8/layout/chevron1"/>
    <dgm:cxn modelId="{31B8F486-A499-4780-842C-910BCE849231}" type="presOf" srcId="{EA4350A7-521B-4006-947C-92F6CD8F489E}" destId="{626D6980-53B9-45C2-959B-62956FB9B1B1}" srcOrd="0" destOrd="0" presId="urn:microsoft.com/office/officeart/2005/8/layout/chevron1"/>
    <dgm:cxn modelId="{DB3BDF89-6FCF-4C1C-A145-DEB076AFF571}" type="presOf" srcId="{94FF8DC1-DFE2-4E07-A857-EE722082E6D3}" destId="{68B8EBFE-9EDA-45AC-8EBC-570918CF1F0A}" srcOrd="0" destOrd="0" presId="urn:microsoft.com/office/officeart/2005/8/layout/chevron1"/>
    <dgm:cxn modelId="{807A06A0-C873-4B4A-B2A9-2F706D1FF34D}" srcId="{635B0610-311D-4348-915B-DDD1A9938AEC}" destId="{8731E2D6-B6F0-4671-8C0F-F345E4EAE7EA}" srcOrd="1" destOrd="0" parTransId="{337CC7F5-FB13-4C57-A1A9-F99882EBFF13}" sibTransId="{9E1BF1F3-D241-4BD3-9912-EE4EB4FE4AD0}"/>
    <dgm:cxn modelId="{4FFFA4CC-5036-4A5C-AF62-274EB3408F2D}" srcId="{635B0610-311D-4348-915B-DDD1A9938AEC}" destId="{5C329195-4BF1-4FAE-9B65-2268C4FF0177}" srcOrd="2" destOrd="0" parTransId="{179CF818-26A5-4364-8107-FC1DD8FD5AB3}" sibTransId="{752A639A-8CC7-453B-B946-79E92EF462C6}"/>
    <dgm:cxn modelId="{6F2A08D6-4BD0-4B80-8AD4-6BF46D25EC12}" type="presOf" srcId="{A52461F9-6676-4EE9-97A1-CD4390B7A899}" destId="{14674A6A-7936-4E05-BD7A-0E91412AA42E}" srcOrd="0" destOrd="0" presId="urn:microsoft.com/office/officeart/2005/8/layout/chevron1"/>
    <dgm:cxn modelId="{B425ADE8-8392-46A7-B77B-DF3022E64A22}" type="presOf" srcId="{635B0610-311D-4348-915B-DDD1A9938AEC}" destId="{C8ACF9E2-E672-4C51-9494-F4DC60668984}" srcOrd="0" destOrd="0" presId="urn:microsoft.com/office/officeart/2005/8/layout/chevron1"/>
    <dgm:cxn modelId="{E5AADDE9-3773-4032-A7B9-885DDFAD8B97}" srcId="{635B0610-311D-4348-915B-DDD1A9938AEC}" destId="{03F5FEED-92F6-47A1-A88B-1653A57FE17A}" srcOrd="5" destOrd="0" parTransId="{3BCF4CE6-7ACA-4D2F-AC5B-4D1D90E55824}" sibTransId="{EF539413-B11F-4304-99A4-66005D187C6E}"/>
    <dgm:cxn modelId="{0A1676ED-D067-4793-98D9-564BAE2FD75B}" srcId="{635B0610-311D-4348-915B-DDD1A9938AEC}" destId="{EA4350A7-521B-4006-947C-92F6CD8F489E}" srcOrd="8" destOrd="0" parTransId="{320FF8BA-F2BB-4139-909D-045AF6222395}" sibTransId="{BDAD7E01-BFCD-4DC7-AC09-202A787D99BB}"/>
    <dgm:cxn modelId="{2D2919F6-E85C-4F29-B4E6-F8571D0C43F0}" type="presOf" srcId="{DA35A0F9-9656-4FA0-91C9-3A8CA933A4F9}" destId="{9B3A1FB1-2662-46BE-B777-25ADCF97A8A6}" srcOrd="0" destOrd="0" presId="urn:microsoft.com/office/officeart/2005/8/layout/chevron1"/>
    <dgm:cxn modelId="{20A2C029-AB44-489E-AA67-3E4C6BBE24CC}" type="presParOf" srcId="{C8ACF9E2-E672-4C51-9494-F4DC60668984}" destId="{68B8EBFE-9EDA-45AC-8EBC-570918CF1F0A}" srcOrd="0" destOrd="0" presId="urn:microsoft.com/office/officeart/2005/8/layout/chevron1"/>
    <dgm:cxn modelId="{4ADE2076-B658-425F-A9FD-D7940932552B}" type="presParOf" srcId="{C8ACF9E2-E672-4C51-9494-F4DC60668984}" destId="{56180EC6-0166-471A-9DA1-C6886C0EB9C7}" srcOrd="1" destOrd="0" presId="urn:microsoft.com/office/officeart/2005/8/layout/chevron1"/>
    <dgm:cxn modelId="{9A71AD0A-0597-4F84-9A98-A84EC79AC035}" type="presParOf" srcId="{C8ACF9E2-E672-4C51-9494-F4DC60668984}" destId="{BB6DF1F9-503C-4015-95D9-C36337738F20}" srcOrd="2" destOrd="0" presId="urn:microsoft.com/office/officeart/2005/8/layout/chevron1"/>
    <dgm:cxn modelId="{E5C41F61-4637-413F-B377-8008F06FE8FA}" type="presParOf" srcId="{C8ACF9E2-E672-4C51-9494-F4DC60668984}" destId="{F595DFB2-E8AF-427C-B4FF-10F9B97954B1}" srcOrd="3" destOrd="0" presId="urn:microsoft.com/office/officeart/2005/8/layout/chevron1"/>
    <dgm:cxn modelId="{CFA56C79-6DC5-402F-8257-4272D5E128DA}" type="presParOf" srcId="{C8ACF9E2-E672-4C51-9494-F4DC60668984}" destId="{DE182856-3BE8-4EFE-A29A-5BEF77535E43}" srcOrd="4" destOrd="0" presId="urn:microsoft.com/office/officeart/2005/8/layout/chevron1"/>
    <dgm:cxn modelId="{C7B09D1D-E59A-411D-BF0B-462ACD50162F}" type="presParOf" srcId="{C8ACF9E2-E672-4C51-9494-F4DC60668984}" destId="{BE68944F-2D35-4C51-A4FD-D95E65C35504}" srcOrd="5" destOrd="0" presId="urn:microsoft.com/office/officeart/2005/8/layout/chevron1"/>
    <dgm:cxn modelId="{66F7B5CA-AD1D-4C82-884E-27E72CE64ABC}" type="presParOf" srcId="{C8ACF9E2-E672-4C51-9494-F4DC60668984}" destId="{14674A6A-7936-4E05-BD7A-0E91412AA42E}" srcOrd="6" destOrd="0" presId="urn:microsoft.com/office/officeart/2005/8/layout/chevron1"/>
    <dgm:cxn modelId="{16179195-EF82-41E7-B333-17A5C821751C}" type="presParOf" srcId="{C8ACF9E2-E672-4C51-9494-F4DC60668984}" destId="{DCBC511F-1DC0-4373-84A4-703EAB97E393}" srcOrd="7" destOrd="0" presId="urn:microsoft.com/office/officeart/2005/8/layout/chevron1"/>
    <dgm:cxn modelId="{E4996F21-6A5F-4FF4-9AC8-8D0C239E3A4A}" type="presParOf" srcId="{C8ACF9E2-E672-4C51-9494-F4DC60668984}" destId="{1EDDAC8A-AF1B-41CF-BBA6-E7E6BBF11B52}" srcOrd="8" destOrd="0" presId="urn:microsoft.com/office/officeart/2005/8/layout/chevron1"/>
    <dgm:cxn modelId="{75E824AB-63CA-404D-A3B8-F3DE9D31ED00}" type="presParOf" srcId="{C8ACF9E2-E672-4C51-9494-F4DC60668984}" destId="{19C10A48-7246-4BF4-BF07-32D8D275C2C4}" srcOrd="9" destOrd="0" presId="urn:microsoft.com/office/officeart/2005/8/layout/chevron1"/>
    <dgm:cxn modelId="{F432075C-33AA-4016-B5D5-B1C9B7936DEF}" type="presParOf" srcId="{C8ACF9E2-E672-4C51-9494-F4DC60668984}" destId="{1ACCC987-2AC2-4EE5-ACE7-6DDFA8547BDF}" srcOrd="10" destOrd="0" presId="urn:microsoft.com/office/officeart/2005/8/layout/chevron1"/>
    <dgm:cxn modelId="{C438C6EC-54A5-459E-B90D-5538EBE291D4}" type="presParOf" srcId="{C8ACF9E2-E672-4C51-9494-F4DC60668984}" destId="{7B4CB7AE-D910-4943-877F-CC0737C3752F}" srcOrd="11" destOrd="0" presId="urn:microsoft.com/office/officeart/2005/8/layout/chevron1"/>
    <dgm:cxn modelId="{1E2795FA-0FB8-4C8F-BD03-05CCE7E6C955}" type="presParOf" srcId="{C8ACF9E2-E672-4C51-9494-F4DC60668984}" destId="{2746B5AD-1476-418A-9AD2-0D3C6FE0B6DD}" srcOrd="12" destOrd="0" presId="urn:microsoft.com/office/officeart/2005/8/layout/chevron1"/>
    <dgm:cxn modelId="{83C4AED2-6ED8-4049-B180-3ECF8604730D}" type="presParOf" srcId="{C8ACF9E2-E672-4C51-9494-F4DC60668984}" destId="{9CD026E3-2C33-433B-B903-84E650E7B24A}" srcOrd="13" destOrd="0" presId="urn:microsoft.com/office/officeart/2005/8/layout/chevron1"/>
    <dgm:cxn modelId="{38D21FF8-66A3-4705-90AE-9EFAE1AA437D}" type="presParOf" srcId="{C8ACF9E2-E672-4C51-9494-F4DC60668984}" destId="{C061DE45-99C2-48D2-82E1-BBC67C312D8F}" srcOrd="14" destOrd="0" presId="urn:microsoft.com/office/officeart/2005/8/layout/chevron1"/>
    <dgm:cxn modelId="{E04C5752-342C-44A4-A16A-D9ADD8532EB3}" type="presParOf" srcId="{C8ACF9E2-E672-4C51-9494-F4DC60668984}" destId="{BD9DA90E-9FB6-475B-BAE6-437E34CB48CF}" srcOrd="15" destOrd="0" presId="urn:microsoft.com/office/officeart/2005/8/layout/chevron1"/>
    <dgm:cxn modelId="{5C5FA0D0-85EA-45F1-9F33-753540F8A329}" type="presParOf" srcId="{C8ACF9E2-E672-4C51-9494-F4DC60668984}" destId="{626D6980-53B9-45C2-959B-62956FB9B1B1}" srcOrd="16" destOrd="0" presId="urn:microsoft.com/office/officeart/2005/8/layout/chevron1"/>
    <dgm:cxn modelId="{AD379D10-A805-460A-BC13-FF1AA7D76698}" type="presParOf" srcId="{C8ACF9E2-E672-4C51-9494-F4DC60668984}" destId="{A820EFC8-991D-41E3-8FFB-0F68461FC984}" srcOrd="17" destOrd="0" presId="urn:microsoft.com/office/officeart/2005/8/layout/chevron1"/>
    <dgm:cxn modelId="{81068EF3-42EC-4301-9474-75A40078DA72}" type="presParOf" srcId="{C8ACF9E2-E672-4C51-9494-F4DC60668984}" destId="{9B3A1FB1-2662-46BE-B777-25ADCF97A8A6}" srcOrd="18"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8B8EBFE-9EDA-45AC-8EBC-570918CF1F0A}">
      <dsp:nvSpPr>
        <dsp:cNvPr id="0" name=""/>
        <dsp:cNvSpPr/>
      </dsp:nvSpPr>
      <dsp:spPr>
        <a:xfrm>
          <a:off x="1276" y="517706"/>
          <a:ext cx="1148630" cy="459452"/>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rtl="0">
            <a:lnSpc>
              <a:spcPct val="90000"/>
            </a:lnSpc>
            <a:spcBef>
              <a:spcPct val="0"/>
            </a:spcBef>
            <a:spcAft>
              <a:spcPct val="35000"/>
            </a:spcAft>
            <a:buNone/>
          </a:pPr>
          <a:r>
            <a:rPr lang="en-US" sz="1400" kern="1200">
              <a:latin typeface="Aptos Display" panose="02110004020202020204"/>
            </a:rPr>
            <a:t>Lesson 1</a:t>
          </a:r>
          <a:endParaRPr lang="en-US" sz="1400" kern="1200"/>
        </a:p>
      </dsp:txBody>
      <dsp:txXfrm>
        <a:off x="231002" y="517706"/>
        <a:ext cx="689178" cy="459452"/>
      </dsp:txXfrm>
    </dsp:sp>
    <dsp:sp modelId="{BB6DF1F9-503C-4015-95D9-C36337738F20}">
      <dsp:nvSpPr>
        <dsp:cNvPr id="0" name=""/>
        <dsp:cNvSpPr/>
      </dsp:nvSpPr>
      <dsp:spPr>
        <a:xfrm>
          <a:off x="1035043" y="517706"/>
          <a:ext cx="1148630" cy="459452"/>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rtl="0">
            <a:lnSpc>
              <a:spcPct val="90000"/>
            </a:lnSpc>
            <a:spcBef>
              <a:spcPct val="0"/>
            </a:spcBef>
            <a:spcAft>
              <a:spcPct val="35000"/>
            </a:spcAft>
            <a:buNone/>
          </a:pPr>
          <a:r>
            <a:rPr lang="en-US" sz="1400" kern="1200">
              <a:latin typeface="Aptos Display" panose="02110004020202020204"/>
            </a:rPr>
            <a:t>Lesson 2</a:t>
          </a:r>
        </a:p>
      </dsp:txBody>
      <dsp:txXfrm>
        <a:off x="1264769" y="517706"/>
        <a:ext cx="689178" cy="459452"/>
      </dsp:txXfrm>
    </dsp:sp>
    <dsp:sp modelId="{DE182856-3BE8-4EFE-A29A-5BEF77535E43}">
      <dsp:nvSpPr>
        <dsp:cNvPr id="0" name=""/>
        <dsp:cNvSpPr/>
      </dsp:nvSpPr>
      <dsp:spPr>
        <a:xfrm>
          <a:off x="2068810" y="517706"/>
          <a:ext cx="1148630" cy="459452"/>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rtl="0">
            <a:lnSpc>
              <a:spcPct val="90000"/>
            </a:lnSpc>
            <a:spcBef>
              <a:spcPct val="0"/>
            </a:spcBef>
            <a:spcAft>
              <a:spcPct val="35000"/>
            </a:spcAft>
            <a:buNone/>
          </a:pPr>
          <a:r>
            <a:rPr lang="en-US" sz="1400" kern="1200">
              <a:latin typeface="Aptos Display" panose="02110004020202020204"/>
            </a:rPr>
            <a:t>Lesson 3</a:t>
          </a:r>
        </a:p>
      </dsp:txBody>
      <dsp:txXfrm>
        <a:off x="2298536" y="517706"/>
        <a:ext cx="689178" cy="459452"/>
      </dsp:txXfrm>
    </dsp:sp>
    <dsp:sp modelId="{14674A6A-7936-4E05-BD7A-0E91412AA42E}">
      <dsp:nvSpPr>
        <dsp:cNvPr id="0" name=""/>
        <dsp:cNvSpPr/>
      </dsp:nvSpPr>
      <dsp:spPr>
        <a:xfrm>
          <a:off x="3102577" y="517706"/>
          <a:ext cx="1148630" cy="459452"/>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rtl="0">
            <a:lnSpc>
              <a:spcPct val="90000"/>
            </a:lnSpc>
            <a:spcBef>
              <a:spcPct val="0"/>
            </a:spcBef>
            <a:spcAft>
              <a:spcPct val="35000"/>
            </a:spcAft>
            <a:buNone/>
          </a:pPr>
          <a:r>
            <a:rPr lang="en-US" sz="1400" kern="1200">
              <a:latin typeface="Aptos Display" panose="02110004020202020204"/>
            </a:rPr>
            <a:t>Lesson 4</a:t>
          </a:r>
        </a:p>
      </dsp:txBody>
      <dsp:txXfrm>
        <a:off x="3332303" y="517706"/>
        <a:ext cx="689178" cy="459452"/>
      </dsp:txXfrm>
    </dsp:sp>
    <dsp:sp modelId="{1EDDAC8A-AF1B-41CF-BBA6-E7E6BBF11B52}">
      <dsp:nvSpPr>
        <dsp:cNvPr id="0" name=""/>
        <dsp:cNvSpPr/>
      </dsp:nvSpPr>
      <dsp:spPr>
        <a:xfrm>
          <a:off x="4136344" y="517706"/>
          <a:ext cx="1148630" cy="459452"/>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rtl="0">
            <a:lnSpc>
              <a:spcPct val="90000"/>
            </a:lnSpc>
            <a:spcBef>
              <a:spcPct val="0"/>
            </a:spcBef>
            <a:spcAft>
              <a:spcPct val="35000"/>
            </a:spcAft>
            <a:buNone/>
          </a:pPr>
          <a:r>
            <a:rPr lang="en-US" sz="1400" kern="1200">
              <a:latin typeface="Aptos Display" panose="02110004020202020204"/>
            </a:rPr>
            <a:t>Lesson 5</a:t>
          </a:r>
        </a:p>
      </dsp:txBody>
      <dsp:txXfrm>
        <a:off x="4366070" y="517706"/>
        <a:ext cx="689178" cy="459452"/>
      </dsp:txXfrm>
    </dsp:sp>
    <dsp:sp modelId="{1ACCC987-2AC2-4EE5-ACE7-6DDFA8547BDF}">
      <dsp:nvSpPr>
        <dsp:cNvPr id="0" name=""/>
        <dsp:cNvSpPr/>
      </dsp:nvSpPr>
      <dsp:spPr>
        <a:xfrm>
          <a:off x="5170111" y="517706"/>
          <a:ext cx="1148630" cy="459452"/>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rtl="0">
            <a:lnSpc>
              <a:spcPct val="90000"/>
            </a:lnSpc>
            <a:spcBef>
              <a:spcPct val="0"/>
            </a:spcBef>
            <a:spcAft>
              <a:spcPct val="35000"/>
            </a:spcAft>
            <a:buNone/>
          </a:pPr>
          <a:r>
            <a:rPr lang="en-US" sz="1400" kern="1200">
              <a:latin typeface="Aptos Display" panose="02110004020202020204"/>
            </a:rPr>
            <a:t>Lesson 6</a:t>
          </a:r>
        </a:p>
      </dsp:txBody>
      <dsp:txXfrm>
        <a:off x="5399837" y="517706"/>
        <a:ext cx="689178" cy="459452"/>
      </dsp:txXfrm>
    </dsp:sp>
    <dsp:sp modelId="{2746B5AD-1476-418A-9AD2-0D3C6FE0B6DD}">
      <dsp:nvSpPr>
        <dsp:cNvPr id="0" name=""/>
        <dsp:cNvSpPr/>
      </dsp:nvSpPr>
      <dsp:spPr>
        <a:xfrm>
          <a:off x="6203879" y="517706"/>
          <a:ext cx="1148630" cy="459452"/>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rtl="0">
            <a:lnSpc>
              <a:spcPct val="90000"/>
            </a:lnSpc>
            <a:spcBef>
              <a:spcPct val="0"/>
            </a:spcBef>
            <a:spcAft>
              <a:spcPct val="35000"/>
            </a:spcAft>
            <a:buNone/>
          </a:pPr>
          <a:r>
            <a:rPr lang="en-US" sz="1400" kern="1200">
              <a:latin typeface="Aptos Display" panose="02110004020202020204"/>
            </a:rPr>
            <a:t>Lesson 7</a:t>
          </a:r>
        </a:p>
      </dsp:txBody>
      <dsp:txXfrm>
        <a:off x="6433605" y="517706"/>
        <a:ext cx="689178" cy="459452"/>
      </dsp:txXfrm>
    </dsp:sp>
    <dsp:sp modelId="{C061DE45-99C2-48D2-82E1-BBC67C312D8F}">
      <dsp:nvSpPr>
        <dsp:cNvPr id="0" name=""/>
        <dsp:cNvSpPr/>
      </dsp:nvSpPr>
      <dsp:spPr>
        <a:xfrm>
          <a:off x="7237646" y="517706"/>
          <a:ext cx="1148630" cy="459452"/>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rtl="0">
            <a:lnSpc>
              <a:spcPct val="90000"/>
            </a:lnSpc>
            <a:spcBef>
              <a:spcPct val="0"/>
            </a:spcBef>
            <a:spcAft>
              <a:spcPct val="35000"/>
            </a:spcAft>
            <a:buNone/>
          </a:pPr>
          <a:r>
            <a:rPr lang="en-US" sz="1400" kern="1200">
              <a:latin typeface="Aptos Display" panose="02110004020202020204"/>
            </a:rPr>
            <a:t>Lesson 8</a:t>
          </a:r>
        </a:p>
      </dsp:txBody>
      <dsp:txXfrm>
        <a:off x="7467372" y="517706"/>
        <a:ext cx="689178" cy="459452"/>
      </dsp:txXfrm>
    </dsp:sp>
    <dsp:sp modelId="{626D6980-53B9-45C2-959B-62956FB9B1B1}">
      <dsp:nvSpPr>
        <dsp:cNvPr id="0" name=""/>
        <dsp:cNvSpPr/>
      </dsp:nvSpPr>
      <dsp:spPr>
        <a:xfrm>
          <a:off x="8271413" y="517706"/>
          <a:ext cx="1148630" cy="459452"/>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rtl="0">
            <a:lnSpc>
              <a:spcPct val="90000"/>
            </a:lnSpc>
            <a:spcBef>
              <a:spcPct val="0"/>
            </a:spcBef>
            <a:spcAft>
              <a:spcPct val="35000"/>
            </a:spcAft>
            <a:buNone/>
          </a:pPr>
          <a:r>
            <a:rPr lang="en-US" sz="1400" kern="1200">
              <a:latin typeface="Aptos Display" panose="02110004020202020204"/>
            </a:rPr>
            <a:t>Lesson 9</a:t>
          </a:r>
        </a:p>
      </dsp:txBody>
      <dsp:txXfrm>
        <a:off x="8501139" y="517706"/>
        <a:ext cx="689178" cy="459452"/>
      </dsp:txXfrm>
    </dsp:sp>
    <dsp:sp modelId="{9B3A1FB1-2662-46BE-B777-25ADCF97A8A6}">
      <dsp:nvSpPr>
        <dsp:cNvPr id="0" name=""/>
        <dsp:cNvSpPr/>
      </dsp:nvSpPr>
      <dsp:spPr>
        <a:xfrm>
          <a:off x="9305180" y="517706"/>
          <a:ext cx="1148630" cy="459452"/>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marL="0" lvl="0" indent="0" algn="ctr" defTabSz="622300" rtl="0">
            <a:lnSpc>
              <a:spcPct val="90000"/>
            </a:lnSpc>
            <a:spcBef>
              <a:spcPct val="0"/>
            </a:spcBef>
            <a:spcAft>
              <a:spcPct val="35000"/>
            </a:spcAft>
            <a:buNone/>
          </a:pPr>
          <a:r>
            <a:rPr lang="en-US" sz="1400" kern="1200">
              <a:latin typeface="Aptos Display" panose="02110004020202020204"/>
            </a:rPr>
            <a:t>Lesson 10</a:t>
          </a:r>
        </a:p>
      </dsp:txBody>
      <dsp:txXfrm>
        <a:off x="9534906" y="517706"/>
        <a:ext cx="689178" cy="459452"/>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9FC01E-F06A-6A4E-8839-3224B3335339}" type="datetimeFigureOut">
              <a:rPr lang="en-US" smtClean="0"/>
              <a:t>12/1/25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C02FAF-5122-C245-974D-1AD19803020E}" type="slidenum">
              <a:rPr lang="en-US" smtClean="0"/>
              <a:t>‹#›</a:t>
            </a:fld>
            <a:endParaRPr lang="en-US"/>
          </a:p>
        </p:txBody>
      </p:sp>
    </p:spTree>
    <p:extLst>
      <p:ext uri="{BB962C8B-B14F-4D97-AF65-F5344CB8AC3E}">
        <p14:creationId xmlns:p14="http://schemas.microsoft.com/office/powerpoint/2010/main" val="35382676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7298D9-067E-80BF-E301-A98B35347B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66A728-04D3-99C0-0001-0AEA6F304A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5E4FD1-613A-3139-99DA-2C0FCADE930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a:extLst>
              <a:ext uri="{FF2B5EF4-FFF2-40B4-BE49-F238E27FC236}">
                <a16:creationId xmlns:a16="http://schemas.microsoft.com/office/drawing/2014/main" id="{0E85E3C6-42C8-EFB4-8296-3564567FCDC0}"/>
              </a:ext>
            </a:extLst>
          </p:cNvPr>
          <p:cNvSpPr>
            <a:spLocks noGrp="1"/>
          </p:cNvSpPr>
          <p:nvPr>
            <p:ph type="sldNum" sz="quarter" idx="5"/>
          </p:nvPr>
        </p:nvSpPr>
        <p:spPr/>
        <p:txBody>
          <a:bodyPr/>
          <a:lstStyle/>
          <a:p>
            <a:fld id="{02C02FAF-5122-C245-974D-1AD19803020E}" type="slidenum">
              <a:rPr lang="en-US" smtClean="0"/>
              <a:t>1</a:t>
            </a:fld>
            <a:endParaRPr lang="en-US"/>
          </a:p>
        </p:txBody>
      </p:sp>
    </p:spTree>
    <p:extLst>
      <p:ext uri="{BB962C8B-B14F-4D97-AF65-F5344CB8AC3E}">
        <p14:creationId xmlns:p14="http://schemas.microsoft.com/office/powerpoint/2010/main" val="29127529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127513-9015-BAB1-B4CE-95A222F8C2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FE011F-C639-F48A-F4F3-F250898D9D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A75264-3EC8-CC68-3B48-6A5CF381552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a:extLst>
              <a:ext uri="{FF2B5EF4-FFF2-40B4-BE49-F238E27FC236}">
                <a16:creationId xmlns:a16="http://schemas.microsoft.com/office/drawing/2014/main" id="{8069FE5F-6410-5541-0F38-EA6B07898522}"/>
              </a:ext>
            </a:extLst>
          </p:cNvPr>
          <p:cNvSpPr>
            <a:spLocks noGrp="1"/>
          </p:cNvSpPr>
          <p:nvPr>
            <p:ph type="sldNum" sz="quarter" idx="5"/>
          </p:nvPr>
        </p:nvSpPr>
        <p:spPr/>
        <p:txBody>
          <a:bodyPr/>
          <a:lstStyle/>
          <a:p>
            <a:fld id="{02C02FAF-5122-C245-974D-1AD19803020E}" type="slidenum">
              <a:rPr lang="en-US" smtClean="0"/>
              <a:t>2</a:t>
            </a:fld>
            <a:endParaRPr lang="en-US"/>
          </a:p>
        </p:txBody>
      </p:sp>
    </p:spTree>
    <p:extLst>
      <p:ext uri="{BB962C8B-B14F-4D97-AF65-F5344CB8AC3E}">
        <p14:creationId xmlns:p14="http://schemas.microsoft.com/office/powerpoint/2010/main" val="31064000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A46ABE-10A3-B7C9-E595-0F1D5F2E0C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06A93B-C14B-DFBE-43AF-7FAF3D57A2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C6C7B6-2F40-0444-AD00-E7E2C0C4F21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a:extLst>
              <a:ext uri="{FF2B5EF4-FFF2-40B4-BE49-F238E27FC236}">
                <a16:creationId xmlns:a16="http://schemas.microsoft.com/office/drawing/2014/main" id="{A2C51C87-BCC6-9CC5-39CD-116B09C2B688}"/>
              </a:ext>
            </a:extLst>
          </p:cNvPr>
          <p:cNvSpPr>
            <a:spLocks noGrp="1"/>
          </p:cNvSpPr>
          <p:nvPr>
            <p:ph type="sldNum" sz="quarter" idx="5"/>
          </p:nvPr>
        </p:nvSpPr>
        <p:spPr/>
        <p:txBody>
          <a:bodyPr/>
          <a:lstStyle/>
          <a:p>
            <a:fld id="{02C02FAF-5122-C245-974D-1AD19803020E}" type="slidenum">
              <a:rPr lang="en-US" smtClean="0"/>
              <a:t>3</a:t>
            </a:fld>
            <a:endParaRPr lang="en-US"/>
          </a:p>
        </p:txBody>
      </p:sp>
    </p:spTree>
    <p:extLst>
      <p:ext uri="{BB962C8B-B14F-4D97-AF65-F5344CB8AC3E}">
        <p14:creationId xmlns:p14="http://schemas.microsoft.com/office/powerpoint/2010/main" val="37500684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45A023-12AE-BC88-673F-1D948A46B8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2BD744-1119-D5D7-E67C-A2B269C39A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2325CD-D110-4DAC-000B-965AE8E05D1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Teachers remember to input the quiz score</a:t>
            </a:r>
          </a:p>
        </p:txBody>
      </p:sp>
      <p:sp>
        <p:nvSpPr>
          <p:cNvPr id="4" name="Slide Number Placeholder 3">
            <a:extLst>
              <a:ext uri="{FF2B5EF4-FFF2-40B4-BE49-F238E27FC236}">
                <a16:creationId xmlns:a16="http://schemas.microsoft.com/office/drawing/2014/main" id="{0EE80A83-87A8-911F-600B-D432B217AAFB}"/>
              </a:ext>
            </a:extLst>
          </p:cNvPr>
          <p:cNvSpPr>
            <a:spLocks noGrp="1"/>
          </p:cNvSpPr>
          <p:nvPr>
            <p:ph type="sldNum" sz="quarter" idx="5"/>
          </p:nvPr>
        </p:nvSpPr>
        <p:spPr/>
        <p:txBody>
          <a:bodyPr/>
          <a:lstStyle/>
          <a:p>
            <a:fld id="{02C02FAF-5122-C245-974D-1AD19803020E}" type="slidenum">
              <a:rPr lang="en-US" smtClean="0"/>
              <a:t>4</a:t>
            </a:fld>
            <a:endParaRPr lang="en-US"/>
          </a:p>
        </p:txBody>
      </p:sp>
    </p:spTree>
    <p:extLst>
      <p:ext uri="{BB962C8B-B14F-4D97-AF65-F5344CB8AC3E}">
        <p14:creationId xmlns:p14="http://schemas.microsoft.com/office/powerpoint/2010/main" val="9832637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E9B3E6-1A7E-5D25-05DA-E916FE9303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FB7533-52B9-7F0E-FAE7-390BCAB0FC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EFA993-A106-3C3D-9057-88825348812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11.2 5.19</a:t>
            </a:r>
          </a:p>
        </p:txBody>
      </p:sp>
      <p:sp>
        <p:nvSpPr>
          <p:cNvPr id="4" name="Slide Number Placeholder 3">
            <a:extLst>
              <a:ext uri="{FF2B5EF4-FFF2-40B4-BE49-F238E27FC236}">
                <a16:creationId xmlns:a16="http://schemas.microsoft.com/office/drawing/2014/main" id="{8BE2AF2B-C328-504F-03ED-FBFC6C1C0157}"/>
              </a:ext>
            </a:extLst>
          </p:cNvPr>
          <p:cNvSpPr>
            <a:spLocks noGrp="1"/>
          </p:cNvSpPr>
          <p:nvPr>
            <p:ph type="sldNum" sz="quarter" idx="5"/>
          </p:nvPr>
        </p:nvSpPr>
        <p:spPr/>
        <p:txBody>
          <a:bodyPr/>
          <a:lstStyle/>
          <a:p>
            <a:fld id="{02C02FAF-5122-C245-974D-1AD19803020E}" type="slidenum">
              <a:rPr lang="en-US" smtClean="0"/>
              <a:t>5</a:t>
            </a:fld>
            <a:endParaRPr lang="en-US"/>
          </a:p>
        </p:txBody>
      </p:sp>
    </p:spTree>
    <p:extLst>
      <p:ext uri="{BB962C8B-B14F-4D97-AF65-F5344CB8AC3E}">
        <p14:creationId xmlns:p14="http://schemas.microsoft.com/office/powerpoint/2010/main" val="8881124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BA7919-18FD-2BD3-4449-60FE239A95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340626-56DB-6B75-C64B-2D3A7C986D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F03476-1A59-4E4A-D78D-8F868D35C6C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11.31 1.42</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11.2 4.35</a:t>
            </a:r>
          </a:p>
        </p:txBody>
      </p:sp>
      <p:sp>
        <p:nvSpPr>
          <p:cNvPr id="4" name="Slide Number Placeholder 3">
            <a:extLst>
              <a:ext uri="{FF2B5EF4-FFF2-40B4-BE49-F238E27FC236}">
                <a16:creationId xmlns:a16="http://schemas.microsoft.com/office/drawing/2014/main" id="{55B4ADB6-8758-D70D-4BD7-FDC9A9B387DA}"/>
              </a:ext>
            </a:extLst>
          </p:cNvPr>
          <p:cNvSpPr>
            <a:spLocks noGrp="1"/>
          </p:cNvSpPr>
          <p:nvPr>
            <p:ph type="sldNum" sz="quarter" idx="5"/>
          </p:nvPr>
        </p:nvSpPr>
        <p:spPr/>
        <p:txBody>
          <a:bodyPr/>
          <a:lstStyle/>
          <a:p>
            <a:fld id="{02C02FAF-5122-C245-974D-1AD19803020E}" type="slidenum">
              <a:rPr lang="en-US" smtClean="0"/>
              <a:t>6</a:t>
            </a:fld>
            <a:endParaRPr lang="en-US"/>
          </a:p>
        </p:txBody>
      </p:sp>
    </p:spTree>
    <p:extLst>
      <p:ext uri="{BB962C8B-B14F-4D97-AF65-F5344CB8AC3E}">
        <p14:creationId xmlns:p14="http://schemas.microsoft.com/office/powerpoint/2010/main" val="28465544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lnSpc>
                <a:spcPct val="100000"/>
              </a:lnSpc>
              <a:spcBef>
                <a:spcPts val="0"/>
              </a:spcBef>
              <a:spcAft>
                <a:spcPts val="0"/>
              </a:spcAft>
              <a:buSzPts val="1400"/>
              <a:buNone/>
            </a:pPr>
            <a:r>
              <a:rPr lang="en-GB" b="1" dirty="0"/>
              <a:t>Exposition type: </a:t>
            </a:r>
            <a:r>
              <a:rPr lang="en-GB" dirty="0"/>
              <a:t>Explanation</a:t>
            </a:r>
          </a:p>
          <a:p>
            <a:pPr marL="0" lvl="0" indent="0" algn="l" rtl="0">
              <a:lnSpc>
                <a:spcPct val="100000"/>
              </a:lnSpc>
              <a:spcBef>
                <a:spcPts val="0"/>
              </a:spcBef>
              <a:spcAft>
                <a:spcPts val="0"/>
              </a:spcAft>
              <a:buSzPts val="1400"/>
              <a:buNone/>
            </a:pPr>
            <a:endParaRPr lang="en-GB" dirty="0"/>
          </a:p>
          <a:p>
            <a:pPr marL="0" lvl="0" indent="0" algn="l" rtl="0">
              <a:lnSpc>
                <a:spcPct val="100000"/>
              </a:lnSpc>
              <a:spcBef>
                <a:spcPts val="0"/>
              </a:spcBef>
              <a:spcAft>
                <a:spcPts val="0"/>
              </a:spcAft>
              <a:buSzPts val="1400"/>
              <a:buNone/>
            </a:pPr>
            <a:r>
              <a:rPr lang="en-GB" dirty="0"/>
              <a:t>Students should be secure in answering these questions to be able to access the learning from the rest of this lesson.</a:t>
            </a:r>
          </a:p>
          <a:p>
            <a:pPr marL="0" lvl="0" indent="0" algn="l" rtl="0">
              <a:lnSpc>
                <a:spcPct val="100000"/>
              </a:lnSpc>
              <a:spcBef>
                <a:spcPts val="0"/>
              </a:spcBef>
              <a:spcAft>
                <a:spcPts val="0"/>
              </a:spcAft>
              <a:buSzPts val="1400"/>
              <a:buNone/>
            </a:pPr>
            <a:endParaRPr lang="en-GB" dirty="0"/>
          </a:p>
          <a:p>
            <a:pPr marL="0" lvl="0" indent="0" algn="l" rtl="0">
              <a:lnSpc>
                <a:spcPct val="100000"/>
              </a:lnSpc>
              <a:spcBef>
                <a:spcPts val="0"/>
              </a:spcBef>
              <a:spcAft>
                <a:spcPts val="0"/>
              </a:spcAft>
              <a:buSzPts val="1400"/>
              <a:buNone/>
            </a:pPr>
            <a:r>
              <a:rPr lang="en-GB" b="1" dirty="0"/>
              <a:t>Model teacher exposition:</a:t>
            </a:r>
          </a:p>
          <a:p>
            <a:pPr marL="0" lvl="0" indent="0" algn="l" rtl="0">
              <a:lnSpc>
                <a:spcPct val="100000"/>
              </a:lnSpc>
              <a:spcBef>
                <a:spcPts val="0"/>
              </a:spcBef>
              <a:spcAft>
                <a:spcPts val="0"/>
              </a:spcAft>
              <a:buSzPts val="1400"/>
              <a:buNone/>
            </a:pPr>
            <a:r>
              <a:rPr lang="en-GB" b="0" dirty="0"/>
              <a:t>Firstly, I want you to identify the ions that are present in these formulae. You do not need to know ion formulae off by heart – use the list of ions you have been provided.</a:t>
            </a:r>
          </a:p>
          <a:p>
            <a:pPr marL="0" lvl="0" indent="0" algn="l" rtl="0">
              <a:lnSpc>
                <a:spcPct val="100000"/>
              </a:lnSpc>
              <a:spcBef>
                <a:spcPts val="0"/>
              </a:spcBef>
              <a:spcAft>
                <a:spcPts val="0"/>
              </a:spcAft>
              <a:buSzPts val="1400"/>
              <a:buNone/>
            </a:pPr>
            <a:r>
              <a:rPr lang="en-GB" b="1" i="0" dirty="0"/>
              <a:t>Do one example on the board first, narrating your thought process out loud.</a:t>
            </a:r>
          </a:p>
          <a:p>
            <a:pPr marL="0" lvl="0" indent="0" algn="l" rtl="0">
              <a:lnSpc>
                <a:spcPct val="100000"/>
              </a:lnSpc>
              <a:spcBef>
                <a:spcPts val="0"/>
              </a:spcBef>
              <a:spcAft>
                <a:spcPts val="0"/>
              </a:spcAft>
              <a:buSzPts val="1400"/>
              <a:buNone/>
            </a:pPr>
            <a:r>
              <a:rPr lang="en-GB" b="0" i="0" dirty="0"/>
              <a:t>Next we will write down how many of each ion is needed to make the formula. If there is a subscript number that is in addition to the usual ion formula, that indicates that there is more than one of any type of ion.</a:t>
            </a:r>
          </a:p>
          <a:p>
            <a:pPr marL="0" lvl="0" indent="0" algn="l" rtl="0">
              <a:lnSpc>
                <a:spcPct val="100000"/>
              </a:lnSpc>
              <a:spcBef>
                <a:spcPts val="0"/>
              </a:spcBef>
              <a:spcAft>
                <a:spcPts val="0"/>
              </a:spcAft>
              <a:buSzPts val="1400"/>
              <a:buNone/>
            </a:pPr>
            <a:r>
              <a:rPr lang="en-GB" b="0" i="0" dirty="0"/>
              <a:t>So, for K</a:t>
            </a:r>
            <a:r>
              <a:rPr lang="en-GB" b="0" i="0" baseline="-25000" dirty="0"/>
              <a:t>2</a:t>
            </a:r>
            <a:r>
              <a:rPr lang="en-GB" b="0" i="0" baseline="0" dirty="0"/>
              <a:t>O, I know the ions in here are K</a:t>
            </a:r>
            <a:r>
              <a:rPr lang="en-GB" b="0" i="0" baseline="30000" dirty="0"/>
              <a:t>+</a:t>
            </a:r>
            <a:r>
              <a:rPr lang="en-GB" b="0" i="0" baseline="0" dirty="0"/>
              <a:t>, another K</a:t>
            </a:r>
            <a:r>
              <a:rPr lang="en-GB" b="0" i="0" baseline="30000" dirty="0"/>
              <a:t>+</a:t>
            </a:r>
            <a:r>
              <a:rPr lang="en-GB" b="0" i="0" baseline="0" dirty="0"/>
              <a:t> and O</a:t>
            </a:r>
            <a:r>
              <a:rPr lang="en-GB" b="0" i="0" baseline="30000" dirty="0"/>
              <a:t>2-</a:t>
            </a:r>
          </a:p>
          <a:p>
            <a:pPr marL="0" lvl="0" indent="0" algn="l" rtl="0">
              <a:lnSpc>
                <a:spcPct val="100000"/>
              </a:lnSpc>
              <a:spcBef>
                <a:spcPts val="0"/>
              </a:spcBef>
              <a:spcAft>
                <a:spcPts val="0"/>
              </a:spcAft>
              <a:buSzPts val="1400"/>
              <a:buNone/>
            </a:pPr>
            <a:r>
              <a:rPr lang="en-GB" b="0" i="1" baseline="0" dirty="0"/>
              <a:t>Think back to our lesson on ionic bonding. Why are there 2 potassium ions and only one oxygen ion in this example? </a:t>
            </a:r>
            <a:r>
              <a:rPr lang="en-GB" b="1" i="1" baseline="0" dirty="0"/>
              <a:t>Because two potassium ions are needed to neutralise (or cancel out) the oxide ion, which has a charge of 2-.</a:t>
            </a:r>
          </a:p>
          <a:p>
            <a:pPr marL="0" lvl="0" indent="0" algn="l" rtl="0">
              <a:lnSpc>
                <a:spcPct val="100000"/>
              </a:lnSpc>
              <a:spcBef>
                <a:spcPts val="0"/>
              </a:spcBef>
              <a:spcAft>
                <a:spcPts val="0"/>
              </a:spcAft>
              <a:buSzPts val="1400"/>
              <a:buNone/>
            </a:pPr>
            <a:endParaRPr lang="en-GB" b="1" i="1" baseline="0" dirty="0"/>
          </a:p>
          <a:p>
            <a:pPr marL="0" lvl="0" indent="0" algn="l" rtl="0">
              <a:lnSpc>
                <a:spcPct val="100000"/>
              </a:lnSpc>
              <a:spcBef>
                <a:spcPts val="0"/>
              </a:spcBef>
              <a:spcAft>
                <a:spcPts val="0"/>
              </a:spcAft>
              <a:buSzPts val="1400"/>
              <a:buNone/>
            </a:pPr>
            <a:r>
              <a:rPr lang="en-GB" b="0" i="0" baseline="0" dirty="0"/>
              <a:t>Looking at the table, I want you to remember that an electron has a negative charge.</a:t>
            </a:r>
          </a:p>
          <a:p>
            <a:pPr marL="0" lvl="0" indent="0" algn="l" rtl="0">
              <a:lnSpc>
                <a:spcPct val="100000"/>
              </a:lnSpc>
              <a:spcBef>
                <a:spcPts val="0"/>
              </a:spcBef>
              <a:spcAft>
                <a:spcPts val="0"/>
              </a:spcAft>
              <a:buSzPts val="1400"/>
              <a:buNone/>
            </a:pPr>
            <a:r>
              <a:rPr lang="en-GB" b="0" i="0" baseline="0" dirty="0"/>
              <a:t>So, if a neutral atom (neutral means no charge) gains electrons, it is gaining negative charges, and so it will end up being negatively charged.</a:t>
            </a:r>
          </a:p>
          <a:p>
            <a:pPr marL="0" lvl="0" indent="0" algn="l" rtl="0">
              <a:lnSpc>
                <a:spcPct val="100000"/>
              </a:lnSpc>
              <a:spcBef>
                <a:spcPts val="0"/>
              </a:spcBef>
              <a:spcAft>
                <a:spcPts val="0"/>
              </a:spcAft>
              <a:buSzPts val="1400"/>
              <a:buNone/>
            </a:pPr>
            <a:r>
              <a:rPr lang="en-GB" b="1" i="0" baseline="0" dirty="0"/>
              <a:t>It might help to draw the electronic configurations of these ions and imagine electrons being gained or lost, and the resulting charges.</a:t>
            </a:r>
          </a:p>
          <a:p>
            <a:pPr marL="0" lvl="0" indent="0" algn="l" rtl="0">
              <a:lnSpc>
                <a:spcPct val="100000"/>
              </a:lnSpc>
              <a:spcBef>
                <a:spcPts val="0"/>
              </a:spcBef>
              <a:spcAft>
                <a:spcPts val="0"/>
              </a:spcAft>
              <a:buSzPts val="1400"/>
              <a:buNone/>
            </a:pPr>
            <a:endParaRPr lang="en-GB" b="1" i="0" dirty="0"/>
          </a:p>
          <a:p>
            <a:endParaRPr lang="en-US"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GB" sz="1200" b="0" i="0" u="none" strike="noStrike" cap="none" smtClean="0">
                <a:solidFill>
                  <a:schemeClr val="dk1"/>
                </a:solidFill>
                <a:latin typeface="Calibri"/>
                <a:ea typeface="Calibri"/>
                <a:cs typeface="Calibri"/>
                <a:sym typeface="Calibri"/>
              </a:rPr>
              <a:t>7</a:t>
            </a:fld>
            <a:endParaRPr lang="en-GB"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6103624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lnSpc>
                <a:spcPct val="100000"/>
              </a:lnSpc>
              <a:spcBef>
                <a:spcPts val="0"/>
              </a:spcBef>
              <a:spcAft>
                <a:spcPts val="0"/>
              </a:spcAft>
              <a:buSzPts val="1400"/>
              <a:buNone/>
            </a:pPr>
            <a:r>
              <a:rPr lang="en-GB" b="1" dirty="0"/>
              <a:t>Exposition type: </a:t>
            </a:r>
            <a:r>
              <a:rPr lang="en-GB" dirty="0"/>
              <a:t>Explanation</a:t>
            </a:r>
          </a:p>
          <a:p>
            <a:pPr marL="0" lvl="0" indent="0" algn="l" rtl="0">
              <a:lnSpc>
                <a:spcPct val="100000"/>
              </a:lnSpc>
              <a:spcBef>
                <a:spcPts val="0"/>
              </a:spcBef>
              <a:spcAft>
                <a:spcPts val="0"/>
              </a:spcAft>
              <a:buSzPts val="1400"/>
              <a:buNone/>
            </a:pPr>
            <a:endParaRPr lang="en-GB" dirty="0"/>
          </a:p>
          <a:p>
            <a:pPr marL="0" lvl="0" indent="0" algn="l" rtl="0">
              <a:lnSpc>
                <a:spcPct val="100000"/>
              </a:lnSpc>
              <a:spcBef>
                <a:spcPts val="0"/>
              </a:spcBef>
              <a:spcAft>
                <a:spcPts val="0"/>
              </a:spcAft>
              <a:buSzPts val="1400"/>
              <a:buNone/>
            </a:pPr>
            <a:r>
              <a:rPr lang="en-GB" b="1" dirty="0"/>
              <a:t>Model teacher exposition:</a:t>
            </a:r>
          </a:p>
          <a:p>
            <a:pPr marL="0" lvl="0" indent="0" algn="l" rtl="0">
              <a:lnSpc>
                <a:spcPct val="100000"/>
              </a:lnSpc>
              <a:spcBef>
                <a:spcPts val="0"/>
              </a:spcBef>
              <a:spcAft>
                <a:spcPts val="0"/>
              </a:spcAft>
              <a:buSzPts val="1400"/>
              <a:buNone/>
            </a:pPr>
            <a:r>
              <a:rPr lang="en-GB" b="0" dirty="0"/>
              <a:t>We are going to look at how to write ionic equations. These equations will become increasingly important as we work through this unit, so we want to ensure you are secure in writing these.</a:t>
            </a:r>
          </a:p>
          <a:p>
            <a:pPr marL="0" lvl="0" indent="0" algn="l" rtl="0">
              <a:lnSpc>
                <a:spcPct val="100000"/>
              </a:lnSpc>
              <a:spcBef>
                <a:spcPts val="0"/>
              </a:spcBef>
              <a:spcAft>
                <a:spcPts val="0"/>
              </a:spcAft>
              <a:buSzPts val="1400"/>
              <a:buNone/>
            </a:pPr>
            <a:r>
              <a:rPr lang="en-GB" b="0" i="0" dirty="0"/>
              <a:t>We can start with a regular chemical equation. </a:t>
            </a:r>
          </a:p>
          <a:p>
            <a:pPr marL="0" lvl="0" indent="0" algn="l" rtl="0">
              <a:lnSpc>
                <a:spcPct val="100000"/>
              </a:lnSpc>
              <a:spcBef>
                <a:spcPts val="0"/>
              </a:spcBef>
              <a:spcAft>
                <a:spcPts val="0"/>
              </a:spcAft>
              <a:buSzPts val="1400"/>
              <a:buNone/>
            </a:pPr>
            <a:r>
              <a:rPr lang="en-GB" b="0" i="1" dirty="0"/>
              <a:t>Just like we did earlier in the lesson, let’s first break up any of the aqueous substances into their ions – that’s step 1.</a:t>
            </a:r>
          </a:p>
          <a:p>
            <a:pPr marL="0" lvl="0" indent="0" algn="l" rtl="0">
              <a:lnSpc>
                <a:spcPct val="100000"/>
              </a:lnSpc>
              <a:spcBef>
                <a:spcPts val="0"/>
              </a:spcBef>
              <a:spcAft>
                <a:spcPts val="0"/>
              </a:spcAft>
              <a:buSzPts val="1400"/>
              <a:buNone/>
            </a:pPr>
            <a:r>
              <a:rPr lang="en-GB" b="0" i="0" dirty="0"/>
              <a:t>Use the list of ions that you have been provided to check the charges on each ion carefully, and make sure the state symbols are written.</a:t>
            </a:r>
          </a:p>
          <a:p>
            <a:pPr marL="0" lvl="0" indent="0" algn="l" rtl="0">
              <a:lnSpc>
                <a:spcPct val="100000"/>
              </a:lnSpc>
              <a:spcBef>
                <a:spcPts val="0"/>
              </a:spcBef>
              <a:spcAft>
                <a:spcPts val="0"/>
              </a:spcAft>
              <a:buSzPts val="1400"/>
              <a:buNone/>
            </a:pPr>
            <a:r>
              <a:rPr lang="en-GB" b="0" i="0" dirty="0"/>
              <a:t>When we break up an aqueous substance into its ions, each of those will also be aqueous, so just keep the same state symbol.</a:t>
            </a:r>
          </a:p>
          <a:p>
            <a:pPr marL="0" lvl="0" indent="0" algn="l" rtl="0">
              <a:lnSpc>
                <a:spcPct val="100000"/>
              </a:lnSpc>
              <a:spcBef>
                <a:spcPts val="0"/>
              </a:spcBef>
              <a:spcAft>
                <a:spcPts val="0"/>
              </a:spcAft>
              <a:buSzPts val="1400"/>
              <a:buNone/>
            </a:pPr>
            <a:r>
              <a:rPr lang="en-GB" b="0" i="0" dirty="0"/>
              <a:t>Now, look on each side of the equation (each side of the arrow).</a:t>
            </a:r>
          </a:p>
          <a:p>
            <a:pPr marL="0" lvl="0" indent="0" algn="l" rtl="0">
              <a:lnSpc>
                <a:spcPct val="100000"/>
              </a:lnSpc>
              <a:spcBef>
                <a:spcPts val="0"/>
              </a:spcBef>
              <a:spcAft>
                <a:spcPts val="0"/>
              </a:spcAft>
              <a:buSzPts val="1400"/>
              <a:buNone/>
            </a:pPr>
            <a:r>
              <a:rPr lang="en-GB" b="0" i="1" dirty="0"/>
              <a:t>Are there any species that are exactly the same on each side? </a:t>
            </a:r>
            <a:r>
              <a:rPr lang="en-GB" b="1" i="1" dirty="0"/>
              <a:t>Yes</a:t>
            </a:r>
          </a:p>
          <a:p>
            <a:pPr marL="0" lvl="0" indent="0" algn="l" rtl="0">
              <a:lnSpc>
                <a:spcPct val="100000"/>
              </a:lnSpc>
              <a:spcBef>
                <a:spcPts val="0"/>
              </a:spcBef>
              <a:spcAft>
                <a:spcPts val="0"/>
              </a:spcAft>
              <a:buSzPts val="1400"/>
              <a:buNone/>
            </a:pPr>
            <a:r>
              <a:rPr lang="en-GB" b="0" i="0" dirty="0"/>
              <a:t>These are called the spectator ions, and we don’t want these in our final equation. So I’m going to rewrite the equation without these.</a:t>
            </a:r>
          </a:p>
          <a:p>
            <a:pPr marL="0" lvl="0" indent="0" algn="l" rtl="0">
              <a:lnSpc>
                <a:spcPct val="100000"/>
              </a:lnSpc>
              <a:spcBef>
                <a:spcPts val="0"/>
              </a:spcBef>
              <a:spcAft>
                <a:spcPts val="0"/>
              </a:spcAft>
              <a:buSzPts val="1400"/>
              <a:buNone/>
            </a:pPr>
            <a:r>
              <a:rPr lang="en-GB" b="0" i="0" dirty="0"/>
              <a:t>Our final result is an ionic equation.</a:t>
            </a:r>
          </a:p>
          <a:p>
            <a:pPr marL="0" lvl="0" indent="0" algn="l" rtl="0">
              <a:lnSpc>
                <a:spcPct val="100000"/>
              </a:lnSpc>
              <a:spcBef>
                <a:spcPts val="0"/>
              </a:spcBef>
              <a:spcAft>
                <a:spcPts val="0"/>
              </a:spcAft>
              <a:buSzPts val="1400"/>
              <a:buNone/>
            </a:pPr>
            <a:endParaRPr lang="en-GB" b="1" i="0" dirty="0"/>
          </a:p>
          <a:p>
            <a:endParaRPr lang="en-US"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GB" sz="1200" b="0" i="0" u="none" strike="noStrike" cap="none" smtClean="0">
                <a:solidFill>
                  <a:schemeClr val="dk1"/>
                </a:solidFill>
                <a:latin typeface="Calibri"/>
                <a:ea typeface="Calibri"/>
                <a:cs typeface="Calibri"/>
                <a:sym typeface="Calibri"/>
              </a:rPr>
              <a:t>8</a:t>
            </a:fld>
            <a:endParaRPr lang="en-GB"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6663761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lnSpc>
                <a:spcPct val="100000"/>
              </a:lnSpc>
              <a:spcBef>
                <a:spcPts val="0"/>
              </a:spcBef>
              <a:spcAft>
                <a:spcPts val="0"/>
              </a:spcAft>
              <a:buSzPts val="1400"/>
              <a:buNone/>
            </a:pPr>
            <a:r>
              <a:rPr lang="en-GB" b="1" dirty="0"/>
              <a:t>Exposition type: </a:t>
            </a:r>
            <a:r>
              <a:rPr lang="en-GB" dirty="0"/>
              <a:t>Explanation</a:t>
            </a:r>
          </a:p>
          <a:p>
            <a:pPr marL="0" lvl="0" indent="0" algn="l" rtl="0">
              <a:lnSpc>
                <a:spcPct val="100000"/>
              </a:lnSpc>
              <a:spcBef>
                <a:spcPts val="0"/>
              </a:spcBef>
              <a:spcAft>
                <a:spcPts val="0"/>
              </a:spcAft>
              <a:buSzPts val="1400"/>
              <a:buNone/>
            </a:pPr>
            <a:endParaRPr lang="en-GB" dirty="0"/>
          </a:p>
          <a:p>
            <a:pPr marL="0" lvl="0" indent="0" algn="l" rtl="0">
              <a:lnSpc>
                <a:spcPct val="100000"/>
              </a:lnSpc>
              <a:spcBef>
                <a:spcPts val="0"/>
              </a:spcBef>
              <a:spcAft>
                <a:spcPts val="0"/>
              </a:spcAft>
              <a:buSzPts val="1400"/>
              <a:buNone/>
            </a:pPr>
            <a:r>
              <a:rPr lang="en-GB" b="1" dirty="0"/>
              <a:t>Model teacher exposition:</a:t>
            </a:r>
          </a:p>
          <a:p>
            <a:pPr marL="0" lvl="0" indent="0" algn="l" rtl="0">
              <a:lnSpc>
                <a:spcPct val="100000"/>
              </a:lnSpc>
              <a:spcBef>
                <a:spcPts val="0"/>
              </a:spcBef>
              <a:spcAft>
                <a:spcPts val="0"/>
              </a:spcAft>
              <a:buSzPts val="1400"/>
              <a:buNone/>
            </a:pPr>
            <a:r>
              <a:rPr lang="en-GB" b="0" dirty="0"/>
              <a:t>Ionic equations actually tell us quite a bit about what happens in a reaction.</a:t>
            </a:r>
          </a:p>
          <a:p>
            <a:pPr marL="0" lvl="0" indent="0" algn="l" rtl="0">
              <a:lnSpc>
                <a:spcPct val="100000"/>
              </a:lnSpc>
              <a:spcBef>
                <a:spcPts val="0"/>
              </a:spcBef>
              <a:spcAft>
                <a:spcPts val="0"/>
              </a:spcAft>
              <a:buSzPts val="1400"/>
              <a:buNone/>
            </a:pPr>
            <a:r>
              <a:rPr lang="en-GB" b="0" i="0" dirty="0"/>
              <a:t>Look at the same element on each side of the arrow (on each side of the equation), and think about what has changed.</a:t>
            </a:r>
          </a:p>
          <a:p>
            <a:pPr marL="0" lvl="0" indent="0" algn="l" rtl="0">
              <a:lnSpc>
                <a:spcPct val="100000"/>
              </a:lnSpc>
              <a:spcBef>
                <a:spcPts val="0"/>
              </a:spcBef>
              <a:spcAft>
                <a:spcPts val="0"/>
              </a:spcAft>
              <a:buSzPts val="1400"/>
              <a:buNone/>
            </a:pPr>
            <a:endParaRPr lang="en-GB" b="0" i="0" dirty="0"/>
          </a:p>
          <a:p>
            <a:pPr marL="0" lvl="0" indent="0" algn="l" rtl="0">
              <a:lnSpc>
                <a:spcPct val="100000"/>
              </a:lnSpc>
              <a:spcBef>
                <a:spcPts val="0"/>
              </a:spcBef>
              <a:spcAft>
                <a:spcPts val="0"/>
              </a:spcAft>
              <a:buSzPts val="1400"/>
              <a:buNone/>
            </a:pPr>
            <a:r>
              <a:rPr lang="en-GB" b="0" i="0" dirty="0"/>
              <a:t>Let’s take Magnesium. </a:t>
            </a:r>
          </a:p>
          <a:p>
            <a:pPr marL="0" lvl="0" indent="0" algn="l" rtl="0">
              <a:lnSpc>
                <a:spcPct val="100000"/>
              </a:lnSpc>
              <a:spcBef>
                <a:spcPts val="0"/>
              </a:spcBef>
              <a:spcAft>
                <a:spcPts val="0"/>
              </a:spcAft>
              <a:buSzPts val="1400"/>
              <a:buNone/>
            </a:pPr>
            <a:r>
              <a:rPr lang="en-GB" b="0" i="0" dirty="0"/>
              <a:t>It’s starts out as a neutral magnesium atom. At the end, it’s a positively charged ion.</a:t>
            </a:r>
          </a:p>
          <a:p>
            <a:pPr marL="0" lvl="0" indent="0" algn="l" rtl="0">
              <a:lnSpc>
                <a:spcPct val="100000"/>
              </a:lnSpc>
              <a:spcBef>
                <a:spcPts val="0"/>
              </a:spcBef>
              <a:spcAft>
                <a:spcPts val="0"/>
              </a:spcAft>
              <a:buSzPts val="1400"/>
              <a:buNone/>
            </a:pPr>
            <a:r>
              <a:rPr lang="en-GB" b="0" i="1" dirty="0"/>
              <a:t>So what has happened to magnesium in this reaction? </a:t>
            </a:r>
            <a:r>
              <a:rPr lang="en-GB" b="1" i="1" dirty="0"/>
              <a:t>It has lost electrons.</a:t>
            </a:r>
          </a:p>
          <a:p>
            <a:pPr marL="0" lvl="0" indent="0" algn="l" rtl="0">
              <a:lnSpc>
                <a:spcPct val="100000"/>
              </a:lnSpc>
              <a:spcBef>
                <a:spcPts val="0"/>
              </a:spcBef>
              <a:spcAft>
                <a:spcPts val="0"/>
              </a:spcAft>
              <a:buSzPts val="1400"/>
              <a:buNone/>
            </a:pPr>
            <a:r>
              <a:rPr lang="en-GB" b="0" i="0" dirty="0"/>
              <a:t>When something loses electrons we can call this oxidation. You have already come across this word before but we had a different definition for it.</a:t>
            </a:r>
          </a:p>
          <a:p>
            <a:pPr marL="0" lvl="0" indent="0" algn="l" rtl="0">
              <a:lnSpc>
                <a:spcPct val="100000"/>
              </a:lnSpc>
              <a:spcBef>
                <a:spcPts val="0"/>
              </a:spcBef>
              <a:spcAft>
                <a:spcPts val="0"/>
              </a:spcAft>
              <a:buSzPts val="1400"/>
              <a:buNone/>
            </a:pPr>
            <a:r>
              <a:rPr lang="en-GB" b="0" i="1" dirty="0"/>
              <a:t>Can you remember the other definition of oxidation? </a:t>
            </a:r>
            <a:r>
              <a:rPr lang="en-GB" b="1" i="1" dirty="0"/>
              <a:t>Oxidation is the gain of oxygen.</a:t>
            </a:r>
          </a:p>
          <a:p>
            <a:pPr marL="0" lvl="0" indent="0" algn="l" rtl="0">
              <a:lnSpc>
                <a:spcPct val="100000"/>
              </a:lnSpc>
              <a:spcBef>
                <a:spcPts val="0"/>
              </a:spcBef>
              <a:spcAft>
                <a:spcPts val="0"/>
              </a:spcAft>
              <a:buSzPts val="1400"/>
              <a:buNone/>
            </a:pPr>
            <a:r>
              <a:rPr lang="en-GB" b="0" i="0" dirty="0"/>
              <a:t>So you see we have two definitions for oxidation, and we will use both these at different times. The definition we have introduced today, that oxidation is the loss of electrons, is the one we always use when talking about ionic equations. You might be asked to define oxidation ‘in terms of electrons’, and then you will know that this is the definition you need.</a:t>
            </a:r>
          </a:p>
          <a:p>
            <a:pPr marL="0" lvl="0" indent="0" algn="l" rtl="0">
              <a:lnSpc>
                <a:spcPct val="100000"/>
              </a:lnSpc>
              <a:spcBef>
                <a:spcPts val="0"/>
              </a:spcBef>
              <a:spcAft>
                <a:spcPts val="0"/>
              </a:spcAft>
              <a:buSzPts val="1400"/>
              <a:buNone/>
            </a:pPr>
            <a:endParaRPr lang="en-GB" b="0" i="0" dirty="0"/>
          </a:p>
          <a:p>
            <a:pPr marL="0" lvl="0" indent="0" algn="l" rtl="0">
              <a:lnSpc>
                <a:spcPct val="100000"/>
              </a:lnSpc>
              <a:spcBef>
                <a:spcPts val="0"/>
              </a:spcBef>
              <a:spcAft>
                <a:spcPts val="0"/>
              </a:spcAft>
              <a:buSzPts val="1400"/>
              <a:buNone/>
            </a:pPr>
            <a:r>
              <a:rPr lang="en-GB" b="0" i="0" dirty="0"/>
              <a:t>Now let’s look at copper.</a:t>
            </a:r>
          </a:p>
          <a:p>
            <a:pPr marL="0" lvl="0" indent="0" algn="l" rtl="0">
              <a:lnSpc>
                <a:spcPct val="100000"/>
              </a:lnSpc>
              <a:spcBef>
                <a:spcPts val="0"/>
              </a:spcBef>
              <a:spcAft>
                <a:spcPts val="0"/>
              </a:spcAft>
              <a:buSzPts val="1400"/>
              <a:buNone/>
            </a:pPr>
            <a:r>
              <a:rPr lang="en-GB" b="0" i="0" dirty="0"/>
              <a:t>It starts out as a positive copper ion, and by the end of the reaction it is a neutral copper atom.</a:t>
            </a:r>
            <a:endParaRPr lang="en-US" b="0" i="0" dirty="0"/>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GB" b="0" i="1" dirty="0"/>
              <a:t>So what has happened to copper in this reaction? </a:t>
            </a:r>
            <a:r>
              <a:rPr lang="en-GB" b="1" i="1" dirty="0"/>
              <a:t>It has gained electrons.</a:t>
            </a:r>
          </a:p>
          <a:p>
            <a:pPr marL="0" lvl="0" indent="0" algn="l" rtl="0">
              <a:lnSpc>
                <a:spcPct val="100000"/>
              </a:lnSpc>
              <a:spcBef>
                <a:spcPts val="0"/>
              </a:spcBef>
              <a:spcAft>
                <a:spcPts val="0"/>
              </a:spcAft>
              <a:buSzPts val="1400"/>
              <a:buNone/>
            </a:pPr>
            <a:r>
              <a:rPr lang="en-GB" b="0" i="0" dirty="0"/>
              <a:t>When something gains electrons we can call this reduction. You have already come across this word too, but we had a different definition for it.</a:t>
            </a:r>
          </a:p>
          <a:p>
            <a:pPr marL="0" lvl="0" indent="0" algn="l" rtl="0">
              <a:lnSpc>
                <a:spcPct val="100000"/>
              </a:lnSpc>
              <a:spcBef>
                <a:spcPts val="0"/>
              </a:spcBef>
              <a:spcAft>
                <a:spcPts val="0"/>
              </a:spcAft>
              <a:buSzPts val="1400"/>
              <a:buNone/>
            </a:pPr>
            <a:r>
              <a:rPr lang="en-GB" b="0" i="1" dirty="0"/>
              <a:t>Can you remember the other definition of reduction? </a:t>
            </a:r>
            <a:r>
              <a:rPr lang="en-GB" b="1" i="1" dirty="0"/>
              <a:t>Reduction is the loss of oxygen.</a:t>
            </a:r>
          </a:p>
          <a:p>
            <a:pPr marL="0" lvl="0" indent="0" algn="l" rtl="0">
              <a:lnSpc>
                <a:spcPct val="100000"/>
              </a:lnSpc>
              <a:spcBef>
                <a:spcPts val="0"/>
              </a:spcBef>
              <a:spcAft>
                <a:spcPts val="0"/>
              </a:spcAft>
              <a:buSzPts val="1400"/>
              <a:buNone/>
            </a:pPr>
            <a:r>
              <a:rPr lang="en-GB" b="0" i="0" dirty="0"/>
              <a:t>Just like oxidation we have 2 different definitions for reduction.</a:t>
            </a:r>
          </a:p>
          <a:p>
            <a:pPr marL="0" lvl="0" indent="0" algn="l" rtl="0">
              <a:lnSpc>
                <a:spcPct val="100000"/>
              </a:lnSpc>
              <a:spcBef>
                <a:spcPts val="0"/>
              </a:spcBef>
              <a:spcAft>
                <a:spcPts val="0"/>
              </a:spcAft>
              <a:buSzPts val="1400"/>
              <a:buNone/>
            </a:pPr>
            <a:r>
              <a:rPr lang="en-GB" b="0" i="0" dirty="0"/>
              <a:t>To help you remember, we can use the pneumonic </a:t>
            </a:r>
            <a:r>
              <a:rPr lang="en-GB" b="1" i="0" dirty="0"/>
              <a:t>OIL RIG</a:t>
            </a:r>
            <a:r>
              <a:rPr lang="en-GB" b="0" i="0" dirty="0"/>
              <a:t>, which stands for </a:t>
            </a:r>
            <a:r>
              <a:rPr lang="en-GB" b="1" i="0" dirty="0"/>
              <a:t>O</a:t>
            </a:r>
            <a:r>
              <a:rPr lang="en-GB" b="0" i="0" dirty="0"/>
              <a:t>xidation </a:t>
            </a:r>
            <a:r>
              <a:rPr lang="en-GB" b="1" i="0" dirty="0"/>
              <a:t>I</a:t>
            </a:r>
            <a:r>
              <a:rPr lang="en-GB" b="0" i="0" dirty="0"/>
              <a:t>s </a:t>
            </a:r>
            <a:r>
              <a:rPr lang="en-GB" b="1" i="0" dirty="0"/>
              <a:t>L</a:t>
            </a:r>
            <a:r>
              <a:rPr lang="en-GB" b="0" i="0" dirty="0"/>
              <a:t>oss (of electrons), </a:t>
            </a:r>
            <a:r>
              <a:rPr lang="en-GB" b="1" i="0" dirty="0"/>
              <a:t>R</a:t>
            </a:r>
            <a:r>
              <a:rPr lang="en-GB" b="0" i="0" dirty="0"/>
              <a:t>eduction </a:t>
            </a:r>
            <a:r>
              <a:rPr lang="en-GB" b="1" i="0" dirty="0"/>
              <a:t>I</a:t>
            </a:r>
            <a:r>
              <a:rPr lang="en-GB" b="0" i="0" dirty="0"/>
              <a:t>s </a:t>
            </a:r>
            <a:r>
              <a:rPr lang="en-GB" b="1" i="0" dirty="0"/>
              <a:t>G</a:t>
            </a:r>
            <a:r>
              <a:rPr lang="en-GB" b="0" i="0" dirty="0"/>
              <a:t>ain (of electrons).</a:t>
            </a:r>
          </a:p>
          <a:p>
            <a:pPr marL="0" lvl="0" indent="0" algn="l" rtl="0">
              <a:lnSpc>
                <a:spcPct val="100000"/>
              </a:lnSpc>
              <a:spcBef>
                <a:spcPts val="0"/>
              </a:spcBef>
              <a:spcAft>
                <a:spcPts val="0"/>
              </a:spcAft>
              <a:buSzPts val="1400"/>
              <a:buNone/>
            </a:pPr>
            <a:r>
              <a:rPr lang="en-GB" b="1" i="0" dirty="0"/>
              <a:t>You may want to return to slide 8 and ask students to state whether each row in the table is an example of oxidation or reduction.</a:t>
            </a:r>
          </a:p>
          <a:p>
            <a:pPr marL="0" lvl="0" indent="0" algn="l" rtl="0">
              <a:lnSpc>
                <a:spcPct val="100000"/>
              </a:lnSpc>
              <a:spcBef>
                <a:spcPts val="0"/>
              </a:spcBef>
              <a:spcAft>
                <a:spcPts val="0"/>
              </a:spcAft>
              <a:buSzPts val="1400"/>
              <a:buNone/>
            </a:pPr>
            <a:endParaRPr lang="en-GB" b="0" i="0"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GB" sz="1200" b="0" i="0" u="none" strike="noStrike" cap="none" smtClean="0">
                <a:solidFill>
                  <a:schemeClr val="dk1"/>
                </a:solidFill>
                <a:latin typeface="Calibri"/>
                <a:ea typeface="Calibri"/>
                <a:cs typeface="Calibri"/>
                <a:sym typeface="Calibri"/>
              </a:rPr>
              <a:t>9</a:t>
            </a:fld>
            <a:endParaRPr lang="en-GB"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127761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2F32B7-A867-EFC4-5AF1-2D530951D2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5D28D4-B7F7-79A7-266E-177B962C03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2E8145-B1E6-6DA9-1D84-37E84497616A}"/>
              </a:ext>
            </a:extLst>
          </p:cNvPr>
          <p:cNvSpPr>
            <a:spLocks noGrp="1"/>
          </p:cNvSpPr>
          <p:nvPr>
            <p:ph type="body" idx="1"/>
          </p:nvPr>
        </p:nvSpPr>
        <p:spPr/>
        <p:txBody>
          <a:bodyPr/>
          <a:lstStyle/>
          <a:p>
            <a:pPr marL="0" lvl="0" indent="0" algn="l" rtl="0">
              <a:lnSpc>
                <a:spcPct val="100000"/>
              </a:lnSpc>
              <a:spcBef>
                <a:spcPts val="0"/>
              </a:spcBef>
              <a:spcAft>
                <a:spcPts val="0"/>
              </a:spcAft>
              <a:buSzPts val="1400"/>
              <a:buNone/>
            </a:pPr>
            <a:r>
              <a:rPr lang="en-GB" b="1" dirty="0"/>
              <a:t>Exposition type: </a:t>
            </a:r>
            <a:r>
              <a:rPr lang="en-GB" dirty="0"/>
              <a:t>Explanation</a:t>
            </a:r>
          </a:p>
          <a:p>
            <a:pPr marL="0" lvl="0" indent="0" algn="l" rtl="0">
              <a:lnSpc>
                <a:spcPct val="100000"/>
              </a:lnSpc>
              <a:spcBef>
                <a:spcPts val="0"/>
              </a:spcBef>
              <a:spcAft>
                <a:spcPts val="0"/>
              </a:spcAft>
              <a:buSzPts val="1400"/>
              <a:buNone/>
            </a:pPr>
            <a:endParaRPr lang="en-GB" dirty="0"/>
          </a:p>
          <a:p>
            <a:pPr marL="0" lvl="0" indent="0" algn="l" rtl="0">
              <a:lnSpc>
                <a:spcPct val="100000"/>
              </a:lnSpc>
              <a:spcBef>
                <a:spcPts val="0"/>
              </a:spcBef>
              <a:spcAft>
                <a:spcPts val="0"/>
              </a:spcAft>
              <a:buSzPts val="1400"/>
              <a:buNone/>
            </a:pPr>
            <a:r>
              <a:rPr lang="en-GB" b="1" dirty="0"/>
              <a:t>Model teacher exposition:</a:t>
            </a:r>
          </a:p>
          <a:p>
            <a:pPr marL="0" lvl="0" indent="0" algn="l" rtl="0">
              <a:lnSpc>
                <a:spcPct val="100000"/>
              </a:lnSpc>
              <a:spcBef>
                <a:spcPts val="0"/>
              </a:spcBef>
              <a:spcAft>
                <a:spcPts val="0"/>
              </a:spcAft>
              <a:buSzPts val="1400"/>
              <a:buNone/>
            </a:pPr>
            <a:r>
              <a:rPr lang="en-GB" b="0" dirty="0"/>
              <a:t>Ionic equations actually tell us quite a bit about what happens in a reaction.</a:t>
            </a:r>
          </a:p>
          <a:p>
            <a:pPr marL="0" lvl="0" indent="0" algn="l" rtl="0">
              <a:lnSpc>
                <a:spcPct val="100000"/>
              </a:lnSpc>
              <a:spcBef>
                <a:spcPts val="0"/>
              </a:spcBef>
              <a:spcAft>
                <a:spcPts val="0"/>
              </a:spcAft>
              <a:buSzPts val="1400"/>
              <a:buNone/>
            </a:pPr>
            <a:r>
              <a:rPr lang="en-GB" b="0" i="0" dirty="0"/>
              <a:t>Look at the same element on each side of the arrow (on each side of the equation), and think about what has changed.</a:t>
            </a:r>
          </a:p>
          <a:p>
            <a:pPr marL="0" lvl="0" indent="0" algn="l" rtl="0">
              <a:lnSpc>
                <a:spcPct val="100000"/>
              </a:lnSpc>
              <a:spcBef>
                <a:spcPts val="0"/>
              </a:spcBef>
              <a:spcAft>
                <a:spcPts val="0"/>
              </a:spcAft>
              <a:buSzPts val="1400"/>
              <a:buNone/>
            </a:pPr>
            <a:endParaRPr lang="en-GB" b="0" i="0" dirty="0"/>
          </a:p>
          <a:p>
            <a:pPr marL="0" lvl="0" indent="0" algn="l" rtl="0">
              <a:lnSpc>
                <a:spcPct val="100000"/>
              </a:lnSpc>
              <a:spcBef>
                <a:spcPts val="0"/>
              </a:spcBef>
              <a:spcAft>
                <a:spcPts val="0"/>
              </a:spcAft>
              <a:buSzPts val="1400"/>
              <a:buNone/>
            </a:pPr>
            <a:r>
              <a:rPr lang="en-GB" b="0" i="0" dirty="0"/>
              <a:t>Let’s take Magnesium. </a:t>
            </a:r>
          </a:p>
          <a:p>
            <a:pPr marL="0" lvl="0" indent="0" algn="l" rtl="0">
              <a:lnSpc>
                <a:spcPct val="100000"/>
              </a:lnSpc>
              <a:spcBef>
                <a:spcPts val="0"/>
              </a:spcBef>
              <a:spcAft>
                <a:spcPts val="0"/>
              </a:spcAft>
              <a:buSzPts val="1400"/>
              <a:buNone/>
            </a:pPr>
            <a:r>
              <a:rPr lang="en-GB" b="0" i="0" dirty="0"/>
              <a:t>It’s starts out as a neutral magnesium atom. At the end, it’s a positively charged ion.</a:t>
            </a:r>
          </a:p>
          <a:p>
            <a:pPr marL="0" lvl="0" indent="0" algn="l" rtl="0">
              <a:lnSpc>
                <a:spcPct val="100000"/>
              </a:lnSpc>
              <a:spcBef>
                <a:spcPts val="0"/>
              </a:spcBef>
              <a:spcAft>
                <a:spcPts val="0"/>
              </a:spcAft>
              <a:buSzPts val="1400"/>
              <a:buNone/>
            </a:pPr>
            <a:r>
              <a:rPr lang="en-GB" b="0" i="1" dirty="0"/>
              <a:t>So what has happened to magnesium in this reaction? </a:t>
            </a:r>
            <a:r>
              <a:rPr lang="en-GB" b="1" i="1" dirty="0"/>
              <a:t>It has lost electrons.</a:t>
            </a:r>
          </a:p>
          <a:p>
            <a:pPr marL="0" lvl="0" indent="0" algn="l" rtl="0">
              <a:lnSpc>
                <a:spcPct val="100000"/>
              </a:lnSpc>
              <a:spcBef>
                <a:spcPts val="0"/>
              </a:spcBef>
              <a:spcAft>
                <a:spcPts val="0"/>
              </a:spcAft>
              <a:buSzPts val="1400"/>
              <a:buNone/>
            </a:pPr>
            <a:r>
              <a:rPr lang="en-GB" b="0" i="0" dirty="0"/>
              <a:t>When something loses electrons we can call this oxidation. You have already come across this word before but we had a different definition for it.</a:t>
            </a:r>
          </a:p>
          <a:p>
            <a:pPr marL="0" lvl="0" indent="0" algn="l" rtl="0">
              <a:lnSpc>
                <a:spcPct val="100000"/>
              </a:lnSpc>
              <a:spcBef>
                <a:spcPts val="0"/>
              </a:spcBef>
              <a:spcAft>
                <a:spcPts val="0"/>
              </a:spcAft>
              <a:buSzPts val="1400"/>
              <a:buNone/>
            </a:pPr>
            <a:r>
              <a:rPr lang="en-GB" b="0" i="1" dirty="0"/>
              <a:t>Can you remember the other definition of oxidation? </a:t>
            </a:r>
            <a:r>
              <a:rPr lang="en-GB" b="1" i="1" dirty="0"/>
              <a:t>Oxidation is the gain of oxygen.</a:t>
            </a:r>
          </a:p>
          <a:p>
            <a:pPr marL="0" lvl="0" indent="0" algn="l" rtl="0">
              <a:lnSpc>
                <a:spcPct val="100000"/>
              </a:lnSpc>
              <a:spcBef>
                <a:spcPts val="0"/>
              </a:spcBef>
              <a:spcAft>
                <a:spcPts val="0"/>
              </a:spcAft>
              <a:buSzPts val="1400"/>
              <a:buNone/>
            </a:pPr>
            <a:r>
              <a:rPr lang="en-GB" b="0" i="0" dirty="0"/>
              <a:t>So you see we have two definitions for oxidation, and we will use both these at different times. The definition we have introduced today, that oxidation is the loss of electrons, is the one we always use when talking about ionic equations. You might be asked to define oxidation ‘in terms of electrons’, and then you will know that this is the definition you need.</a:t>
            </a:r>
          </a:p>
          <a:p>
            <a:pPr marL="0" lvl="0" indent="0" algn="l" rtl="0">
              <a:lnSpc>
                <a:spcPct val="100000"/>
              </a:lnSpc>
              <a:spcBef>
                <a:spcPts val="0"/>
              </a:spcBef>
              <a:spcAft>
                <a:spcPts val="0"/>
              </a:spcAft>
              <a:buSzPts val="1400"/>
              <a:buNone/>
            </a:pPr>
            <a:endParaRPr lang="en-GB" b="0" i="0" dirty="0"/>
          </a:p>
          <a:p>
            <a:pPr marL="0" lvl="0" indent="0" algn="l" rtl="0">
              <a:lnSpc>
                <a:spcPct val="100000"/>
              </a:lnSpc>
              <a:spcBef>
                <a:spcPts val="0"/>
              </a:spcBef>
              <a:spcAft>
                <a:spcPts val="0"/>
              </a:spcAft>
              <a:buSzPts val="1400"/>
              <a:buNone/>
            </a:pPr>
            <a:r>
              <a:rPr lang="en-GB" b="0" i="0" dirty="0"/>
              <a:t>Now let’s look at copper.</a:t>
            </a:r>
          </a:p>
          <a:p>
            <a:pPr marL="0" lvl="0" indent="0" algn="l" rtl="0">
              <a:lnSpc>
                <a:spcPct val="100000"/>
              </a:lnSpc>
              <a:spcBef>
                <a:spcPts val="0"/>
              </a:spcBef>
              <a:spcAft>
                <a:spcPts val="0"/>
              </a:spcAft>
              <a:buSzPts val="1400"/>
              <a:buNone/>
            </a:pPr>
            <a:r>
              <a:rPr lang="en-GB" b="0" i="0" dirty="0"/>
              <a:t>It starts out as a positive copper ion, and by the end of the reaction it is a neutral copper atom.</a:t>
            </a:r>
            <a:endParaRPr lang="en-US" b="0" i="0" dirty="0"/>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GB" b="0" i="1" dirty="0"/>
              <a:t>So what has happened to copper in this reaction? </a:t>
            </a:r>
            <a:r>
              <a:rPr lang="en-GB" b="1" i="1" dirty="0"/>
              <a:t>It has gained electrons.</a:t>
            </a:r>
          </a:p>
          <a:p>
            <a:pPr marL="0" lvl="0" indent="0" algn="l" rtl="0">
              <a:lnSpc>
                <a:spcPct val="100000"/>
              </a:lnSpc>
              <a:spcBef>
                <a:spcPts val="0"/>
              </a:spcBef>
              <a:spcAft>
                <a:spcPts val="0"/>
              </a:spcAft>
              <a:buSzPts val="1400"/>
              <a:buNone/>
            </a:pPr>
            <a:r>
              <a:rPr lang="en-GB" b="0" i="0" dirty="0"/>
              <a:t>When something gains electrons we can call this reduction. You have already come across this word too, but we had a different definition for it.</a:t>
            </a:r>
          </a:p>
          <a:p>
            <a:pPr marL="0" lvl="0" indent="0" algn="l" rtl="0">
              <a:lnSpc>
                <a:spcPct val="100000"/>
              </a:lnSpc>
              <a:spcBef>
                <a:spcPts val="0"/>
              </a:spcBef>
              <a:spcAft>
                <a:spcPts val="0"/>
              </a:spcAft>
              <a:buSzPts val="1400"/>
              <a:buNone/>
            </a:pPr>
            <a:r>
              <a:rPr lang="en-GB" b="0" i="1" dirty="0"/>
              <a:t>Can you remember the other definition of reduction? </a:t>
            </a:r>
            <a:r>
              <a:rPr lang="en-GB" b="1" i="1" dirty="0"/>
              <a:t>Reduction is the loss of oxygen.</a:t>
            </a:r>
          </a:p>
          <a:p>
            <a:pPr marL="0" lvl="0" indent="0" algn="l" rtl="0">
              <a:lnSpc>
                <a:spcPct val="100000"/>
              </a:lnSpc>
              <a:spcBef>
                <a:spcPts val="0"/>
              </a:spcBef>
              <a:spcAft>
                <a:spcPts val="0"/>
              </a:spcAft>
              <a:buSzPts val="1400"/>
              <a:buNone/>
            </a:pPr>
            <a:r>
              <a:rPr lang="en-GB" b="0" i="0" dirty="0"/>
              <a:t>Just like oxidation we have 2 different definitions for reduction.</a:t>
            </a:r>
          </a:p>
          <a:p>
            <a:pPr marL="0" lvl="0" indent="0" algn="l" rtl="0">
              <a:lnSpc>
                <a:spcPct val="100000"/>
              </a:lnSpc>
              <a:spcBef>
                <a:spcPts val="0"/>
              </a:spcBef>
              <a:spcAft>
                <a:spcPts val="0"/>
              </a:spcAft>
              <a:buSzPts val="1400"/>
              <a:buNone/>
            </a:pPr>
            <a:r>
              <a:rPr lang="en-GB" b="0" i="0" dirty="0"/>
              <a:t>To help you remember, we can use the pneumonic </a:t>
            </a:r>
            <a:r>
              <a:rPr lang="en-GB" b="1" i="0" dirty="0"/>
              <a:t>OIL RIG</a:t>
            </a:r>
            <a:r>
              <a:rPr lang="en-GB" b="0" i="0" dirty="0"/>
              <a:t>, which stands for </a:t>
            </a:r>
            <a:r>
              <a:rPr lang="en-GB" b="1" i="0" dirty="0"/>
              <a:t>O</a:t>
            </a:r>
            <a:r>
              <a:rPr lang="en-GB" b="0" i="0" dirty="0"/>
              <a:t>xidation </a:t>
            </a:r>
            <a:r>
              <a:rPr lang="en-GB" b="1" i="0" dirty="0"/>
              <a:t>I</a:t>
            </a:r>
            <a:r>
              <a:rPr lang="en-GB" b="0" i="0" dirty="0"/>
              <a:t>s </a:t>
            </a:r>
            <a:r>
              <a:rPr lang="en-GB" b="1" i="0" dirty="0"/>
              <a:t>L</a:t>
            </a:r>
            <a:r>
              <a:rPr lang="en-GB" b="0" i="0" dirty="0"/>
              <a:t>oss (of electrons), </a:t>
            </a:r>
            <a:r>
              <a:rPr lang="en-GB" b="1" i="0" dirty="0"/>
              <a:t>R</a:t>
            </a:r>
            <a:r>
              <a:rPr lang="en-GB" b="0" i="0" dirty="0"/>
              <a:t>eduction </a:t>
            </a:r>
            <a:r>
              <a:rPr lang="en-GB" b="1" i="0" dirty="0"/>
              <a:t>I</a:t>
            </a:r>
            <a:r>
              <a:rPr lang="en-GB" b="0" i="0" dirty="0"/>
              <a:t>s </a:t>
            </a:r>
            <a:r>
              <a:rPr lang="en-GB" b="1" i="0" dirty="0"/>
              <a:t>G</a:t>
            </a:r>
            <a:r>
              <a:rPr lang="en-GB" b="0" i="0" dirty="0"/>
              <a:t>ain (of electrons).</a:t>
            </a:r>
          </a:p>
          <a:p>
            <a:pPr marL="0" lvl="0" indent="0" algn="l" rtl="0">
              <a:lnSpc>
                <a:spcPct val="100000"/>
              </a:lnSpc>
              <a:spcBef>
                <a:spcPts val="0"/>
              </a:spcBef>
              <a:spcAft>
                <a:spcPts val="0"/>
              </a:spcAft>
              <a:buSzPts val="1400"/>
              <a:buNone/>
            </a:pPr>
            <a:r>
              <a:rPr lang="en-GB" b="1" i="0" dirty="0"/>
              <a:t>You may want to return to slide 8 and ask students to state whether each row in the table is an example of oxidation or reduction.</a:t>
            </a:r>
          </a:p>
          <a:p>
            <a:pPr marL="0" lvl="0" indent="0" algn="l" rtl="0">
              <a:lnSpc>
                <a:spcPct val="100000"/>
              </a:lnSpc>
              <a:spcBef>
                <a:spcPts val="0"/>
              </a:spcBef>
              <a:spcAft>
                <a:spcPts val="0"/>
              </a:spcAft>
              <a:buSzPts val="1400"/>
              <a:buNone/>
            </a:pPr>
            <a:endParaRPr lang="en-GB" b="0" i="0" dirty="0"/>
          </a:p>
        </p:txBody>
      </p:sp>
      <p:sp>
        <p:nvSpPr>
          <p:cNvPr id="4" name="Slide Number Placeholder 3">
            <a:extLst>
              <a:ext uri="{FF2B5EF4-FFF2-40B4-BE49-F238E27FC236}">
                <a16:creationId xmlns:a16="http://schemas.microsoft.com/office/drawing/2014/main" id="{E9EE1211-2D39-D102-4F76-2736118C0F81}"/>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GB" sz="1200" b="0" i="0" u="none" strike="noStrike" cap="none" smtClean="0">
                <a:solidFill>
                  <a:schemeClr val="dk1"/>
                </a:solidFill>
                <a:latin typeface="Calibri"/>
                <a:ea typeface="Calibri"/>
                <a:cs typeface="Calibri"/>
                <a:sym typeface="Calibri"/>
              </a:rPr>
              <a:t>10</a:t>
            </a:fld>
            <a:endParaRPr lang="en-GB"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791141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54B5B4-5A1E-4263-A417-4604EB14E1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AF5EC1-E491-D806-3334-D9BDF0F032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6FA24C-8CD8-0757-E24D-BF327ADEA55B}"/>
              </a:ext>
            </a:extLst>
          </p:cNvPr>
          <p:cNvSpPr>
            <a:spLocks noGrp="1"/>
          </p:cNvSpPr>
          <p:nvPr>
            <p:ph type="body" idx="1"/>
          </p:nvPr>
        </p:nvSpPr>
        <p:spPr/>
        <p:txBody>
          <a:bodyPr/>
          <a:lstStyle/>
          <a:p>
            <a:pPr marL="0" lvl="0" indent="0" algn="l" rtl="0">
              <a:lnSpc>
                <a:spcPct val="100000"/>
              </a:lnSpc>
              <a:spcBef>
                <a:spcPts val="0"/>
              </a:spcBef>
              <a:spcAft>
                <a:spcPts val="0"/>
              </a:spcAft>
              <a:buSzPts val="1400"/>
              <a:buNone/>
            </a:pPr>
            <a:r>
              <a:rPr lang="en-GB" b="1" dirty="0"/>
              <a:t>Exposition type: </a:t>
            </a:r>
            <a:r>
              <a:rPr lang="en-GB" dirty="0"/>
              <a:t>Explanation</a:t>
            </a:r>
          </a:p>
          <a:p>
            <a:pPr marL="0" lvl="0" indent="0" algn="l" rtl="0">
              <a:lnSpc>
                <a:spcPct val="100000"/>
              </a:lnSpc>
              <a:spcBef>
                <a:spcPts val="0"/>
              </a:spcBef>
              <a:spcAft>
                <a:spcPts val="0"/>
              </a:spcAft>
              <a:buSzPts val="1400"/>
              <a:buNone/>
            </a:pPr>
            <a:endParaRPr lang="en-GB" dirty="0"/>
          </a:p>
          <a:p>
            <a:pPr marL="0" lvl="0" indent="0" algn="l" rtl="0">
              <a:lnSpc>
                <a:spcPct val="100000"/>
              </a:lnSpc>
              <a:spcBef>
                <a:spcPts val="0"/>
              </a:spcBef>
              <a:spcAft>
                <a:spcPts val="0"/>
              </a:spcAft>
              <a:buSzPts val="1400"/>
              <a:buNone/>
            </a:pPr>
            <a:r>
              <a:rPr lang="en-GB" b="1" dirty="0"/>
              <a:t>Model teacher exposition:</a:t>
            </a:r>
          </a:p>
          <a:p>
            <a:pPr marL="0" lvl="0" indent="0" algn="l" rtl="0">
              <a:lnSpc>
                <a:spcPct val="100000"/>
              </a:lnSpc>
              <a:spcBef>
                <a:spcPts val="0"/>
              </a:spcBef>
              <a:spcAft>
                <a:spcPts val="0"/>
              </a:spcAft>
              <a:buSzPts val="1400"/>
              <a:buNone/>
            </a:pPr>
            <a:r>
              <a:rPr lang="en-GB" b="0" dirty="0"/>
              <a:t>Ionic equations actually tell us quite a bit about what happens in a reaction.</a:t>
            </a:r>
          </a:p>
          <a:p>
            <a:pPr marL="0" lvl="0" indent="0" algn="l" rtl="0">
              <a:lnSpc>
                <a:spcPct val="100000"/>
              </a:lnSpc>
              <a:spcBef>
                <a:spcPts val="0"/>
              </a:spcBef>
              <a:spcAft>
                <a:spcPts val="0"/>
              </a:spcAft>
              <a:buSzPts val="1400"/>
              <a:buNone/>
            </a:pPr>
            <a:r>
              <a:rPr lang="en-GB" b="0" i="0" dirty="0"/>
              <a:t>Look at the same element on each side of the arrow (on each side of the equation), and think about what has changed.</a:t>
            </a:r>
          </a:p>
          <a:p>
            <a:pPr marL="0" lvl="0" indent="0" algn="l" rtl="0">
              <a:lnSpc>
                <a:spcPct val="100000"/>
              </a:lnSpc>
              <a:spcBef>
                <a:spcPts val="0"/>
              </a:spcBef>
              <a:spcAft>
                <a:spcPts val="0"/>
              </a:spcAft>
              <a:buSzPts val="1400"/>
              <a:buNone/>
            </a:pPr>
            <a:endParaRPr lang="en-GB" b="0" i="0" dirty="0"/>
          </a:p>
          <a:p>
            <a:pPr marL="0" lvl="0" indent="0" algn="l" rtl="0">
              <a:lnSpc>
                <a:spcPct val="100000"/>
              </a:lnSpc>
              <a:spcBef>
                <a:spcPts val="0"/>
              </a:spcBef>
              <a:spcAft>
                <a:spcPts val="0"/>
              </a:spcAft>
              <a:buSzPts val="1400"/>
              <a:buNone/>
            </a:pPr>
            <a:r>
              <a:rPr lang="en-GB" b="0" i="0" dirty="0"/>
              <a:t>Let’s take Magnesium. </a:t>
            </a:r>
          </a:p>
          <a:p>
            <a:pPr marL="0" lvl="0" indent="0" algn="l" rtl="0">
              <a:lnSpc>
                <a:spcPct val="100000"/>
              </a:lnSpc>
              <a:spcBef>
                <a:spcPts val="0"/>
              </a:spcBef>
              <a:spcAft>
                <a:spcPts val="0"/>
              </a:spcAft>
              <a:buSzPts val="1400"/>
              <a:buNone/>
            </a:pPr>
            <a:r>
              <a:rPr lang="en-GB" b="0" i="0" dirty="0"/>
              <a:t>It’s starts out as a neutral magnesium atom. At the end, it’s a positively charged ion.</a:t>
            </a:r>
          </a:p>
          <a:p>
            <a:pPr marL="0" lvl="0" indent="0" algn="l" rtl="0">
              <a:lnSpc>
                <a:spcPct val="100000"/>
              </a:lnSpc>
              <a:spcBef>
                <a:spcPts val="0"/>
              </a:spcBef>
              <a:spcAft>
                <a:spcPts val="0"/>
              </a:spcAft>
              <a:buSzPts val="1400"/>
              <a:buNone/>
            </a:pPr>
            <a:r>
              <a:rPr lang="en-GB" b="0" i="1" dirty="0"/>
              <a:t>So what has happened to magnesium in this reaction? </a:t>
            </a:r>
            <a:r>
              <a:rPr lang="en-GB" b="1" i="1" dirty="0"/>
              <a:t>It has lost electrons.</a:t>
            </a:r>
          </a:p>
          <a:p>
            <a:pPr marL="0" lvl="0" indent="0" algn="l" rtl="0">
              <a:lnSpc>
                <a:spcPct val="100000"/>
              </a:lnSpc>
              <a:spcBef>
                <a:spcPts val="0"/>
              </a:spcBef>
              <a:spcAft>
                <a:spcPts val="0"/>
              </a:spcAft>
              <a:buSzPts val="1400"/>
              <a:buNone/>
            </a:pPr>
            <a:r>
              <a:rPr lang="en-GB" b="0" i="0" dirty="0"/>
              <a:t>When something loses electrons we can call this oxidation. You have already come across this word before but we had a different definition for it.</a:t>
            </a:r>
          </a:p>
          <a:p>
            <a:pPr marL="0" lvl="0" indent="0" algn="l" rtl="0">
              <a:lnSpc>
                <a:spcPct val="100000"/>
              </a:lnSpc>
              <a:spcBef>
                <a:spcPts val="0"/>
              </a:spcBef>
              <a:spcAft>
                <a:spcPts val="0"/>
              </a:spcAft>
              <a:buSzPts val="1400"/>
              <a:buNone/>
            </a:pPr>
            <a:r>
              <a:rPr lang="en-GB" b="0" i="1" dirty="0"/>
              <a:t>Can you remember the other definition of oxidation? </a:t>
            </a:r>
            <a:r>
              <a:rPr lang="en-GB" b="1" i="1" dirty="0"/>
              <a:t>Oxidation is the gain of oxygen.</a:t>
            </a:r>
          </a:p>
          <a:p>
            <a:pPr marL="0" lvl="0" indent="0" algn="l" rtl="0">
              <a:lnSpc>
                <a:spcPct val="100000"/>
              </a:lnSpc>
              <a:spcBef>
                <a:spcPts val="0"/>
              </a:spcBef>
              <a:spcAft>
                <a:spcPts val="0"/>
              </a:spcAft>
              <a:buSzPts val="1400"/>
              <a:buNone/>
            </a:pPr>
            <a:r>
              <a:rPr lang="en-GB" b="0" i="0" dirty="0"/>
              <a:t>So you see we have two definitions for oxidation, and we will use both these at different times. The definition we have introduced today, that oxidation is the loss of electrons, is the one we always use when talking about ionic equations. You might be asked to define oxidation ‘in terms of electrons’, and then you will know that this is the definition you need.</a:t>
            </a:r>
          </a:p>
          <a:p>
            <a:pPr marL="0" lvl="0" indent="0" algn="l" rtl="0">
              <a:lnSpc>
                <a:spcPct val="100000"/>
              </a:lnSpc>
              <a:spcBef>
                <a:spcPts val="0"/>
              </a:spcBef>
              <a:spcAft>
                <a:spcPts val="0"/>
              </a:spcAft>
              <a:buSzPts val="1400"/>
              <a:buNone/>
            </a:pPr>
            <a:endParaRPr lang="en-GB" b="0" i="0" dirty="0"/>
          </a:p>
          <a:p>
            <a:pPr marL="0" lvl="0" indent="0" algn="l" rtl="0">
              <a:lnSpc>
                <a:spcPct val="100000"/>
              </a:lnSpc>
              <a:spcBef>
                <a:spcPts val="0"/>
              </a:spcBef>
              <a:spcAft>
                <a:spcPts val="0"/>
              </a:spcAft>
              <a:buSzPts val="1400"/>
              <a:buNone/>
            </a:pPr>
            <a:r>
              <a:rPr lang="en-GB" b="0" i="0" dirty="0"/>
              <a:t>Now let’s look at copper.</a:t>
            </a:r>
          </a:p>
          <a:p>
            <a:pPr marL="0" lvl="0" indent="0" algn="l" rtl="0">
              <a:lnSpc>
                <a:spcPct val="100000"/>
              </a:lnSpc>
              <a:spcBef>
                <a:spcPts val="0"/>
              </a:spcBef>
              <a:spcAft>
                <a:spcPts val="0"/>
              </a:spcAft>
              <a:buSzPts val="1400"/>
              <a:buNone/>
            </a:pPr>
            <a:r>
              <a:rPr lang="en-GB" b="0" i="0" dirty="0"/>
              <a:t>It starts out as a positive copper ion, and by the end of the reaction it is a neutral copper atom.</a:t>
            </a:r>
            <a:endParaRPr lang="en-US" b="0" i="0" dirty="0"/>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GB" b="0" i="1" dirty="0"/>
              <a:t>So what has happened to copper in this reaction? </a:t>
            </a:r>
            <a:r>
              <a:rPr lang="en-GB" b="1" i="1" dirty="0"/>
              <a:t>It has gained electrons.</a:t>
            </a:r>
          </a:p>
          <a:p>
            <a:pPr marL="0" lvl="0" indent="0" algn="l" rtl="0">
              <a:lnSpc>
                <a:spcPct val="100000"/>
              </a:lnSpc>
              <a:spcBef>
                <a:spcPts val="0"/>
              </a:spcBef>
              <a:spcAft>
                <a:spcPts val="0"/>
              </a:spcAft>
              <a:buSzPts val="1400"/>
              <a:buNone/>
            </a:pPr>
            <a:r>
              <a:rPr lang="en-GB" b="0" i="0" dirty="0"/>
              <a:t>When something gains electrons we can call this reduction. You have already come across this word too, but we had a different definition for it.</a:t>
            </a:r>
          </a:p>
          <a:p>
            <a:pPr marL="0" lvl="0" indent="0" algn="l" rtl="0">
              <a:lnSpc>
                <a:spcPct val="100000"/>
              </a:lnSpc>
              <a:spcBef>
                <a:spcPts val="0"/>
              </a:spcBef>
              <a:spcAft>
                <a:spcPts val="0"/>
              </a:spcAft>
              <a:buSzPts val="1400"/>
              <a:buNone/>
            </a:pPr>
            <a:r>
              <a:rPr lang="en-GB" b="0" i="1" dirty="0"/>
              <a:t>Can you remember the other definition of reduction? </a:t>
            </a:r>
            <a:r>
              <a:rPr lang="en-GB" b="1" i="1" dirty="0"/>
              <a:t>Reduction is the loss of oxygen.</a:t>
            </a:r>
          </a:p>
          <a:p>
            <a:pPr marL="0" lvl="0" indent="0" algn="l" rtl="0">
              <a:lnSpc>
                <a:spcPct val="100000"/>
              </a:lnSpc>
              <a:spcBef>
                <a:spcPts val="0"/>
              </a:spcBef>
              <a:spcAft>
                <a:spcPts val="0"/>
              </a:spcAft>
              <a:buSzPts val="1400"/>
              <a:buNone/>
            </a:pPr>
            <a:r>
              <a:rPr lang="en-GB" b="0" i="0" dirty="0"/>
              <a:t>Just like oxidation we have 2 different definitions for reduction.</a:t>
            </a:r>
          </a:p>
          <a:p>
            <a:pPr marL="0" lvl="0" indent="0" algn="l" rtl="0">
              <a:lnSpc>
                <a:spcPct val="100000"/>
              </a:lnSpc>
              <a:spcBef>
                <a:spcPts val="0"/>
              </a:spcBef>
              <a:spcAft>
                <a:spcPts val="0"/>
              </a:spcAft>
              <a:buSzPts val="1400"/>
              <a:buNone/>
            </a:pPr>
            <a:r>
              <a:rPr lang="en-GB" b="0" i="0" dirty="0"/>
              <a:t>To help you remember, we can use the pneumonic </a:t>
            </a:r>
            <a:r>
              <a:rPr lang="en-GB" b="1" i="0" dirty="0"/>
              <a:t>OIL RIG</a:t>
            </a:r>
            <a:r>
              <a:rPr lang="en-GB" b="0" i="0" dirty="0"/>
              <a:t>, which stands for </a:t>
            </a:r>
            <a:r>
              <a:rPr lang="en-GB" b="1" i="0" dirty="0"/>
              <a:t>O</a:t>
            </a:r>
            <a:r>
              <a:rPr lang="en-GB" b="0" i="0" dirty="0"/>
              <a:t>xidation </a:t>
            </a:r>
            <a:r>
              <a:rPr lang="en-GB" b="1" i="0" dirty="0"/>
              <a:t>I</a:t>
            </a:r>
            <a:r>
              <a:rPr lang="en-GB" b="0" i="0" dirty="0"/>
              <a:t>s </a:t>
            </a:r>
            <a:r>
              <a:rPr lang="en-GB" b="1" i="0" dirty="0"/>
              <a:t>L</a:t>
            </a:r>
            <a:r>
              <a:rPr lang="en-GB" b="0" i="0" dirty="0"/>
              <a:t>oss (of electrons), </a:t>
            </a:r>
            <a:r>
              <a:rPr lang="en-GB" b="1" i="0" dirty="0"/>
              <a:t>R</a:t>
            </a:r>
            <a:r>
              <a:rPr lang="en-GB" b="0" i="0" dirty="0"/>
              <a:t>eduction </a:t>
            </a:r>
            <a:r>
              <a:rPr lang="en-GB" b="1" i="0" dirty="0"/>
              <a:t>I</a:t>
            </a:r>
            <a:r>
              <a:rPr lang="en-GB" b="0" i="0" dirty="0"/>
              <a:t>s </a:t>
            </a:r>
            <a:r>
              <a:rPr lang="en-GB" b="1" i="0" dirty="0"/>
              <a:t>G</a:t>
            </a:r>
            <a:r>
              <a:rPr lang="en-GB" b="0" i="0" dirty="0"/>
              <a:t>ain (of electrons).</a:t>
            </a:r>
          </a:p>
          <a:p>
            <a:pPr marL="0" lvl="0" indent="0" algn="l" rtl="0">
              <a:lnSpc>
                <a:spcPct val="100000"/>
              </a:lnSpc>
              <a:spcBef>
                <a:spcPts val="0"/>
              </a:spcBef>
              <a:spcAft>
                <a:spcPts val="0"/>
              </a:spcAft>
              <a:buSzPts val="1400"/>
              <a:buNone/>
            </a:pPr>
            <a:r>
              <a:rPr lang="en-GB" b="1" i="0" dirty="0"/>
              <a:t>You may want to return to slide 8 and ask students to state whether each row in the table is an example of oxidation or reduction.</a:t>
            </a:r>
          </a:p>
          <a:p>
            <a:pPr marL="0" lvl="0" indent="0" algn="l" rtl="0">
              <a:lnSpc>
                <a:spcPct val="100000"/>
              </a:lnSpc>
              <a:spcBef>
                <a:spcPts val="0"/>
              </a:spcBef>
              <a:spcAft>
                <a:spcPts val="0"/>
              </a:spcAft>
              <a:buSzPts val="1400"/>
              <a:buNone/>
            </a:pPr>
            <a:endParaRPr lang="en-GB" b="0" i="0" dirty="0"/>
          </a:p>
        </p:txBody>
      </p:sp>
      <p:sp>
        <p:nvSpPr>
          <p:cNvPr id="4" name="Slide Number Placeholder 3">
            <a:extLst>
              <a:ext uri="{FF2B5EF4-FFF2-40B4-BE49-F238E27FC236}">
                <a16:creationId xmlns:a16="http://schemas.microsoft.com/office/drawing/2014/main" id="{8F84B6D5-12ED-6273-67FC-BBCF3C7EABBF}"/>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GB" sz="1200" b="0" i="0" u="none" strike="noStrike" cap="none" smtClean="0">
                <a:solidFill>
                  <a:schemeClr val="dk1"/>
                </a:solidFill>
                <a:latin typeface="Calibri"/>
                <a:ea typeface="Calibri"/>
                <a:cs typeface="Calibri"/>
                <a:sym typeface="Calibri"/>
              </a:rPr>
              <a:t>11</a:t>
            </a:fld>
            <a:endParaRPr lang="en-GB"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7987642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Suggested guidance:</a:t>
            </a:r>
          </a:p>
          <a:p>
            <a:r>
              <a:rPr lang="en-GB" b="0" dirty="0"/>
              <a:t>Talk tasks can be used in a variety of ways to suit the particular needs of the students you are teaching. </a:t>
            </a:r>
            <a:r>
              <a:rPr lang="en-GB" sz="1200" b="0" i="0" u="none" strike="noStrike" cap="none" dirty="0">
                <a:solidFill>
                  <a:schemeClr val="dk1"/>
                </a:solidFill>
                <a:effectLst/>
                <a:latin typeface="+mn-lt"/>
                <a:ea typeface="Calibri"/>
                <a:cs typeface="Calibri"/>
                <a:sym typeface="Calibri"/>
              </a:rPr>
              <a:t>Through exchanging views with others, students develop their understanding of the science beyond what could be achieved individually. </a:t>
            </a:r>
          </a:p>
          <a:p>
            <a:endParaRPr lang="en-GB" sz="1200" b="0" i="0" u="none" strike="noStrike" cap="none" dirty="0">
              <a:solidFill>
                <a:schemeClr val="dk1"/>
              </a:solidFill>
              <a:effectLst/>
              <a:latin typeface="+mn-lt"/>
              <a:cs typeface="Calibri"/>
              <a:sym typeface="Calibri"/>
            </a:endParaRPr>
          </a:p>
          <a:p>
            <a:r>
              <a:rPr lang="en-GB" sz="1200" b="0" i="0" u="none" strike="noStrike" cap="none" dirty="0">
                <a:solidFill>
                  <a:schemeClr val="dk1"/>
                </a:solidFill>
                <a:effectLst/>
                <a:latin typeface="+mn-lt"/>
                <a:cs typeface="Calibri"/>
                <a:sym typeface="Calibri"/>
              </a:rPr>
              <a:t>Science classrooms that successfully integrate talk have the following features:</a:t>
            </a:r>
          </a:p>
          <a:p>
            <a:pPr>
              <a:buAutoNum type="arabicPeriod"/>
            </a:pPr>
            <a:r>
              <a:rPr lang="en-GB" sz="1200" b="0" i="0" u="none" strike="noStrike" cap="none" dirty="0">
                <a:solidFill>
                  <a:schemeClr val="dk1"/>
                </a:solidFill>
                <a:effectLst/>
                <a:latin typeface="+mn-lt"/>
                <a:ea typeface="Calibri"/>
                <a:cs typeface="Calibri"/>
                <a:sym typeface="Calibri"/>
              </a:rPr>
              <a:t>Science talk is a regular feature of lessons and is woven into classroom activities.</a:t>
            </a:r>
          </a:p>
          <a:p>
            <a:pPr>
              <a:buAutoNum type="arabicPeriod"/>
            </a:pPr>
            <a:r>
              <a:rPr lang="en-GB" sz="1200" b="0" i="0" u="none" strike="noStrike" cap="none" dirty="0">
                <a:solidFill>
                  <a:schemeClr val="dk1"/>
                </a:solidFill>
                <a:effectLst/>
                <a:latin typeface="+mn-lt"/>
                <a:ea typeface="Calibri"/>
                <a:cs typeface="Calibri"/>
                <a:sym typeface="Calibri"/>
              </a:rPr>
              <a:t>Students are paired or grouped strategically by the teacher to ensure productive interaction. This might take into consideration the students’ proficiency of the English language, how encouraging they might be to peers and their attainment in the topic. It’s a good idea to consider these pairings in the class seating plan.</a:t>
            </a:r>
          </a:p>
          <a:p>
            <a:pPr>
              <a:buAutoNum type="arabicPeriod"/>
            </a:pPr>
            <a:r>
              <a:rPr lang="en-GB" sz="1200" b="0" i="0" u="none" strike="noStrike" cap="none" dirty="0">
                <a:solidFill>
                  <a:schemeClr val="dk1"/>
                </a:solidFill>
                <a:effectLst/>
                <a:latin typeface="+mn-lt"/>
                <a:ea typeface="Calibri"/>
                <a:cs typeface="Calibri"/>
                <a:sym typeface="Calibri"/>
              </a:rPr>
              <a:t>Students are encouraged and supported to talk, but are not forced to talk.</a:t>
            </a:r>
          </a:p>
          <a:p>
            <a:pPr>
              <a:buAutoNum type="arabicPeriod"/>
            </a:pPr>
            <a:r>
              <a:rPr lang="en-GB" sz="1200" b="0" i="0" u="none" strike="noStrike" cap="none" dirty="0">
                <a:solidFill>
                  <a:schemeClr val="dk1"/>
                </a:solidFill>
                <a:effectLst/>
                <a:latin typeface="+mn-lt"/>
                <a:ea typeface="Calibri"/>
                <a:cs typeface="Calibri"/>
                <a:sym typeface="Calibri"/>
              </a:rPr>
              <a:t>The teacher should take on the role of a facilitator, engaging with conversations where necessary and encouraging or steering the conversation where needed. </a:t>
            </a:r>
          </a:p>
          <a:p>
            <a:pPr>
              <a:buAutoNum type="arabicPeriod"/>
            </a:pPr>
            <a:r>
              <a:rPr lang="en-GB" sz="1200" b="0" i="0" u="none" strike="noStrike" cap="none" dirty="0">
                <a:solidFill>
                  <a:schemeClr val="dk1"/>
                </a:solidFill>
                <a:effectLst/>
                <a:latin typeface="+mn-lt"/>
                <a:ea typeface="Calibri"/>
                <a:cs typeface="Calibri"/>
                <a:sym typeface="Calibri"/>
              </a:rPr>
              <a:t>Students are encouraged to use the language they have to express their ideas (e.g., everyday language, imperfect English, native language), but also to incorporate science specific terminology where this is more accurate or has been taught.</a:t>
            </a:r>
          </a:p>
          <a:p>
            <a:r>
              <a:rPr lang="en-GB" sz="1200" b="0" i="0" u="none" strike="noStrike" cap="none" dirty="0">
                <a:solidFill>
                  <a:schemeClr val="dk1"/>
                </a:solidFill>
                <a:effectLst/>
                <a:latin typeface="+mn-lt"/>
                <a:ea typeface="Calibri"/>
                <a:cs typeface="Calibri"/>
                <a:sym typeface="Calibri"/>
              </a:rPr>
              <a:t>6. Scientifically inaccurate ideas are not dismissed by the partner or teacher; open discussion and further investigation are relied on to help students construct ideas that support them to progress in their scientific understanding. </a:t>
            </a:r>
          </a:p>
          <a:p>
            <a:r>
              <a:rPr lang="en-GB" sz="1200" b="0" i="0" u="none" strike="noStrike" cap="none" dirty="0">
                <a:solidFill>
                  <a:schemeClr val="dk1"/>
                </a:solidFill>
                <a:effectLst/>
                <a:latin typeface="+mn-lt"/>
                <a:ea typeface="Calibri"/>
                <a:cs typeface="Calibri"/>
                <a:sym typeface="Calibri"/>
              </a:rPr>
              <a:t>7. Guidelines for behaviour during talk tasks are explicit and frequently reviewed. Rules for students might be:</a:t>
            </a:r>
          </a:p>
          <a:p>
            <a:pPr lvl="1">
              <a:buFont typeface="Arial" panose="020B0604020202020204" pitchFamily="34" charset="0"/>
              <a:buChar char="•"/>
            </a:pPr>
            <a:r>
              <a:rPr lang="en-GB" sz="1200" b="0" i="1" u="none" strike="noStrike" cap="none" dirty="0">
                <a:solidFill>
                  <a:schemeClr val="dk1"/>
                </a:solidFill>
                <a:effectLst/>
                <a:latin typeface="+mn-lt"/>
                <a:ea typeface="Calibri"/>
                <a:cs typeface="Calibri"/>
                <a:sym typeface="Calibri"/>
              </a:rPr>
              <a:t>Listen carefully to your partner</a:t>
            </a:r>
          </a:p>
          <a:p>
            <a:pPr lvl="1">
              <a:buFont typeface="Arial" panose="020B0604020202020204" pitchFamily="34" charset="0"/>
              <a:buChar char="•"/>
            </a:pPr>
            <a:r>
              <a:rPr lang="en-GB" sz="1200" b="0" i="1" u="none" strike="noStrike" cap="none" dirty="0">
                <a:solidFill>
                  <a:schemeClr val="dk1"/>
                </a:solidFill>
                <a:effectLst/>
                <a:latin typeface="+mn-lt"/>
                <a:ea typeface="Calibri"/>
                <a:cs typeface="Calibri"/>
                <a:sym typeface="Calibri"/>
              </a:rPr>
              <a:t>Take turns talking.</a:t>
            </a:r>
          </a:p>
          <a:p>
            <a:pPr lvl="1">
              <a:buFont typeface="Arial" panose="020B0604020202020204" pitchFamily="34" charset="0"/>
              <a:buChar char="•"/>
            </a:pPr>
            <a:r>
              <a:rPr lang="en-GB" sz="1200" b="0" i="1" u="none" strike="noStrike" cap="none" dirty="0">
                <a:solidFill>
                  <a:schemeClr val="dk1"/>
                </a:solidFill>
                <a:effectLst/>
                <a:latin typeface="+mn-lt"/>
                <a:ea typeface="Calibri"/>
                <a:cs typeface="Calibri"/>
                <a:sym typeface="Calibri"/>
              </a:rPr>
              <a:t>Speak one at a time, without interrupting.</a:t>
            </a:r>
          </a:p>
          <a:p>
            <a:pPr lvl="1">
              <a:buFont typeface="Arial" panose="020B0604020202020204" pitchFamily="34" charset="0"/>
              <a:buChar char="•"/>
            </a:pPr>
            <a:r>
              <a:rPr lang="en-GB" sz="1200" b="0" i="1" u="none" strike="noStrike" cap="none" dirty="0">
                <a:solidFill>
                  <a:schemeClr val="dk1"/>
                </a:solidFill>
                <a:effectLst/>
                <a:latin typeface="+mn-lt"/>
                <a:ea typeface="Calibri"/>
                <a:cs typeface="Calibri"/>
                <a:sym typeface="Calibri"/>
              </a:rPr>
              <a:t>Politely agree or disagree and explain why.</a:t>
            </a:r>
          </a:p>
          <a:p>
            <a:pPr lvl="1">
              <a:buFont typeface="Arial" panose="020B0604020202020204" pitchFamily="34" charset="0"/>
              <a:buChar char="•"/>
            </a:pPr>
            <a:r>
              <a:rPr lang="en-GB" sz="1200" b="0" i="1" u="none" strike="noStrike" cap="none" dirty="0">
                <a:solidFill>
                  <a:schemeClr val="dk1"/>
                </a:solidFill>
                <a:effectLst/>
                <a:latin typeface="+mn-lt"/>
                <a:ea typeface="Calibri"/>
                <a:cs typeface="Calibri"/>
                <a:sym typeface="Calibri"/>
              </a:rPr>
              <a:t>Politely point out if your partner has used a scientific word incorrectly, if they have explained the science incorrectly, or if there is a more accurate way to describe something.</a:t>
            </a:r>
          </a:p>
          <a:p>
            <a:pPr lvl="1">
              <a:buFont typeface="Arial" panose="020B0604020202020204" pitchFamily="34" charset="0"/>
              <a:buChar char="•"/>
            </a:pPr>
            <a:r>
              <a:rPr lang="en-GB" sz="1200" b="0" i="1" u="none" strike="noStrike" cap="none" dirty="0">
                <a:solidFill>
                  <a:schemeClr val="dk1"/>
                </a:solidFill>
                <a:effectLst/>
                <a:latin typeface="+mn-lt"/>
                <a:ea typeface="Calibri"/>
                <a:cs typeface="Calibri"/>
                <a:sym typeface="Calibri"/>
              </a:rPr>
              <a:t>If confused, ask questions.</a:t>
            </a:r>
          </a:p>
          <a:p>
            <a:pPr lvl="1">
              <a:buFont typeface="Arial" panose="020B0604020202020204" pitchFamily="34" charset="0"/>
              <a:buChar char="•"/>
            </a:pPr>
            <a:r>
              <a:rPr lang="en-GB" sz="1200" b="0" i="1" u="none" strike="noStrike" cap="none" dirty="0">
                <a:solidFill>
                  <a:schemeClr val="dk1"/>
                </a:solidFill>
                <a:effectLst/>
                <a:latin typeface="+mn-lt"/>
                <a:ea typeface="Calibri"/>
                <a:cs typeface="Calibri"/>
                <a:sym typeface="Calibri"/>
              </a:rPr>
              <a:t>Stay focused on the discussion topic.</a:t>
            </a:r>
          </a:p>
          <a:p>
            <a:pPr lvl="1">
              <a:buFont typeface="Arial" panose="020B0604020202020204" pitchFamily="34" charset="0"/>
              <a:buChar char="•"/>
            </a:pPr>
            <a:r>
              <a:rPr lang="en-GB" sz="1200" b="0" i="1" u="none" strike="noStrike" cap="none" dirty="0">
                <a:solidFill>
                  <a:schemeClr val="dk1"/>
                </a:solidFill>
                <a:effectLst/>
                <a:latin typeface="+mn-lt"/>
                <a:ea typeface="Calibri"/>
                <a:cs typeface="Calibri"/>
                <a:sym typeface="Calibri"/>
              </a:rPr>
              <a:t>Respond to one another.</a:t>
            </a:r>
          </a:p>
          <a:p>
            <a:endParaRPr lang="en-GB" dirty="0"/>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GB" dirty="0"/>
          </a:p>
          <a:p>
            <a:endParaRPr lang="en-US"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GB" sz="1200" b="0" i="0" u="none" strike="noStrike" cap="none" smtClean="0">
                <a:solidFill>
                  <a:schemeClr val="dk1"/>
                </a:solidFill>
                <a:latin typeface="Calibri"/>
                <a:ea typeface="Calibri"/>
                <a:cs typeface="Calibri"/>
                <a:sym typeface="Calibri"/>
              </a:rPr>
              <a:t>12</a:t>
            </a:fld>
            <a:endParaRPr lang="en-GB"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4156235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GB" b="1"/>
              <a:t>Purpose: </a:t>
            </a:r>
            <a:r>
              <a:rPr lang="en-GB" b="0"/>
              <a:t>The I-We-You section aims to support pupils to build skills that they most commonly need when answering questions associated with this knowledge in the assessment. This section is also used to interleave other content we expect pupils to know at this stage of their education in order that they build a big picture of the science they are learning. </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GB" b="0"/>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GB" b="0"/>
              <a:t>For the ‘I’ activity, the teacher should model how to answer the question. They can do this by narrating their thinking process aloud, and making links to learning earlier in the lesson explicit.</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GB" b="0"/>
              <a:t>For the ‘we’ activity, the teacher and students work though a similar example together, in order to prepare students to be able to answer a similar question independently. </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GB" b="0"/>
              <a:t>Opportunities for the ‘you’ activity – independent practise – occur in the activity portion of the lesson once the student is secure enough to process independently.</a:t>
            </a:r>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GB" sz="1200" b="0" i="0" u="none" strike="noStrike" cap="none" smtClean="0">
                <a:solidFill>
                  <a:schemeClr val="dk1"/>
                </a:solidFill>
                <a:latin typeface="Calibri"/>
                <a:ea typeface="Calibri"/>
                <a:cs typeface="Calibri"/>
                <a:sym typeface="Calibri"/>
              </a:rPr>
              <a:t>13</a:t>
            </a:fld>
            <a:endParaRPr lang="en-GB"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1049656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GB" b="1"/>
              <a:t>Purpose: </a:t>
            </a:r>
            <a:r>
              <a:rPr lang="en-GB" b="0"/>
              <a:t>The I-We-You section aims to support pupils to build skills that they most commonly need when answering questions associated with this knowledge in the assessment. This section is also used to interleave other content we expect pupils to know at this stage of their education in order that they build a big picture of the science they are learning. </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GB" b="0"/>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GB" b="0"/>
              <a:t>For the ‘I’ activity, the teacher should model how to answer the question. They can do this by narrating their thinking process aloud, and making links to learning earlier in the lesson explicit.</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GB" b="0"/>
              <a:t>For the ‘we’ activity, the teacher and students work though a similar example together, in order to prepare students to be able to answer a similar question independently. </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GB" b="0"/>
              <a:t>Opportunities for the ‘you’ activity – independent practise – occur in the activity portion of the lesson once the student is secure enough to process independently.</a:t>
            </a:r>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GB" sz="1200" b="0" i="0" u="none" strike="noStrike" cap="none" smtClean="0">
                <a:solidFill>
                  <a:schemeClr val="dk1"/>
                </a:solidFill>
                <a:latin typeface="Calibri"/>
                <a:ea typeface="Calibri"/>
                <a:cs typeface="Calibri"/>
                <a:sym typeface="Calibri"/>
              </a:rPr>
              <a:t>14</a:t>
            </a:fld>
            <a:endParaRPr lang="en-GB"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7079127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GB" b="1"/>
              <a:t>Purpose: </a:t>
            </a:r>
            <a:r>
              <a:rPr lang="en-GB" b="0"/>
              <a:t>The I-We-You section aims to support pupils to build skills that they most commonly need when answering questions associated with this knowledge in the assessment. This section is also used to interleave other content we expect pupils to know at this stage of their education in order that they build a big picture of the science they are learning. </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GB" b="0"/>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GB" b="0"/>
              <a:t>For the ‘I’ activity, the teacher should model how to answer the question. They can do this by narrating their thinking process aloud, and making links to learning earlier in the lesson explicit.</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GB" b="0"/>
              <a:t>For the ‘we’ activity, the teacher and students work though a similar example together, in order to prepare students to be able to answer a similar question independently. </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GB" b="0"/>
              <a:t>Opportunities for the ‘you’ activity – independent practise – occur in the activity portion of the lesson once the student is secure enough to process independently.</a:t>
            </a:r>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GB" sz="1200" b="0" i="0" u="none" strike="noStrike" cap="none" smtClean="0">
                <a:solidFill>
                  <a:schemeClr val="dk1"/>
                </a:solidFill>
                <a:latin typeface="Calibri"/>
                <a:ea typeface="Calibri"/>
                <a:cs typeface="Calibri"/>
                <a:sym typeface="Calibri"/>
              </a:rPr>
              <a:t>15</a:t>
            </a:fld>
            <a:endParaRPr lang="en-GB"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5220069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F87A17-D85F-053F-62DB-BBBE0156E5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CB3219-57C5-EFA6-EA47-F8B318CEAC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A725C6-58FF-4ADA-E92E-8211133AE0E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a:extLst>
              <a:ext uri="{FF2B5EF4-FFF2-40B4-BE49-F238E27FC236}">
                <a16:creationId xmlns:a16="http://schemas.microsoft.com/office/drawing/2014/main" id="{2D3F3B8D-F0AA-A1DF-A3FA-73F72ADA941F}"/>
              </a:ext>
            </a:extLst>
          </p:cNvPr>
          <p:cNvSpPr>
            <a:spLocks noGrp="1"/>
          </p:cNvSpPr>
          <p:nvPr>
            <p:ph type="sldNum" sz="quarter" idx="5"/>
          </p:nvPr>
        </p:nvSpPr>
        <p:spPr/>
        <p:txBody>
          <a:bodyPr/>
          <a:lstStyle/>
          <a:p>
            <a:fld id="{02C02FAF-5122-C245-974D-1AD19803020E}" type="slidenum">
              <a:rPr lang="en-US" smtClean="0"/>
              <a:t>16</a:t>
            </a:fld>
            <a:endParaRPr lang="en-US"/>
          </a:p>
        </p:txBody>
      </p:sp>
    </p:spTree>
    <p:extLst>
      <p:ext uri="{BB962C8B-B14F-4D97-AF65-F5344CB8AC3E}">
        <p14:creationId xmlns:p14="http://schemas.microsoft.com/office/powerpoint/2010/main" val="12079064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GB" b="1"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GB" sz="1200" b="0" i="0" u="none" strike="noStrike" cap="none" smtClean="0">
                <a:solidFill>
                  <a:schemeClr val="dk1"/>
                </a:solidFill>
                <a:latin typeface="Calibri"/>
                <a:ea typeface="Calibri"/>
                <a:cs typeface="Calibri"/>
                <a:sym typeface="Calibri"/>
              </a:rPr>
              <a:t>17</a:t>
            </a:fld>
            <a:endParaRPr lang="en-GB"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1840790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GB" b="1" dirty="0"/>
              <a:t>Alternative answer for bottom row: </a:t>
            </a:r>
            <a:r>
              <a:rPr lang="en-GB" b="0" dirty="0"/>
              <a:t>could be Al</a:t>
            </a:r>
            <a:r>
              <a:rPr lang="en-GB" b="0" baseline="30000" dirty="0"/>
              <a:t>2+ </a:t>
            </a:r>
            <a:r>
              <a:rPr lang="en-GB" b="0" dirty="0"/>
              <a:t>when one electron is gained, or Al</a:t>
            </a:r>
            <a:r>
              <a:rPr lang="en-GB" b="0" baseline="30000" dirty="0"/>
              <a:t>+ </a:t>
            </a:r>
            <a:r>
              <a:rPr lang="en-GB" b="0" dirty="0"/>
              <a:t>when two electrons are gained.</a:t>
            </a:r>
            <a:endParaRPr lang="en-GB" b="1"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GB" sz="1200" b="0" i="0" u="none" strike="noStrike" cap="none" smtClean="0">
                <a:solidFill>
                  <a:schemeClr val="dk1"/>
                </a:solidFill>
                <a:latin typeface="Calibri"/>
                <a:ea typeface="Calibri"/>
                <a:cs typeface="Calibri"/>
                <a:sym typeface="Calibri"/>
              </a:rPr>
              <a:t>18</a:t>
            </a:fld>
            <a:endParaRPr lang="en-GB"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1355518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GB" b="1"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GB" sz="1200" b="0" i="0" u="none" strike="noStrike" cap="none" smtClean="0">
                <a:solidFill>
                  <a:schemeClr val="dk1"/>
                </a:solidFill>
                <a:latin typeface="Calibri"/>
                <a:ea typeface="Calibri"/>
                <a:cs typeface="Calibri"/>
                <a:sym typeface="Calibri"/>
              </a:rPr>
              <a:t>19</a:t>
            </a:fld>
            <a:endParaRPr lang="en-GB"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96519470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GB" b="1"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GB" sz="1200" b="0" i="0" u="none" strike="noStrike" cap="none" smtClean="0">
                <a:solidFill>
                  <a:schemeClr val="dk1"/>
                </a:solidFill>
                <a:latin typeface="Calibri"/>
                <a:ea typeface="Calibri"/>
                <a:cs typeface="Calibri"/>
                <a:sym typeface="Calibri"/>
              </a:rPr>
              <a:t>20</a:t>
            </a:fld>
            <a:endParaRPr lang="en-GB"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21581519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GB" b="1"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GB" sz="1200" b="0" i="0" u="none" strike="noStrike" cap="none" smtClean="0">
                <a:solidFill>
                  <a:schemeClr val="dk1"/>
                </a:solidFill>
                <a:latin typeface="Calibri"/>
                <a:ea typeface="Calibri"/>
                <a:cs typeface="Calibri"/>
                <a:sym typeface="Calibri"/>
              </a:rPr>
              <a:t>21</a:t>
            </a:fld>
            <a:endParaRPr lang="en-GB"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86968826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GB" b="1" dirty="0"/>
              <a:t>Alternative answers – </a:t>
            </a:r>
            <a:r>
              <a:rPr lang="en-GB" b="0" dirty="0"/>
              <a:t>accept any reasonable precaution that would prevent the copper oxide touching the skin or eyes.</a:t>
            </a:r>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GB" sz="1200" b="0" i="0" u="none" strike="noStrike" cap="none" smtClean="0">
                <a:solidFill>
                  <a:schemeClr val="dk1"/>
                </a:solidFill>
                <a:latin typeface="Calibri"/>
                <a:ea typeface="Calibri"/>
                <a:cs typeface="Calibri"/>
                <a:sym typeface="Calibri"/>
              </a:rPr>
              <a:t>22</a:t>
            </a:fld>
            <a:endParaRPr lang="en-GB"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50663221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GB" b="1" dirty="0"/>
              <a:t>Alternative answers – </a:t>
            </a:r>
            <a:r>
              <a:rPr lang="en-GB" b="0" dirty="0"/>
              <a:t>accept any reasonable precaution that would prevent the copper oxide touching the skin or eyes.</a:t>
            </a:r>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GB" sz="1200" b="0" i="0" u="none" strike="noStrike" cap="none" smtClean="0">
                <a:solidFill>
                  <a:schemeClr val="dk1"/>
                </a:solidFill>
                <a:latin typeface="Calibri"/>
                <a:ea typeface="Calibri"/>
                <a:cs typeface="Calibri"/>
                <a:sym typeface="Calibri"/>
              </a:rPr>
              <a:t>23</a:t>
            </a:fld>
            <a:endParaRPr lang="en-GB"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0310845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GB" b="1" dirty="0"/>
              <a:t>Alternative answers – </a:t>
            </a:r>
            <a:r>
              <a:rPr lang="en-GB" b="0" dirty="0"/>
              <a:t>accept any reasonable precaution that would prevent the copper oxide touching the skin or eyes.</a:t>
            </a:r>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GB" sz="1200" b="0" i="0" u="none" strike="noStrike" cap="none" smtClean="0">
                <a:solidFill>
                  <a:schemeClr val="dk1"/>
                </a:solidFill>
                <a:latin typeface="Calibri"/>
                <a:ea typeface="Calibri"/>
                <a:cs typeface="Calibri"/>
                <a:sym typeface="Calibri"/>
              </a:rPr>
              <a:t>24</a:t>
            </a:fld>
            <a:endParaRPr lang="en-GB"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14825789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rtl="0">
              <a:lnSpc>
                <a:spcPct val="100000"/>
              </a:lnSpc>
              <a:spcBef>
                <a:spcPts val="0"/>
              </a:spcBef>
              <a:spcAft>
                <a:spcPts val="0"/>
              </a:spcAft>
              <a:buClr>
                <a:schemeClr val="dk1"/>
              </a:buClr>
              <a:buSzPts val="1200"/>
              <a:buFont typeface="+mj-lt"/>
              <a:buNone/>
            </a:pPr>
            <a:r>
              <a:rPr lang="en-GB" b="1" dirty="0"/>
              <a:t>Q1. Answer: A</a:t>
            </a:r>
          </a:p>
          <a:p>
            <a:pPr marL="0" marR="0" lvl="0" indent="0" algn="l" rtl="0">
              <a:lnSpc>
                <a:spcPct val="100000"/>
              </a:lnSpc>
              <a:spcBef>
                <a:spcPts val="0"/>
              </a:spcBef>
              <a:spcAft>
                <a:spcPts val="0"/>
              </a:spcAft>
              <a:buClr>
                <a:schemeClr val="dk1"/>
              </a:buClr>
              <a:buSzPts val="1200"/>
              <a:buFont typeface="+mj-lt"/>
              <a:buNone/>
            </a:pPr>
            <a:r>
              <a:rPr lang="en-GB" b="0" dirty="0"/>
              <a:t>If students answer B or D, they think that reduction is the loss of electrons. </a:t>
            </a:r>
            <a:r>
              <a:rPr lang="en-GB" i="1" dirty="0"/>
              <a:t>To fix-it, use OIL RIG to help students remember that oxidation is the loss of electrons and reduction is the gain of electrons.</a:t>
            </a:r>
          </a:p>
          <a:p>
            <a:pPr marL="0" marR="0" lvl="0" indent="0" algn="l" rtl="0">
              <a:lnSpc>
                <a:spcPct val="100000"/>
              </a:lnSpc>
              <a:spcBef>
                <a:spcPts val="0"/>
              </a:spcBef>
              <a:spcAft>
                <a:spcPts val="0"/>
              </a:spcAft>
              <a:buClr>
                <a:schemeClr val="dk1"/>
              </a:buClr>
              <a:buSzPts val="1200"/>
              <a:buFont typeface="+mj-lt"/>
              <a:buNone/>
            </a:pPr>
            <a:r>
              <a:rPr lang="en-GB" i="0" dirty="0"/>
              <a:t>If students answer C, they think that reduction is the gain of oxygen. They might be mis-using the OIL RIG (thinking it refers to reduction as gaining oxygen instead of reduction gaining electrons). </a:t>
            </a:r>
            <a:r>
              <a:rPr lang="en-GB" i="1" dirty="0"/>
              <a:t>To fix-it, remind students that the word oxidation starts with ‘ox’ because it involves the gain of oxygen.</a:t>
            </a:r>
          </a:p>
          <a:p>
            <a:pPr marL="0" marR="0" lvl="0" indent="0" algn="l" rtl="0">
              <a:lnSpc>
                <a:spcPct val="100000"/>
              </a:lnSpc>
              <a:spcBef>
                <a:spcPts val="0"/>
              </a:spcBef>
              <a:spcAft>
                <a:spcPts val="0"/>
              </a:spcAft>
              <a:buClr>
                <a:schemeClr val="dk1"/>
              </a:buClr>
              <a:buSzPts val="1200"/>
              <a:buFont typeface="+mj-lt"/>
              <a:buNone/>
            </a:pPr>
            <a:r>
              <a:rPr lang="en-GB" b="1" i="0" dirty="0"/>
              <a:t>Q2. </a:t>
            </a:r>
            <a:r>
              <a:rPr lang="en-GB" b="1" dirty="0"/>
              <a:t>Answer: B</a:t>
            </a:r>
          </a:p>
          <a:p>
            <a:pPr marL="0" marR="0" lvl="0" indent="0" algn="l" defTabSz="914400" rtl="0" eaLnBrk="1" fontAlgn="auto" latinLnBrk="0" hangingPunct="1">
              <a:lnSpc>
                <a:spcPct val="100000"/>
              </a:lnSpc>
              <a:spcBef>
                <a:spcPts val="0"/>
              </a:spcBef>
              <a:spcAft>
                <a:spcPts val="0"/>
              </a:spcAft>
              <a:buClr>
                <a:schemeClr val="dk1"/>
              </a:buClr>
              <a:buSzPts val="1200"/>
              <a:buFont typeface="+mj-lt"/>
              <a:buNone/>
              <a:tabLst/>
              <a:defRPr/>
            </a:pPr>
            <a:r>
              <a:rPr lang="en-GB" b="0" dirty="0"/>
              <a:t>If students answer A, they have successfully written each part of the chemical equation as ions, however they have forgotten to remove the species that appear on both sides of the equation (in this case the sulfate ion). </a:t>
            </a:r>
            <a:r>
              <a:rPr lang="en-GB" i="1" dirty="0"/>
              <a:t>To fix-it, remind students that any species that appears in exactly the same way on both sides of the equation is not included in the final ionic equation. </a:t>
            </a:r>
            <a:r>
              <a:rPr lang="en-GB" b="0" i="1" dirty="0"/>
              <a:t>Give students more practice in writing ionic equations.</a:t>
            </a:r>
            <a:endParaRPr lang="en-GB" i="1" dirty="0"/>
          </a:p>
          <a:p>
            <a:pPr marL="0" marR="0" lvl="0" indent="0" algn="l" rtl="0">
              <a:lnSpc>
                <a:spcPct val="100000"/>
              </a:lnSpc>
              <a:spcBef>
                <a:spcPts val="0"/>
              </a:spcBef>
              <a:spcAft>
                <a:spcPts val="0"/>
              </a:spcAft>
              <a:buClr>
                <a:schemeClr val="dk1"/>
              </a:buClr>
              <a:buSzPts val="1200"/>
              <a:buFont typeface="+mj-lt"/>
              <a:buNone/>
            </a:pPr>
            <a:r>
              <a:rPr lang="en-GB" b="0" i="0" dirty="0"/>
              <a:t>If students answer C, they have included the correct species in their ionic equation, however they have made the common error of trying to balance this equation. Students sometimes mistakenly treat the ion charges as if they were subscript numbers or coefficients. </a:t>
            </a:r>
            <a:r>
              <a:rPr lang="en-GB" b="0" i="1" dirty="0"/>
              <a:t>To fix-it, remind students that the charges are not indicative of the number of ions. Give students more practice in writing ionic equations.</a:t>
            </a:r>
          </a:p>
          <a:p>
            <a:pPr marL="0" marR="0" lvl="0" indent="0" algn="l" rtl="0">
              <a:lnSpc>
                <a:spcPct val="100000"/>
              </a:lnSpc>
              <a:spcBef>
                <a:spcPts val="0"/>
              </a:spcBef>
              <a:spcAft>
                <a:spcPts val="0"/>
              </a:spcAft>
              <a:buClr>
                <a:schemeClr val="dk1"/>
              </a:buClr>
              <a:buSzPts val="1200"/>
              <a:buFont typeface="+mj-lt"/>
              <a:buNone/>
            </a:pPr>
            <a:endParaRPr lang="en-GB" b="0" i="1" dirty="0"/>
          </a:p>
          <a:p>
            <a:endParaRPr lang="en-US"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GB" sz="1200" b="0" i="0" u="none" strike="noStrike" cap="none" smtClean="0">
                <a:solidFill>
                  <a:schemeClr val="dk1"/>
                </a:solidFill>
                <a:latin typeface="Calibri"/>
                <a:ea typeface="Calibri"/>
                <a:cs typeface="Calibri"/>
                <a:sym typeface="Calibri"/>
              </a:rPr>
              <a:t>25</a:t>
            </a:fld>
            <a:endParaRPr lang="en-GB"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12715118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rtl="0">
              <a:lnSpc>
                <a:spcPct val="100000"/>
              </a:lnSpc>
              <a:spcBef>
                <a:spcPts val="0"/>
              </a:spcBef>
              <a:spcAft>
                <a:spcPts val="0"/>
              </a:spcAft>
              <a:buClr>
                <a:schemeClr val="dk1"/>
              </a:buClr>
              <a:buSzPts val="1200"/>
              <a:buFont typeface="+mj-lt"/>
              <a:buNone/>
            </a:pPr>
            <a:r>
              <a:rPr lang="en-GB" b="1" i="0" dirty="0"/>
              <a:t>Q3. </a:t>
            </a:r>
            <a:r>
              <a:rPr lang="en-GB" b="1" dirty="0"/>
              <a:t>Answer: C </a:t>
            </a:r>
          </a:p>
          <a:p>
            <a:pPr marL="0" marR="0" lvl="0" indent="0" algn="l" defTabSz="914400" rtl="0" eaLnBrk="1" fontAlgn="auto" latinLnBrk="0" hangingPunct="1">
              <a:lnSpc>
                <a:spcPct val="100000"/>
              </a:lnSpc>
              <a:spcBef>
                <a:spcPts val="0"/>
              </a:spcBef>
              <a:spcAft>
                <a:spcPts val="0"/>
              </a:spcAft>
              <a:buClr>
                <a:schemeClr val="dk1"/>
              </a:buClr>
              <a:buSzPts val="1200"/>
              <a:buFont typeface="+mj-lt"/>
              <a:buNone/>
              <a:tabLst/>
              <a:defRPr/>
            </a:pPr>
            <a:r>
              <a:rPr lang="en-GB" b="0" dirty="0"/>
              <a:t>If students answer A, they are taking the term oxidation in this case to mean the addition of oxygen, and have not considered (or do not know) what oxidation means in term of electrons. </a:t>
            </a:r>
            <a:r>
              <a:rPr lang="en-GB" i="1" dirty="0"/>
              <a:t>To fix-it, remind students that where oxidation results in ions becoming charged, that the question is referring to the loss of electrons (and not the gain of oxygen).</a:t>
            </a:r>
            <a:endParaRPr lang="en-GB" b="0" dirty="0"/>
          </a:p>
          <a:p>
            <a:pPr marL="0" marR="0" lvl="0" indent="0" algn="l" rtl="0">
              <a:lnSpc>
                <a:spcPct val="100000"/>
              </a:lnSpc>
              <a:spcBef>
                <a:spcPts val="0"/>
              </a:spcBef>
              <a:spcAft>
                <a:spcPts val="0"/>
              </a:spcAft>
              <a:buClr>
                <a:schemeClr val="dk1"/>
              </a:buClr>
              <a:buSzPts val="1200"/>
              <a:buFont typeface="+mj-lt"/>
              <a:buNone/>
            </a:pPr>
            <a:r>
              <a:rPr lang="en-GB" b="0" dirty="0"/>
              <a:t>If students answer B, they are taking the term oxidation in this case to mean the removal of oxygen. This means they both do not understand that oxidation is the addition of oxygen, and they have not considered that this question requires a consideration of oxidation in terms of electrons. </a:t>
            </a:r>
            <a:r>
              <a:rPr lang="en-GB" i="1" dirty="0"/>
              <a:t>To fix-it, remind students of the definition of oxidation in terms of oxygen, and in terms of electrons. Remind students that where oxidation results in ions becoming charged, that the question is referring to the loss of electrons.</a:t>
            </a:r>
          </a:p>
          <a:p>
            <a:pPr marL="0" marR="0" lvl="0" indent="0" algn="l" rtl="0">
              <a:lnSpc>
                <a:spcPct val="100000"/>
              </a:lnSpc>
              <a:spcBef>
                <a:spcPts val="0"/>
              </a:spcBef>
              <a:spcAft>
                <a:spcPts val="0"/>
              </a:spcAft>
              <a:buClr>
                <a:schemeClr val="dk1"/>
              </a:buClr>
              <a:buSzPts val="1200"/>
              <a:buFont typeface="+mj-lt"/>
              <a:buNone/>
            </a:pPr>
            <a:r>
              <a:rPr lang="en-GB" b="0" i="0" dirty="0"/>
              <a:t>If students answer D, they correctly recognise that the question is referring to oxidation in terms of electrons (and not in terms of the gain or loss of oxygen). However, the student thinks that gaining electrons results in a positive charge. </a:t>
            </a:r>
            <a:r>
              <a:rPr lang="en-GB" b="0" i="1" dirty="0"/>
              <a:t>To fix-it, remind students that electrons have a negative charge. </a:t>
            </a:r>
            <a:r>
              <a:rPr lang="en-GB" b="0" i="1"/>
              <a:t>Therefore, </a:t>
            </a:r>
            <a:r>
              <a:rPr lang="en-GB" b="0" i="1" dirty="0"/>
              <a:t>the gain of electrons will result in negatively charged ions.</a:t>
            </a:r>
          </a:p>
          <a:p>
            <a:pPr marL="0" marR="0" lvl="0" indent="0" algn="l" rtl="0">
              <a:lnSpc>
                <a:spcPct val="100000"/>
              </a:lnSpc>
              <a:spcBef>
                <a:spcPts val="0"/>
              </a:spcBef>
              <a:spcAft>
                <a:spcPts val="0"/>
              </a:spcAft>
              <a:buClr>
                <a:schemeClr val="dk1"/>
              </a:buClr>
              <a:buSzPts val="1200"/>
              <a:buFont typeface="+mj-lt"/>
              <a:buNone/>
            </a:pPr>
            <a:endParaRPr lang="en-GB" b="0" i="1" dirty="0"/>
          </a:p>
          <a:p>
            <a:endParaRPr lang="en-US"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GB" sz="1200" b="0" i="0" u="none" strike="noStrike" cap="none" smtClean="0">
                <a:solidFill>
                  <a:schemeClr val="dk1"/>
                </a:solidFill>
                <a:latin typeface="Calibri"/>
                <a:ea typeface="Calibri"/>
                <a:cs typeface="Calibri"/>
                <a:sym typeface="Calibri"/>
              </a:rPr>
              <a:t>26</a:t>
            </a:fld>
            <a:endParaRPr lang="en-GB"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6206891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DEE5E-A815-70E0-2EDF-D22920BD4301}"/>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B0F47AEF-F72F-1B52-D1F7-0697BCE5578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4D3096F2-679A-246E-CE3D-C496EED9F839}"/>
              </a:ext>
            </a:extLst>
          </p:cNvPr>
          <p:cNvSpPr>
            <a:spLocks noGrp="1"/>
          </p:cNvSpPr>
          <p:nvPr>
            <p:ph type="dt" sz="half" idx="10"/>
          </p:nvPr>
        </p:nvSpPr>
        <p:spPr/>
        <p:txBody>
          <a:bodyPr/>
          <a:lstStyle/>
          <a:p>
            <a:fld id="{B98E8A18-A033-FC4E-B349-469E93CD6A56}" type="datetimeFigureOut">
              <a:rPr lang="en-US" smtClean="0"/>
              <a:t>12/1/25</a:t>
            </a:fld>
            <a:endParaRPr lang="en-US"/>
          </a:p>
        </p:txBody>
      </p:sp>
      <p:sp>
        <p:nvSpPr>
          <p:cNvPr id="5" name="Footer Placeholder 4">
            <a:extLst>
              <a:ext uri="{FF2B5EF4-FFF2-40B4-BE49-F238E27FC236}">
                <a16:creationId xmlns:a16="http://schemas.microsoft.com/office/drawing/2014/main" id="{6EA775D9-0248-5F87-7EB0-426CC8CC5F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2D7B8D-B6E4-5B1B-4C94-164E760730EC}"/>
              </a:ext>
            </a:extLst>
          </p:cNvPr>
          <p:cNvSpPr>
            <a:spLocks noGrp="1"/>
          </p:cNvSpPr>
          <p:nvPr>
            <p:ph type="sldNum" sz="quarter" idx="12"/>
          </p:nvPr>
        </p:nvSpPr>
        <p:spPr/>
        <p:txBody>
          <a:bodyPr/>
          <a:lstStyle/>
          <a:p>
            <a:fld id="{823C38CA-C264-2646-AEFF-4E207A0A6A18}" type="slidenum">
              <a:rPr lang="en-US" smtClean="0"/>
              <a:t>‹#›</a:t>
            </a:fld>
            <a:endParaRPr lang="en-US"/>
          </a:p>
        </p:txBody>
      </p:sp>
    </p:spTree>
    <p:extLst>
      <p:ext uri="{BB962C8B-B14F-4D97-AF65-F5344CB8AC3E}">
        <p14:creationId xmlns:p14="http://schemas.microsoft.com/office/powerpoint/2010/main" val="14360929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ADD284-A00B-D915-B5D3-20592B3D5565}"/>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0EADB8E-3E38-46E1-2B34-127AC16A3ADD}"/>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02BBEF4-81A0-581D-57F5-7768C8346339}"/>
              </a:ext>
            </a:extLst>
          </p:cNvPr>
          <p:cNvSpPr>
            <a:spLocks noGrp="1"/>
          </p:cNvSpPr>
          <p:nvPr>
            <p:ph type="dt" sz="half" idx="10"/>
          </p:nvPr>
        </p:nvSpPr>
        <p:spPr/>
        <p:txBody>
          <a:bodyPr/>
          <a:lstStyle/>
          <a:p>
            <a:fld id="{B98E8A18-A033-FC4E-B349-469E93CD6A56}" type="datetimeFigureOut">
              <a:rPr lang="en-US" smtClean="0"/>
              <a:t>12/1/25</a:t>
            </a:fld>
            <a:endParaRPr lang="en-US"/>
          </a:p>
        </p:txBody>
      </p:sp>
      <p:sp>
        <p:nvSpPr>
          <p:cNvPr id="5" name="Footer Placeholder 4">
            <a:extLst>
              <a:ext uri="{FF2B5EF4-FFF2-40B4-BE49-F238E27FC236}">
                <a16:creationId xmlns:a16="http://schemas.microsoft.com/office/drawing/2014/main" id="{499F59F8-364B-3BA5-037B-616D1810D3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014E60-572B-DE8F-B504-E147F3C0573C}"/>
              </a:ext>
            </a:extLst>
          </p:cNvPr>
          <p:cNvSpPr>
            <a:spLocks noGrp="1"/>
          </p:cNvSpPr>
          <p:nvPr>
            <p:ph type="sldNum" sz="quarter" idx="12"/>
          </p:nvPr>
        </p:nvSpPr>
        <p:spPr/>
        <p:txBody>
          <a:bodyPr/>
          <a:lstStyle/>
          <a:p>
            <a:fld id="{823C38CA-C264-2646-AEFF-4E207A0A6A18}" type="slidenum">
              <a:rPr lang="en-US" smtClean="0"/>
              <a:t>‹#›</a:t>
            </a:fld>
            <a:endParaRPr lang="en-US"/>
          </a:p>
        </p:txBody>
      </p:sp>
    </p:spTree>
    <p:extLst>
      <p:ext uri="{BB962C8B-B14F-4D97-AF65-F5344CB8AC3E}">
        <p14:creationId xmlns:p14="http://schemas.microsoft.com/office/powerpoint/2010/main" val="25993119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29FBA2-D266-E178-6F4B-620C6EA80105}"/>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4F2766EB-27AD-F9D5-A2A5-747F8231E71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AD37229E-2ACA-5E68-AD62-95B66CB0CBE0}"/>
              </a:ext>
            </a:extLst>
          </p:cNvPr>
          <p:cNvSpPr>
            <a:spLocks noGrp="1"/>
          </p:cNvSpPr>
          <p:nvPr>
            <p:ph type="dt" sz="half" idx="10"/>
          </p:nvPr>
        </p:nvSpPr>
        <p:spPr/>
        <p:txBody>
          <a:bodyPr/>
          <a:lstStyle/>
          <a:p>
            <a:fld id="{B98E8A18-A033-FC4E-B349-469E93CD6A56}" type="datetimeFigureOut">
              <a:rPr lang="en-US" smtClean="0"/>
              <a:t>12/1/25</a:t>
            </a:fld>
            <a:endParaRPr lang="en-US"/>
          </a:p>
        </p:txBody>
      </p:sp>
      <p:sp>
        <p:nvSpPr>
          <p:cNvPr id="5" name="Footer Placeholder 4">
            <a:extLst>
              <a:ext uri="{FF2B5EF4-FFF2-40B4-BE49-F238E27FC236}">
                <a16:creationId xmlns:a16="http://schemas.microsoft.com/office/drawing/2014/main" id="{AD656608-98B3-8DE5-6C55-8BBD8006B47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3AAB4F-7E8B-7B37-8AB2-FC73C4835C4C}"/>
              </a:ext>
            </a:extLst>
          </p:cNvPr>
          <p:cNvSpPr>
            <a:spLocks noGrp="1"/>
          </p:cNvSpPr>
          <p:nvPr>
            <p:ph type="sldNum" sz="quarter" idx="12"/>
          </p:nvPr>
        </p:nvSpPr>
        <p:spPr/>
        <p:txBody>
          <a:bodyPr/>
          <a:lstStyle/>
          <a:p>
            <a:fld id="{823C38CA-C264-2646-AEFF-4E207A0A6A18}" type="slidenum">
              <a:rPr lang="en-US" smtClean="0"/>
              <a:t>‹#›</a:t>
            </a:fld>
            <a:endParaRPr lang="en-US"/>
          </a:p>
        </p:txBody>
      </p:sp>
    </p:spTree>
    <p:extLst>
      <p:ext uri="{BB962C8B-B14F-4D97-AF65-F5344CB8AC3E}">
        <p14:creationId xmlns:p14="http://schemas.microsoft.com/office/powerpoint/2010/main" val="3810306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203579-BB3A-AD0F-55E7-C34EBF2054A7}"/>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ED787B77-5FED-2C3A-2124-76394F4D1DB5}"/>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A987E952-9AD1-843F-26D3-E6BE7AAB3BD3}"/>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847FB7F9-7551-8D68-B7A4-35209D87787A}"/>
              </a:ext>
            </a:extLst>
          </p:cNvPr>
          <p:cNvSpPr>
            <a:spLocks noGrp="1"/>
          </p:cNvSpPr>
          <p:nvPr>
            <p:ph type="dt" sz="half" idx="10"/>
          </p:nvPr>
        </p:nvSpPr>
        <p:spPr/>
        <p:txBody>
          <a:bodyPr/>
          <a:lstStyle/>
          <a:p>
            <a:fld id="{B98E8A18-A033-FC4E-B349-469E93CD6A56}" type="datetimeFigureOut">
              <a:rPr lang="en-US" smtClean="0"/>
              <a:t>12/1/25</a:t>
            </a:fld>
            <a:endParaRPr lang="en-US"/>
          </a:p>
        </p:txBody>
      </p:sp>
      <p:sp>
        <p:nvSpPr>
          <p:cNvPr id="6" name="Footer Placeholder 5">
            <a:extLst>
              <a:ext uri="{FF2B5EF4-FFF2-40B4-BE49-F238E27FC236}">
                <a16:creationId xmlns:a16="http://schemas.microsoft.com/office/drawing/2014/main" id="{06AAC358-4953-5286-A46E-8161D106B18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07F83A7-F35D-262A-133F-CF911DCF777B}"/>
              </a:ext>
            </a:extLst>
          </p:cNvPr>
          <p:cNvSpPr>
            <a:spLocks noGrp="1"/>
          </p:cNvSpPr>
          <p:nvPr>
            <p:ph type="sldNum" sz="quarter" idx="12"/>
          </p:nvPr>
        </p:nvSpPr>
        <p:spPr/>
        <p:txBody>
          <a:bodyPr/>
          <a:lstStyle/>
          <a:p>
            <a:fld id="{823C38CA-C264-2646-AEFF-4E207A0A6A18}" type="slidenum">
              <a:rPr lang="en-US" smtClean="0"/>
              <a:t>‹#›</a:t>
            </a:fld>
            <a:endParaRPr lang="en-US"/>
          </a:p>
        </p:txBody>
      </p:sp>
    </p:spTree>
    <p:extLst>
      <p:ext uri="{BB962C8B-B14F-4D97-AF65-F5344CB8AC3E}">
        <p14:creationId xmlns:p14="http://schemas.microsoft.com/office/powerpoint/2010/main" val="19095342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694C13-7F19-8B7E-1D0C-68139799264B}"/>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8EE68698-3E97-310E-860B-C7ECFBD9494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63065526-EDB0-E68A-24B1-4E28C30C74BA}"/>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091F2B2E-C987-766C-FF05-EC6BB4104AD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95931A8D-FFDC-0E23-E243-62CA25E8E4AA}"/>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8661DBC5-0B62-3D4A-1312-63364FA9BF65}"/>
              </a:ext>
            </a:extLst>
          </p:cNvPr>
          <p:cNvSpPr>
            <a:spLocks noGrp="1"/>
          </p:cNvSpPr>
          <p:nvPr>
            <p:ph type="dt" sz="half" idx="10"/>
          </p:nvPr>
        </p:nvSpPr>
        <p:spPr/>
        <p:txBody>
          <a:bodyPr/>
          <a:lstStyle/>
          <a:p>
            <a:fld id="{B98E8A18-A033-FC4E-B349-469E93CD6A56}" type="datetimeFigureOut">
              <a:rPr lang="en-US" smtClean="0"/>
              <a:t>12/1/25</a:t>
            </a:fld>
            <a:endParaRPr lang="en-US"/>
          </a:p>
        </p:txBody>
      </p:sp>
      <p:sp>
        <p:nvSpPr>
          <p:cNvPr id="8" name="Footer Placeholder 7">
            <a:extLst>
              <a:ext uri="{FF2B5EF4-FFF2-40B4-BE49-F238E27FC236}">
                <a16:creationId xmlns:a16="http://schemas.microsoft.com/office/drawing/2014/main" id="{A9963FEF-485A-FA4B-12F7-F0E6E15885F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A447799-1FE8-54FB-605A-03FBAE785378}"/>
              </a:ext>
            </a:extLst>
          </p:cNvPr>
          <p:cNvSpPr>
            <a:spLocks noGrp="1"/>
          </p:cNvSpPr>
          <p:nvPr>
            <p:ph type="sldNum" sz="quarter" idx="12"/>
          </p:nvPr>
        </p:nvSpPr>
        <p:spPr/>
        <p:txBody>
          <a:bodyPr/>
          <a:lstStyle/>
          <a:p>
            <a:fld id="{823C38CA-C264-2646-AEFF-4E207A0A6A18}" type="slidenum">
              <a:rPr lang="en-US" smtClean="0"/>
              <a:t>‹#›</a:t>
            </a:fld>
            <a:endParaRPr lang="en-US"/>
          </a:p>
        </p:txBody>
      </p:sp>
    </p:spTree>
    <p:extLst>
      <p:ext uri="{BB962C8B-B14F-4D97-AF65-F5344CB8AC3E}">
        <p14:creationId xmlns:p14="http://schemas.microsoft.com/office/powerpoint/2010/main" val="30578899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209B0D-FF47-9BA5-0D12-F675E98CD31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8D8F25A8-AE34-8027-8228-03591DE9A940}"/>
              </a:ext>
            </a:extLst>
          </p:cNvPr>
          <p:cNvSpPr>
            <a:spLocks noGrp="1"/>
          </p:cNvSpPr>
          <p:nvPr>
            <p:ph type="dt" sz="half" idx="10"/>
          </p:nvPr>
        </p:nvSpPr>
        <p:spPr/>
        <p:txBody>
          <a:bodyPr/>
          <a:lstStyle/>
          <a:p>
            <a:fld id="{B98E8A18-A033-FC4E-B349-469E93CD6A56}" type="datetimeFigureOut">
              <a:rPr lang="en-US" smtClean="0"/>
              <a:t>12/1/25</a:t>
            </a:fld>
            <a:endParaRPr lang="en-US"/>
          </a:p>
        </p:txBody>
      </p:sp>
      <p:sp>
        <p:nvSpPr>
          <p:cNvPr id="4" name="Footer Placeholder 3">
            <a:extLst>
              <a:ext uri="{FF2B5EF4-FFF2-40B4-BE49-F238E27FC236}">
                <a16:creationId xmlns:a16="http://schemas.microsoft.com/office/drawing/2014/main" id="{90440D74-C734-861E-4358-F01029338C2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5EE0D9E-8BCA-CF59-72BD-E08955BF8D04}"/>
              </a:ext>
            </a:extLst>
          </p:cNvPr>
          <p:cNvSpPr>
            <a:spLocks noGrp="1"/>
          </p:cNvSpPr>
          <p:nvPr>
            <p:ph type="sldNum" sz="quarter" idx="12"/>
          </p:nvPr>
        </p:nvSpPr>
        <p:spPr/>
        <p:txBody>
          <a:bodyPr/>
          <a:lstStyle/>
          <a:p>
            <a:fld id="{823C38CA-C264-2646-AEFF-4E207A0A6A18}" type="slidenum">
              <a:rPr lang="en-US" smtClean="0"/>
              <a:t>‹#›</a:t>
            </a:fld>
            <a:endParaRPr lang="en-US"/>
          </a:p>
        </p:txBody>
      </p:sp>
    </p:spTree>
    <p:extLst>
      <p:ext uri="{BB962C8B-B14F-4D97-AF65-F5344CB8AC3E}">
        <p14:creationId xmlns:p14="http://schemas.microsoft.com/office/powerpoint/2010/main" val="5213503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9F75D6F-32CC-C049-ED2C-EE68833632DC}"/>
              </a:ext>
            </a:extLst>
          </p:cNvPr>
          <p:cNvSpPr>
            <a:spLocks noGrp="1"/>
          </p:cNvSpPr>
          <p:nvPr>
            <p:ph type="dt" sz="half" idx="10"/>
          </p:nvPr>
        </p:nvSpPr>
        <p:spPr/>
        <p:txBody>
          <a:bodyPr/>
          <a:lstStyle/>
          <a:p>
            <a:fld id="{B98E8A18-A033-FC4E-B349-469E93CD6A56}" type="datetimeFigureOut">
              <a:rPr lang="en-US" smtClean="0"/>
              <a:t>12/1/25</a:t>
            </a:fld>
            <a:endParaRPr lang="en-US"/>
          </a:p>
        </p:txBody>
      </p:sp>
      <p:sp>
        <p:nvSpPr>
          <p:cNvPr id="3" name="Footer Placeholder 2">
            <a:extLst>
              <a:ext uri="{FF2B5EF4-FFF2-40B4-BE49-F238E27FC236}">
                <a16:creationId xmlns:a16="http://schemas.microsoft.com/office/drawing/2014/main" id="{ECBB5AA6-563B-A63C-05C2-1998208CD97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5B646A8-E0F5-F68A-2660-305CF5A21708}"/>
              </a:ext>
            </a:extLst>
          </p:cNvPr>
          <p:cNvSpPr>
            <a:spLocks noGrp="1"/>
          </p:cNvSpPr>
          <p:nvPr>
            <p:ph type="sldNum" sz="quarter" idx="12"/>
          </p:nvPr>
        </p:nvSpPr>
        <p:spPr/>
        <p:txBody>
          <a:bodyPr/>
          <a:lstStyle/>
          <a:p>
            <a:fld id="{823C38CA-C264-2646-AEFF-4E207A0A6A18}" type="slidenum">
              <a:rPr lang="en-US" smtClean="0"/>
              <a:t>‹#›</a:t>
            </a:fld>
            <a:endParaRPr lang="en-US"/>
          </a:p>
        </p:txBody>
      </p:sp>
    </p:spTree>
    <p:extLst>
      <p:ext uri="{BB962C8B-B14F-4D97-AF65-F5344CB8AC3E}">
        <p14:creationId xmlns:p14="http://schemas.microsoft.com/office/powerpoint/2010/main" val="28921086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BEF5A-3278-E474-2FF8-AB13E1F5718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A79A47BF-3BBA-9D7C-FF98-85F4258A33A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F9192947-5889-9061-D30F-ED06DF2888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5B656BD4-CE93-B227-4BF2-C79F947E7A1B}"/>
              </a:ext>
            </a:extLst>
          </p:cNvPr>
          <p:cNvSpPr>
            <a:spLocks noGrp="1"/>
          </p:cNvSpPr>
          <p:nvPr>
            <p:ph type="dt" sz="half" idx="10"/>
          </p:nvPr>
        </p:nvSpPr>
        <p:spPr/>
        <p:txBody>
          <a:bodyPr/>
          <a:lstStyle/>
          <a:p>
            <a:fld id="{B98E8A18-A033-FC4E-B349-469E93CD6A56}" type="datetimeFigureOut">
              <a:rPr lang="en-US" smtClean="0"/>
              <a:t>12/1/25</a:t>
            </a:fld>
            <a:endParaRPr lang="en-US"/>
          </a:p>
        </p:txBody>
      </p:sp>
      <p:sp>
        <p:nvSpPr>
          <p:cNvPr id="6" name="Footer Placeholder 5">
            <a:extLst>
              <a:ext uri="{FF2B5EF4-FFF2-40B4-BE49-F238E27FC236}">
                <a16:creationId xmlns:a16="http://schemas.microsoft.com/office/drawing/2014/main" id="{3A721D44-2280-B9F0-B137-B6F0F1CEF49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BBA9734-2FB2-1051-13DA-550B5F549326}"/>
              </a:ext>
            </a:extLst>
          </p:cNvPr>
          <p:cNvSpPr>
            <a:spLocks noGrp="1"/>
          </p:cNvSpPr>
          <p:nvPr>
            <p:ph type="sldNum" sz="quarter" idx="12"/>
          </p:nvPr>
        </p:nvSpPr>
        <p:spPr/>
        <p:txBody>
          <a:bodyPr/>
          <a:lstStyle/>
          <a:p>
            <a:fld id="{823C38CA-C264-2646-AEFF-4E207A0A6A18}" type="slidenum">
              <a:rPr lang="en-US" smtClean="0"/>
              <a:t>‹#›</a:t>
            </a:fld>
            <a:endParaRPr lang="en-US"/>
          </a:p>
        </p:txBody>
      </p:sp>
    </p:spTree>
    <p:extLst>
      <p:ext uri="{BB962C8B-B14F-4D97-AF65-F5344CB8AC3E}">
        <p14:creationId xmlns:p14="http://schemas.microsoft.com/office/powerpoint/2010/main" val="35196851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C9BBF8-FF4F-7157-FBE7-8D01993EECA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DD7A8E93-48D5-328F-14A0-B205A2E87B6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F5346B4-D7FB-EBDF-434E-0AF852D281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65C2412-159D-7E1B-89EA-978036DAC9C1}"/>
              </a:ext>
            </a:extLst>
          </p:cNvPr>
          <p:cNvSpPr>
            <a:spLocks noGrp="1"/>
          </p:cNvSpPr>
          <p:nvPr>
            <p:ph type="dt" sz="half" idx="10"/>
          </p:nvPr>
        </p:nvSpPr>
        <p:spPr/>
        <p:txBody>
          <a:bodyPr/>
          <a:lstStyle/>
          <a:p>
            <a:fld id="{B98E8A18-A033-FC4E-B349-469E93CD6A56}" type="datetimeFigureOut">
              <a:rPr lang="en-US" smtClean="0"/>
              <a:t>12/1/25</a:t>
            </a:fld>
            <a:endParaRPr lang="en-US"/>
          </a:p>
        </p:txBody>
      </p:sp>
      <p:sp>
        <p:nvSpPr>
          <p:cNvPr id="6" name="Footer Placeholder 5">
            <a:extLst>
              <a:ext uri="{FF2B5EF4-FFF2-40B4-BE49-F238E27FC236}">
                <a16:creationId xmlns:a16="http://schemas.microsoft.com/office/drawing/2014/main" id="{8473249E-820A-2332-29B2-96E644AA9AE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6B8D880-8FB6-A11E-1E89-2E4761941724}"/>
              </a:ext>
            </a:extLst>
          </p:cNvPr>
          <p:cNvSpPr>
            <a:spLocks noGrp="1"/>
          </p:cNvSpPr>
          <p:nvPr>
            <p:ph type="sldNum" sz="quarter" idx="12"/>
          </p:nvPr>
        </p:nvSpPr>
        <p:spPr/>
        <p:txBody>
          <a:bodyPr/>
          <a:lstStyle/>
          <a:p>
            <a:fld id="{823C38CA-C264-2646-AEFF-4E207A0A6A18}" type="slidenum">
              <a:rPr lang="en-US" smtClean="0"/>
              <a:t>‹#›</a:t>
            </a:fld>
            <a:endParaRPr lang="en-US"/>
          </a:p>
        </p:txBody>
      </p:sp>
    </p:spTree>
    <p:extLst>
      <p:ext uri="{BB962C8B-B14F-4D97-AF65-F5344CB8AC3E}">
        <p14:creationId xmlns:p14="http://schemas.microsoft.com/office/powerpoint/2010/main" val="6649527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6F6387-367A-48ED-9408-863E64174B5D}"/>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D337E30E-05A3-7B9C-4153-9028CF907C24}"/>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0B45CF2-2956-1BC9-60F4-98D1A6819CC3}"/>
              </a:ext>
            </a:extLst>
          </p:cNvPr>
          <p:cNvSpPr>
            <a:spLocks noGrp="1"/>
          </p:cNvSpPr>
          <p:nvPr>
            <p:ph type="dt" sz="half" idx="10"/>
          </p:nvPr>
        </p:nvSpPr>
        <p:spPr/>
        <p:txBody>
          <a:bodyPr/>
          <a:lstStyle/>
          <a:p>
            <a:fld id="{B98E8A18-A033-FC4E-B349-469E93CD6A56}" type="datetimeFigureOut">
              <a:rPr lang="en-US" smtClean="0"/>
              <a:t>12/1/25</a:t>
            </a:fld>
            <a:endParaRPr lang="en-US"/>
          </a:p>
        </p:txBody>
      </p:sp>
      <p:sp>
        <p:nvSpPr>
          <p:cNvPr id="5" name="Footer Placeholder 4">
            <a:extLst>
              <a:ext uri="{FF2B5EF4-FFF2-40B4-BE49-F238E27FC236}">
                <a16:creationId xmlns:a16="http://schemas.microsoft.com/office/drawing/2014/main" id="{095FB57C-FA07-6B4C-C61C-D68FB9E0DA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0F3AB8-51BD-A9FB-7133-C2B077082C5A}"/>
              </a:ext>
            </a:extLst>
          </p:cNvPr>
          <p:cNvSpPr>
            <a:spLocks noGrp="1"/>
          </p:cNvSpPr>
          <p:nvPr>
            <p:ph type="sldNum" sz="quarter" idx="12"/>
          </p:nvPr>
        </p:nvSpPr>
        <p:spPr/>
        <p:txBody>
          <a:bodyPr/>
          <a:lstStyle/>
          <a:p>
            <a:fld id="{823C38CA-C264-2646-AEFF-4E207A0A6A18}" type="slidenum">
              <a:rPr lang="en-US" smtClean="0"/>
              <a:t>‹#›</a:t>
            </a:fld>
            <a:endParaRPr lang="en-US"/>
          </a:p>
        </p:txBody>
      </p:sp>
    </p:spTree>
    <p:extLst>
      <p:ext uri="{BB962C8B-B14F-4D97-AF65-F5344CB8AC3E}">
        <p14:creationId xmlns:p14="http://schemas.microsoft.com/office/powerpoint/2010/main" val="39740542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9517435-BF8D-43C9-8067-76354F3F10E0}"/>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56E05E63-A0CB-5B83-4A16-C1E39B86CB07}"/>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7401809-25B4-3791-6B43-F99A71CBF8AB}"/>
              </a:ext>
            </a:extLst>
          </p:cNvPr>
          <p:cNvSpPr>
            <a:spLocks noGrp="1"/>
          </p:cNvSpPr>
          <p:nvPr>
            <p:ph type="dt" sz="half" idx="10"/>
          </p:nvPr>
        </p:nvSpPr>
        <p:spPr/>
        <p:txBody>
          <a:bodyPr/>
          <a:lstStyle/>
          <a:p>
            <a:fld id="{B98E8A18-A033-FC4E-B349-469E93CD6A56}" type="datetimeFigureOut">
              <a:rPr lang="en-US" smtClean="0"/>
              <a:t>12/1/25</a:t>
            </a:fld>
            <a:endParaRPr lang="en-US"/>
          </a:p>
        </p:txBody>
      </p:sp>
      <p:sp>
        <p:nvSpPr>
          <p:cNvPr id="5" name="Footer Placeholder 4">
            <a:extLst>
              <a:ext uri="{FF2B5EF4-FFF2-40B4-BE49-F238E27FC236}">
                <a16:creationId xmlns:a16="http://schemas.microsoft.com/office/drawing/2014/main" id="{8504DA8F-B795-1A5E-10B2-DD3859226D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D23E2C-500D-7057-C5D2-0A8A1A5432BA}"/>
              </a:ext>
            </a:extLst>
          </p:cNvPr>
          <p:cNvSpPr>
            <a:spLocks noGrp="1"/>
          </p:cNvSpPr>
          <p:nvPr>
            <p:ph type="sldNum" sz="quarter" idx="12"/>
          </p:nvPr>
        </p:nvSpPr>
        <p:spPr/>
        <p:txBody>
          <a:bodyPr/>
          <a:lstStyle/>
          <a:p>
            <a:fld id="{823C38CA-C264-2646-AEFF-4E207A0A6A18}" type="slidenum">
              <a:rPr lang="en-US" smtClean="0"/>
              <a:t>‹#›</a:t>
            </a:fld>
            <a:endParaRPr lang="en-US"/>
          </a:p>
        </p:txBody>
      </p:sp>
    </p:spTree>
    <p:extLst>
      <p:ext uri="{BB962C8B-B14F-4D97-AF65-F5344CB8AC3E}">
        <p14:creationId xmlns:p14="http://schemas.microsoft.com/office/powerpoint/2010/main" val="7435195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Introduction">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3CC60F1-53C2-2F45-BA74-D0D91DCBB869}"/>
              </a:ext>
            </a:extLst>
          </p:cNvPr>
          <p:cNvSpPr/>
          <p:nvPr/>
        </p:nvSpPr>
        <p:spPr>
          <a:xfrm>
            <a:off x="0" y="0"/>
            <a:ext cx="12192000" cy="6858000"/>
          </a:xfrm>
          <a:prstGeom prst="rect">
            <a:avLst/>
          </a:pr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F9013E8-2729-5B47-8374-30CE1D248EBB}"/>
              </a:ext>
            </a:extLst>
          </p:cNvPr>
          <p:cNvSpPr>
            <a:spLocks noGrp="1"/>
          </p:cNvSpPr>
          <p:nvPr>
            <p:ph type="title" hasCustomPrompt="1"/>
          </p:nvPr>
        </p:nvSpPr>
        <p:spPr>
          <a:xfrm>
            <a:off x="540000" y="0"/>
            <a:ext cx="10620000" cy="720000"/>
          </a:xfrm>
        </p:spPr>
        <p:txBody>
          <a:bodyPr lIns="0" tIns="0" rIns="0" bIns="0" anchor="b" anchorCtr="0">
            <a:normAutofit/>
          </a:bodyPr>
          <a:lstStyle>
            <a:lvl1pPr>
              <a:defRPr sz="2600" b="1"/>
            </a:lvl1pPr>
          </a:lstStyle>
          <a:p>
            <a:r>
              <a:rPr lang="en-GB"/>
              <a:t>Title</a:t>
            </a:r>
            <a:endParaRPr lang="en-US"/>
          </a:p>
        </p:txBody>
      </p:sp>
      <p:sp>
        <p:nvSpPr>
          <p:cNvPr id="12" name="TextBox 11">
            <a:extLst>
              <a:ext uri="{FF2B5EF4-FFF2-40B4-BE49-F238E27FC236}">
                <a16:creationId xmlns:a16="http://schemas.microsoft.com/office/drawing/2014/main" id="{FB8F997C-5D99-6F43-B0D2-545450812158}"/>
              </a:ext>
            </a:extLst>
          </p:cNvPr>
          <p:cNvSpPr txBox="1"/>
          <p:nvPr/>
        </p:nvSpPr>
        <p:spPr>
          <a:xfrm rot="16200000">
            <a:off x="8433600" y="3099600"/>
            <a:ext cx="6858000" cy="658800"/>
          </a:xfrm>
          <a:prstGeom prst="rect">
            <a:avLst/>
          </a:prstGeom>
          <a:solidFill>
            <a:schemeClr val="accent2"/>
          </a:solidFill>
        </p:spPr>
        <p:txBody>
          <a:bodyPr wrap="square" lIns="0" tIns="0" rIns="0" bIns="0" rtlCol="0" anchor="ctr">
            <a:noAutofit/>
          </a:bodyPr>
          <a:lstStyle/>
          <a:p>
            <a:pPr algn="ctr"/>
            <a:r>
              <a:rPr lang="en-US" sz="2600" b="1">
                <a:solidFill>
                  <a:schemeClr val="bg1"/>
                </a:solidFill>
                <a:latin typeface="Georgia" panose="02040502050405020303" pitchFamily="18" charset="0"/>
                <a:cs typeface="Arial" panose="020B0604020202020204" pitchFamily="34" charset="0"/>
              </a:rPr>
              <a:t>Introduction</a:t>
            </a:r>
          </a:p>
        </p:txBody>
      </p:sp>
    </p:spTree>
    <p:extLst>
      <p:ext uri="{BB962C8B-B14F-4D97-AF65-F5344CB8AC3E}">
        <p14:creationId xmlns:p14="http://schemas.microsoft.com/office/powerpoint/2010/main" val="1350499195"/>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Talk Task">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3CC60F1-53C2-2F45-BA74-D0D91DCBB869}"/>
              </a:ext>
            </a:extLst>
          </p:cNvPr>
          <p:cNvSpPr/>
          <p:nvPr/>
        </p:nvSpPr>
        <p:spPr>
          <a:xfrm>
            <a:off x="0" y="0"/>
            <a:ext cx="12192000" cy="6858000"/>
          </a:xfrm>
          <a:prstGeom prst="rect">
            <a:avLst/>
          </a:pr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F9013E8-2729-5B47-8374-30CE1D248EBB}"/>
              </a:ext>
            </a:extLst>
          </p:cNvPr>
          <p:cNvSpPr>
            <a:spLocks noGrp="1"/>
          </p:cNvSpPr>
          <p:nvPr>
            <p:ph type="title" hasCustomPrompt="1"/>
          </p:nvPr>
        </p:nvSpPr>
        <p:spPr>
          <a:xfrm>
            <a:off x="540000" y="0"/>
            <a:ext cx="10620000" cy="720000"/>
          </a:xfrm>
        </p:spPr>
        <p:txBody>
          <a:bodyPr lIns="0" tIns="0" rIns="0" bIns="0" anchor="b" anchorCtr="0">
            <a:normAutofit/>
          </a:bodyPr>
          <a:lstStyle>
            <a:lvl1pPr>
              <a:defRPr sz="2600" b="1"/>
            </a:lvl1pPr>
          </a:lstStyle>
          <a:p>
            <a:r>
              <a:rPr lang="en-GB"/>
              <a:t>Title</a:t>
            </a:r>
            <a:endParaRPr lang="en-US"/>
          </a:p>
        </p:txBody>
      </p:sp>
      <p:sp>
        <p:nvSpPr>
          <p:cNvPr id="12" name="TextBox 11">
            <a:extLst>
              <a:ext uri="{FF2B5EF4-FFF2-40B4-BE49-F238E27FC236}">
                <a16:creationId xmlns:a16="http://schemas.microsoft.com/office/drawing/2014/main" id="{FB8F997C-5D99-6F43-B0D2-545450812158}"/>
              </a:ext>
            </a:extLst>
          </p:cNvPr>
          <p:cNvSpPr txBox="1"/>
          <p:nvPr/>
        </p:nvSpPr>
        <p:spPr>
          <a:xfrm rot="16200000">
            <a:off x="8433600" y="3099600"/>
            <a:ext cx="6858000" cy="658800"/>
          </a:xfrm>
          <a:prstGeom prst="rect">
            <a:avLst/>
          </a:prstGeom>
          <a:solidFill>
            <a:schemeClr val="accent2"/>
          </a:solidFill>
        </p:spPr>
        <p:txBody>
          <a:bodyPr wrap="square" lIns="0" tIns="0" rIns="0" bIns="0" rtlCol="0" anchor="ctr">
            <a:noAutofit/>
          </a:bodyPr>
          <a:lstStyle/>
          <a:p>
            <a:pPr algn="ctr"/>
            <a:r>
              <a:rPr lang="en-US" sz="2600" b="1">
                <a:solidFill>
                  <a:schemeClr val="bg1"/>
                </a:solidFill>
                <a:latin typeface="Georgia" panose="02040502050405020303" pitchFamily="18" charset="0"/>
                <a:cs typeface="Arial" panose="020B0604020202020204" pitchFamily="34" charset="0"/>
              </a:rPr>
              <a:t>Talk Task</a:t>
            </a:r>
          </a:p>
        </p:txBody>
      </p:sp>
    </p:spTree>
    <p:extLst>
      <p:ext uri="{BB962C8B-B14F-4D97-AF65-F5344CB8AC3E}">
        <p14:creationId xmlns:p14="http://schemas.microsoft.com/office/powerpoint/2010/main" val="26012771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Appl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92CA172-5EAE-804D-AABD-57A2C8AD4B00}"/>
              </a:ext>
            </a:extLst>
          </p:cNvPr>
          <p:cNvSpPr/>
          <p:nvPr/>
        </p:nvSpPr>
        <p:spPr>
          <a:xfrm>
            <a:off x="0" y="0"/>
            <a:ext cx="12192000" cy="6858000"/>
          </a:xfrm>
          <a:prstGeom prst="rect">
            <a:avLst/>
          </a:pr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C7C566C2-9CB2-1B42-AB01-A55076C6A2AF}"/>
              </a:ext>
            </a:extLst>
          </p:cNvPr>
          <p:cNvSpPr txBox="1"/>
          <p:nvPr/>
        </p:nvSpPr>
        <p:spPr>
          <a:xfrm rot="16200000">
            <a:off x="8433600" y="3099600"/>
            <a:ext cx="6858000" cy="658800"/>
          </a:xfrm>
          <a:prstGeom prst="rect">
            <a:avLst/>
          </a:prstGeom>
          <a:solidFill>
            <a:schemeClr val="accent2"/>
          </a:solidFill>
        </p:spPr>
        <p:txBody>
          <a:bodyPr wrap="square" lIns="0" tIns="0" rIns="0" bIns="0" rtlCol="0" anchor="ctr">
            <a:noAutofit/>
          </a:bodyPr>
          <a:lstStyle/>
          <a:p>
            <a:pPr algn="ctr"/>
            <a:r>
              <a:rPr lang="en-US" sz="2600" b="1">
                <a:solidFill>
                  <a:schemeClr val="bg1"/>
                </a:solidFill>
                <a:latin typeface="Georgia" panose="02040502050405020303" pitchFamily="18" charset="0"/>
                <a:cs typeface="Arial" panose="020B0604020202020204" pitchFamily="34" charset="0"/>
              </a:rPr>
              <a:t>Apply</a:t>
            </a:r>
          </a:p>
        </p:txBody>
      </p:sp>
    </p:spTree>
    <p:extLst>
      <p:ext uri="{BB962C8B-B14F-4D97-AF65-F5344CB8AC3E}">
        <p14:creationId xmlns:p14="http://schemas.microsoft.com/office/powerpoint/2010/main" val="319061108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Activit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C1E1B9E-7C95-3148-8A95-67EC5EC2388E}"/>
              </a:ext>
            </a:extLst>
          </p:cNvPr>
          <p:cNvSpPr/>
          <p:nvPr/>
        </p:nvSpPr>
        <p:spPr>
          <a:xfrm>
            <a:off x="0" y="0"/>
            <a:ext cx="12192000" cy="6858000"/>
          </a:xfrm>
          <a:prstGeom prst="rect">
            <a:avLst/>
          </a:pr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086193F-4CCD-C844-A34E-2805FE7AE763}"/>
              </a:ext>
            </a:extLst>
          </p:cNvPr>
          <p:cNvSpPr>
            <a:spLocks noGrp="1"/>
          </p:cNvSpPr>
          <p:nvPr>
            <p:ph type="title" hasCustomPrompt="1"/>
          </p:nvPr>
        </p:nvSpPr>
        <p:spPr>
          <a:xfrm>
            <a:off x="540000" y="-1"/>
            <a:ext cx="10620000" cy="720000"/>
          </a:xfrm>
        </p:spPr>
        <p:txBody>
          <a:bodyPr lIns="0" tIns="0" rIns="0" bIns="0" anchor="b" anchorCtr="0">
            <a:normAutofit/>
          </a:bodyPr>
          <a:lstStyle>
            <a:lvl1pPr>
              <a:defRPr sz="2600" b="1"/>
            </a:lvl1pPr>
          </a:lstStyle>
          <a:p>
            <a:r>
              <a:rPr lang="en-GB"/>
              <a:t>Title</a:t>
            </a:r>
            <a:endParaRPr lang="en-US"/>
          </a:p>
        </p:txBody>
      </p:sp>
      <p:sp>
        <p:nvSpPr>
          <p:cNvPr id="12" name="TextBox 11">
            <a:extLst>
              <a:ext uri="{FF2B5EF4-FFF2-40B4-BE49-F238E27FC236}">
                <a16:creationId xmlns:a16="http://schemas.microsoft.com/office/drawing/2014/main" id="{1E5D10FB-422B-FF46-9A52-79F8348D7380}"/>
              </a:ext>
            </a:extLst>
          </p:cNvPr>
          <p:cNvSpPr txBox="1"/>
          <p:nvPr/>
        </p:nvSpPr>
        <p:spPr>
          <a:xfrm rot="16200000">
            <a:off x="8433599" y="3099601"/>
            <a:ext cx="6858002" cy="658800"/>
          </a:xfrm>
          <a:prstGeom prst="rect">
            <a:avLst/>
          </a:prstGeom>
          <a:solidFill>
            <a:schemeClr val="accent2"/>
          </a:solidFill>
        </p:spPr>
        <p:txBody>
          <a:bodyPr wrap="square" lIns="0" tIns="0" rIns="0" bIns="0" rtlCol="0" anchor="ctr">
            <a:noAutofit/>
          </a:bodyPr>
          <a:lstStyle/>
          <a:p>
            <a:pPr algn="ctr"/>
            <a:r>
              <a:rPr lang="en-US" sz="2600" b="1">
                <a:solidFill>
                  <a:schemeClr val="bg1"/>
                </a:solidFill>
                <a:latin typeface="Georgia" panose="02040502050405020303" pitchFamily="18" charset="0"/>
                <a:cs typeface="Arial" panose="020B0604020202020204" pitchFamily="34" charset="0"/>
              </a:rPr>
              <a:t>Activity</a:t>
            </a:r>
          </a:p>
        </p:txBody>
      </p:sp>
    </p:spTree>
    <p:extLst>
      <p:ext uri="{BB962C8B-B14F-4D97-AF65-F5344CB8AC3E}">
        <p14:creationId xmlns:p14="http://schemas.microsoft.com/office/powerpoint/2010/main" val="2708974127"/>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Exit ticke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1CF8D11-A98B-FB43-A02A-0E01508CFEFA}"/>
              </a:ext>
            </a:extLst>
          </p:cNvPr>
          <p:cNvSpPr/>
          <p:nvPr/>
        </p:nvSpPr>
        <p:spPr>
          <a:xfrm>
            <a:off x="0" y="0"/>
            <a:ext cx="12192000" cy="6858000"/>
          </a:xfrm>
          <a:prstGeom prst="rect">
            <a:avLst/>
          </a:pr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39B7E32-F1A6-034E-A449-0418D7DA131D}"/>
              </a:ext>
            </a:extLst>
          </p:cNvPr>
          <p:cNvSpPr>
            <a:spLocks noGrp="1"/>
          </p:cNvSpPr>
          <p:nvPr>
            <p:ph type="title" hasCustomPrompt="1"/>
          </p:nvPr>
        </p:nvSpPr>
        <p:spPr>
          <a:xfrm>
            <a:off x="540000" y="-3570"/>
            <a:ext cx="10620000" cy="720000"/>
          </a:xfrm>
        </p:spPr>
        <p:txBody>
          <a:bodyPr lIns="0" tIns="0" rIns="0" bIns="0" anchor="b" anchorCtr="0">
            <a:normAutofit/>
          </a:bodyPr>
          <a:lstStyle>
            <a:lvl1pPr>
              <a:defRPr sz="2600" b="1"/>
            </a:lvl1pPr>
          </a:lstStyle>
          <a:p>
            <a:r>
              <a:rPr lang="en-GB"/>
              <a:t>Title</a:t>
            </a:r>
            <a:endParaRPr lang="en-US"/>
          </a:p>
        </p:txBody>
      </p:sp>
      <p:sp>
        <p:nvSpPr>
          <p:cNvPr id="19" name="TextBox 18">
            <a:extLst>
              <a:ext uri="{FF2B5EF4-FFF2-40B4-BE49-F238E27FC236}">
                <a16:creationId xmlns:a16="http://schemas.microsoft.com/office/drawing/2014/main" id="{527B9016-1EB5-F141-8466-77AF25D7B637}"/>
              </a:ext>
            </a:extLst>
          </p:cNvPr>
          <p:cNvSpPr txBox="1"/>
          <p:nvPr/>
        </p:nvSpPr>
        <p:spPr>
          <a:xfrm rot="16200000">
            <a:off x="8433598" y="3099604"/>
            <a:ext cx="6858003" cy="658800"/>
          </a:xfrm>
          <a:prstGeom prst="rect">
            <a:avLst/>
          </a:prstGeom>
          <a:solidFill>
            <a:schemeClr val="accent2"/>
          </a:solidFill>
        </p:spPr>
        <p:txBody>
          <a:bodyPr wrap="square" lIns="0" tIns="0" rIns="0" bIns="0" rtlCol="0" anchor="ctr">
            <a:noAutofit/>
          </a:bodyPr>
          <a:lstStyle/>
          <a:p>
            <a:pPr algn="ctr"/>
            <a:r>
              <a:rPr lang="en-US" sz="2600" b="1">
                <a:solidFill>
                  <a:schemeClr val="bg1"/>
                </a:solidFill>
                <a:latin typeface="Georgia" panose="02040502050405020303" pitchFamily="18" charset="0"/>
                <a:cs typeface="Arial" panose="020B0604020202020204" pitchFamily="34" charset="0"/>
              </a:rPr>
              <a:t>Exit ticket</a:t>
            </a:r>
          </a:p>
        </p:txBody>
      </p:sp>
    </p:spTree>
    <p:extLst>
      <p:ext uri="{BB962C8B-B14F-4D97-AF65-F5344CB8AC3E}">
        <p14:creationId xmlns:p14="http://schemas.microsoft.com/office/powerpoint/2010/main" val="1709663982"/>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A01084-1856-7B24-83CC-11314E522F1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F1B5E70D-BA20-D5CF-D322-CA819563292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8966582-06EE-AAFF-7C97-ACD0EF00F6E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98E8A18-A033-FC4E-B349-469E93CD6A56}" type="datetimeFigureOut">
              <a:rPr lang="en-US" smtClean="0"/>
              <a:t>12/1/25</a:t>
            </a:fld>
            <a:endParaRPr lang="en-US"/>
          </a:p>
        </p:txBody>
      </p:sp>
      <p:sp>
        <p:nvSpPr>
          <p:cNvPr id="5" name="Footer Placeholder 4">
            <a:extLst>
              <a:ext uri="{FF2B5EF4-FFF2-40B4-BE49-F238E27FC236}">
                <a16:creationId xmlns:a16="http://schemas.microsoft.com/office/drawing/2014/main" id="{16345E95-B277-1BE9-26A6-DE97C7BA4BE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1C65A5D-4873-EED4-B08F-22448885033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23C38CA-C264-2646-AEFF-4E207A0A6A18}" type="slidenum">
              <a:rPr lang="en-US" smtClean="0"/>
              <a:t>‹#›</a:t>
            </a:fld>
            <a:endParaRPr lang="en-US"/>
          </a:p>
        </p:txBody>
      </p:sp>
    </p:spTree>
    <p:extLst>
      <p:ext uri="{BB962C8B-B14F-4D97-AF65-F5344CB8AC3E}">
        <p14:creationId xmlns:p14="http://schemas.microsoft.com/office/powerpoint/2010/main" val="467077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jpe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1.xml"/><Relationship Id="rId11" Type="http://schemas.openxmlformats.org/officeDocument/2006/relationships/image" Target="../media/image7.png"/><Relationship Id="rId5" Type="http://schemas.openxmlformats.org/officeDocument/2006/relationships/diagramQuickStyle" Target="../diagrams/quickStyle1.xml"/><Relationship Id="rId10" Type="http://schemas.openxmlformats.org/officeDocument/2006/relationships/image" Target="../media/image6.png"/><Relationship Id="rId4" Type="http://schemas.openxmlformats.org/officeDocument/2006/relationships/diagramLayout" Target="../diagrams/layout1.xml"/><Relationship Id="rId9"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0.png"/><Relationship Id="rId7"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12.png"/><Relationship Id="rId4" Type="http://schemas.openxmlformats.org/officeDocument/2006/relationships/image" Target="../media/image3.png"/><Relationship Id="rId9"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2.xml"/><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3.xml"/><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4.xml"/><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7D33507-344C-16F3-5498-313688B82D10}"/>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496445F-86FF-091F-B71F-67FE3A3C65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a:solidFill>
                  <a:srgbClr val="000000"/>
                </a:solidFill>
              </a:rPr>
              <a:t>HT only: Ionic Equations and Displacement Reactions</a:t>
            </a:r>
          </a:p>
        </p:txBody>
      </p:sp>
      <p:pic>
        <p:nvPicPr>
          <p:cNvPr id="16" name="Picture 15">
            <a:extLst>
              <a:ext uri="{FF2B5EF4-FFF2-40B4-BE49-F238E27FC236}">
                <a16:creationId xmlns:a16="http://schemas.microsoft.com/office/drawing/2014/main" id="{C0C111FB-7DB9-C19A-7715-D1B84DC4E84F}"/>
              </a:ext>
            </a:extLst>
          </p:cNvPr>
          <p:cNvPicPr>
            <a:picLocks noChangeAspect="1"/>
          </p:cNvPicPr>
          <p:nvPr/>
        </p:nvPicPr>
        <p:blipFill>
          <a:blip r:embed="rId3"/>
          <a:srcRect t="6897" b="55236"/>
          <a:stretch>
            <a:fillRect/>
          </a:stretch>
        </p:blipFill>
        <p:spPr>
          <a:xfrm>
            <a:off x="-101546" y="22733"/>
            <a:ext cx="12293546" cy="6812533"/>
          </a:xfrm>
          <a:prstGeom prst="rect">
            <a:avLst/>
          </a:prstGeom>
        </p:spPr>
      </p:pic>
      <p:sp>
        <p:nvSpPr>
          <p:cNvPr id="11" name="Rectangle 10">
            <a:extLst>
              <a:ext uri="{FF2B5EF4-FFF2-40B4-BE49-F238E27FC236}">
                <a16:creationId xmlns:a16="http://schemas.microsoft.com/office/drawing/2014/main" id="{7F7B686C-D991-827B-D5F4-1241F89359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90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a:solidFill>
                  <a:srgbClr val="000000"/>
                </a:solidFill>
              </a:rPr>
              <a:t>HT only: Ionic Equations and Displacement Reactions</a:t>
            </a:r>
          </a:p>
        </p:txBody>
      </p:sp>
      <p:sp>
        <p:nvSpPr>
          <p:cNvPr id="13" name="Rectangle 12">
            <a:extLst>
              <a:ext uri="{FF2B5EF4-FFF2-40B4-BE49-F238E27FC236}">
                <a16:creationId xmlns:a16="http://schemas.microsoft.com/office/drawing/2014/main" id="{2DA7708B-62FC-5940-5E28-67E1E5875F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50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a:solidFill>
                  <a:srgbClr val="000000"/>
                </a:solidFill>
              </a:rPr>
              <a:t>HT only: Ionic Equations and Displacement Reactions</a:t>
            </a:r>
          </a:p>
        </p:txBody>
      </p:sp>
      <p:sp>
        <p:nvSpPr>
          <p:cNvPr id="5" name="Title 1">
            <a:extLst>
              <a:ext uri="{FF2B5EF4-FFF2-40B4-BE49-F238E27FC236}">
                <a16:creationId xmlns:a16="http://schemas.microsoft.com/office/drawing/2014/main" id="{44C8DBE8-B378-0886-C124-68FD626A5D59}"/>
              </a:ext>
            </a:extLst>
          </p:cNvPr>
          <p:cNvSpPr txBox="1">
            <a:spLocks/>
          </p:cNvSpPr>
          <p:nvPr/>
        </p:nvSpPr>
        <p:spPr>
          <a:xfrm>
            <a:off x="4179684" y="781239"/>
            <a:ext cx="7636361" cy="81171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sz="3200" dirty="0">
                <a:solidFill>
                  <a:srgbClr val="000000"/>
                </a:solidFill>
              </a:rPr>
              <a:t>Ionic Equations and Displacement Reactions</a:t>
            </a:r>
          </a:p>
        </p:txBody>
      </p:sp>
      <p:sp>
        <p:nvSpPr>
          <p:cNvPr id="7" name="TextBox 6">
            <a:extLst>
              <a:ext uri="{FF2B5EF4-FFF2-40B4-BE49-F238E27FC236}">
                <a16:creationId xmlns:a16="http://schemas.microsoft.com/office/drawing/2014/main" id="{4AC29D33-E434-177D-C1B4-D0F6B1985C4B}"/>
              </a:ext>
            </a:extLst>
          </p:cNvPr>
          <p:cNvSpPr txBox="1"/>
          <p:nvPr/>
        </p:nvSpPr>
        <p:spPr>
          <a:xfrm>
            <a:off x="4038598" y="6443200"/>
            <a:ext cx="6788728" cy="369332"/>
          </a:xfrm>
          <a:prstGeom prst="rect">
            <a:avLst/>
          </a:prstGeom>
          <a:noFill/>
        </p:spPr>
        <p:txBody>
          <a:bodyPr wrap="square" rtlCol="0">
            <a:spAutoFit/>
          </a:bodyPr>
          <a:lstStyle/>
          <a:p>
            <a:r>
              <a:rPr lang="en-US">
                <a:solidFill>
                  <a:schemeClr val="bg1"/>
                </a:solidFill>
              </a:rPr>
              <a:t>Aim High | Work Together | Be Kind | Lead the Way</a:t>
            </a:r>
          </a:p>
        </p:txBody>
      </p:sp>
      <p:sp>
        <p:nvSpPr>
          <p:cNvPr id="3" name="Content Placeholder 2">
            <a:extLst>
              <a:ext uri="{FF2B5EF4-FFF2-40B4-BE49-F238E27FC236}">
                <a16:creationId xmlns:a16="http://schemas.microsoft.com/office/drawing/2014/main" id="{67FC788C-C25B-D348-0C7D-E700296C0F61}"/>
              </a:ext>
            </a:extLst>
          </p:cNvPr>
          <p:cNvSpPr>
            <a:spLocks noGrp="1"/>
          </p:cNvSpPr>
          <p:nvPr>
            <p:ph idx="1"/>
          </p:nvPr>
        </p:nvSpPr>
        <p:spPr>
          <a:xfrm>
            <a:off x="1474140" y="2689990"/>
            <a:ext cx="7915519" cy="3386771"/>
          </a:xfrm>
          <a:solidFill>
            <a:schemeClr val="bg1"/>
          </a:solidFill>
        </p:spPr>
        <p:txBody>
          <a:bodyPr vert="horz" lIns="91440" tIns="45720" rIns="91440" bIns="45720" rtlCol="0" anchor="t">
            <a:normAutofit lnSpcReduction="10000"/>
          </a:bodyPr>
          <a:lstStyle/>
          <a:p>
            <a:pPr marL="0" indent="0">
              <a:buNone/>
            </a:pPr>
            <a:r>
              <a:rPr lang="en-GB" sz="2600" dirty="0"/>
              <a:t>Task: </a:t>
            </a:r>
            <a:endParaRPr lang="en-US" sz="2600" dirty="0"/>
          </a:p>
          <a:p>
            <a:pPr marL="0" indent="0">
              <a:buNone/>
            </a:pPr>
            <a:r>
              <a:rPr lang="en-GB" sz="2600" dirty="0"/>
              <a:t>Complete the Read Now by:</a:t>
            </a:r>
            <a:endParaRPr lang="en-US" sz="2600" dirty="0"/>
          </a:p>
          <a:p>
            <a:pPr marL="514350" indent="-514350">
              <a:buAutoNum type="arabicPeriod"/>
            </a:pPr>
            <a:r>
              <a:rPr lang="en-GB" sz="2600" dirty="0"/>
              <a:t>Stick in the sheet.</a:t>
            </a:r>
            <a:endParaRPr lang="en-US" sz="2600" dirty="0"/>
          </a:p>
          <a:p>
            <a:pPr marL="514350" indent="-514350">
              <a:buAutoNum type="arabicPeriod"/>
            </a:pPr>
            <a:r>
              <a:rPr lang="en-GB" sz="2600" dirty="0"/>
              <a:t>Using a highlighter as you read to identify key terms. </a:t>
            </a:r>
            <a:endParaRPr lang="en-US" sz="2600" dirty="0"/>
          </a:p>
          <a:p>
            <a:pPr marL="514350" indent="-514350">
              <a:buAutoNum type="arabicPeriod"/>
            </a:pPr>
            <a:r>
              <a:rPr lang="en-GB" sz="2600" dirty="0"/>
              <a:t>Answer the first four recall questions under the sheet in your book. </a:t>
            </a:r>
            <a:endParaRPr lang="en-US" sz="2600" dirty="0"/>
          </a:p>
          <a:p>
            <a:pPr marL="514350" indent="-514350">
              <a:buAutoNum type="arabicPeriod"/>
            </a:pPr>
            <a:r>
              <a:rPr lang="en-GB" sz="2600" dirty="0"/>
              <a:t>Answer the stretch question</a:t>
            </a:r>
            <a:endParaRPr lang="en-US" sz="2600" dirty="0"/>
          </a:p>
          <a:p>
            <a:pPr marL="0" indent="0">
              <a:buNone/>
            </a:pPr>
            <a:endParaRPr lang="en-GB" dirty="0"/>
          </a:p>
        </p:txBody>
      </p:sp>
      <p:sp>
        <p:nvSpPr>
          <p:cNvPr id="4" name="TextBox 3">
            <a:extLst>
              <a:ext uri="{FF2B5EF4-FFF2-40B4-BE49-F238E27FC236}">
                <a16:creationId xmlns:a16="http://schemas.microsoft.com/office/drawing/2014/main" id="{E6CF4E38-42E7-8264-13CF-049CA8EF7CBF}"/>
              </a:ext>
            </a:extLst>
          </p:cNvPr>
          <p:cNvSpPr txBox="1"/>
          <p:nvPr/>
        </p:nvSpPr>
        <p:spPr>
          <a:xfrm>
            <a:off x="4842948" y="117634"/>
            <a:ext cx="6973097" cy="646331"/>
          </a:xfrm>
          <a:prstGeom prst="rect">
            <a:avLst/>
          </a:prstGeom>
          <a:noFill/>
        </p:spPr>
        <p:txBody>
          <a:bodyPr wrap="square" rtlCol="0">
            <a:spAutoFit/>
          </a:bodyPr>
          <a:lstStyle/>
          <a:p>
            <a:r>
              <a:rPr sz="1400">
                <a:solidFill>
                  <a:srgbClr val="000000"/>
                </a:solidFill>
                <a:latin typeface="Calibri"/>
              </a:rPr>
              <a:t>Sunday 30 November 2025</a:t>
            </a:r>
          </a:p>
        </p:txBody>
      </p:sp>
      <p:sp>
        <p:nvSpPr>
          <p:cNvPr id="17" name="TextBox 16">
            <a:extLst>
              <a:ext uri="{FF2B5EF4-FFF2-40B4-BE49-F238E27FC236}">
                <a16:creationId xmlns:a16="http://schemas.microsoft.com/office/drawing/2014/main" id="{F2F03F23-06F0-3E7F-3CB1-690F3A07D44E}"/>
              </a:ext>
            </a:extLst>
          </p:cNvPr>
          <p:cNvSpPr txBox="1"/>
          <p:nvPr/>
        </p:nvSpPr>
        <p:spPr>
          <a:xfrm>
            <a:off x="-101546" y="45468"/>
            <a:ext cx="923330" cy="6767064"/>
          </a:xfrm>
          <a:prstGeom prst="rect">
            <a:avLst/>
          </a:prstGeom>
          <a:solidFill>
            <a:schemeClr val="accent4">
              <a:lumMod val="50000"/>
            </a:schemeClr>
          </a:solidFill>
        </p:spPr>
        <p:txBody>
          <a:bodyPr vert="vert270" wrap="square" rtlCol="0">
            <a:spAutoFit/>
          </a:bodyPr>
          <a:lstStyle/>
          <a:p>
            <a:pPr algn="ctr"/>
            <a:r>
              <a:rPr lang="en-GB" sz="4800">
                <a:solidFill>
                  <a:schemeClr val="bg1"/>
                </a:solidFill>
              </a:rPr>
              <a:t>Read Now</a:t>
            </a:r>
          </a:p>
        </p:txBody>
      </p:sp>
      <p:pic>
        <p:nvPicPr>
          <p:cNvPr id="1026" name="Picture 2" descr="Now - Free communications icons">
            <a:extLst>
              <a:ext uri="{FF2B5EF4-FFF2-40B4-BE49-F238E27FC236}">
                <a16:creationId xmlns:a16="http://schemas.microsoft.com/office/drawing/2014/main" id="{3B73EAF0-01E3-4C22-D655-30194691D8C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81534" y="272225"/>
            <a:ext cx="1219200" cy="12192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Silent Solo">
            <a:extLst>
              <a:ext uri="{FF2B5EF4-FFF2-40B4-BE49-F238E27FC236}">
                <a16:creationId xmlns:a16="http://schemas.microsoft.com/office/drawing/2014/main" id="{84298EA0-4BE2-E0D8-CE30-E1EE24433D4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00734" y="45468"/>
            <a:ext cx="1609298" cy="1609298"/>
          </a:xfrm>
          <a:prstGeom prst="rect">
            <a:avLst/>
          </a:prstGeom>
          <a:noFill/>
          <a:extLst>
            <a:ext uri="{909E8E84-426E-40DD-AFC4-6F175D3DCCD1}">
              <a14:hiddenFill xmlns:a14="http://schemas.microsoft.com/office/drawing/2010/main">
                <a:solidFill>
                  <a:srgbClr val="FFFFFF"/>
                </a:solidFill>
              </a14:hiddenFill>
            </a:ext>
          </a:extLst>
        </p:spPr>
      </p:pic>
      <p:grpSp>
        <p:nvGrpSpPr>
          <p:cNvPr id="2" name="Group 1">
            <a:extLst>
              <a:ext uri="{FF2B5EF4-FFF2-40B4-BE49-F238E27FC236}">
                <a16:creationId xmlns:a16="http://schemas.microsoft.com/office/drawing/2014/main" id="{512800DC-0DCC-F11F-A61A-0FDCD54EC4B6}"/>
              </a:ext>
            </a:extLst>
          </p:cNvPr>
          <p:cNvGrpSpPr/>
          <p:nvPr/>
        </p:nvGrpSpPr>
        <p:grpSpPr>
          <a:xfrm>
            <a:off x="10704752" y="2293216"/>
            <a:ext cx="923329" cy="2983159"/>
            <a:chOff x="8437803" y="2595561"/>
            <a:chExt cx="630572" cy="2444998"/>
          </a:xfrm>
        </p:grpSpPr>
        <p:pic>
          <p:nvPicPr>
            <p:cNvPr id="1030" name="Picture 6" descr="A picture containing text&#10;&#10;Description automatically generated">
              <a:extLst>
                <a:ext uri="{FF2B5EF4-FFF2-40B4-BE49-F238E27FC236}">
                  <a16:creationId xmlns:a16="http://schemas.microsoft.com/office/drawing/2014/main" id="{7EA14390-2EC5-D5A1-4F7A-D589A17F986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454013" y="2595561"/>
              <a:ext cx="609600" cy="600076"/>
            </a:xfrm>
            <a:prstGeom prst="rect">
              <a:avLst/>
            </a:prstGeom>
            <a:noFill/>
            <a:extLst>
              <a:ext uri="{909E8E84-426E-40DD-AFC4-6F175D3DCCD1}">
                <a14:hiddenFill xmlns:a14="http://schemas.microsoft.com/office/drawing/2010/main">
                  <a:solidFill>
                    <a:srgbClr val="FFFFFF"/>
                  </a:solidFill>
                </a14:hiddenFill>
              </a:ext>
            </a:extLst>
          </p:spPr>
        </p:pic>
        <p:pic>
          <p:nvPicPr>
            <p:cNvPr id="1031" name="Picture 7" descr="A picture containing text, sign&#10;&#10;Description automatically generated">
              <a:extLst>
                <a:ext uri="{FF2B5EF4-FFF2-40B4-BE49-F238E27FC236}">
                  <a16:creationId xmlns:a16="http://schemas.microsoft.com/office/drawing/2014/main" id="{8F4EBD2F-E331-2CD8-C3E7-3B5D02E99B0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449250" y="3830882"/>
              <a:ext cx="619125" cy="619126"/>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A picture containing text&#10;&#10;Description automatically generated">
              <a:extLst>
                <a:ext uri="{FF2B5EF4-FFF2-40B4-BE49-F238E27FC236}">
                  <a16:creationId xmlns:a16="http://schemas.microsoft.com/office/drawing/2014/main" id="{CC555BEF-C748-C623-B970-E9FF2ED565D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437803" y="4450008"/>
              <a:ext cx="609600" cy="590551"/>
            </a:xfrm>
            <a:prstGeom prst="rect">
              <a:avLst/>
            </a:prstGeom>
            <a:noFill/>
            <a:extLst>
              <a:ext uri="{909E8E84-426E-40DD-AFC4-6F175D3DCCD1}">
                <a14:hiddenFill xmlns:a14="http://schemas.microsoft.com/office/drawing/2010/main">
                  <a:solidFill>
                    <a:srgbClr val="FFFFFF"/>
                  </a:solidFill>
                </a14:hiddenFill>
              </a:ext>
            </a:extLst>
          </p:spPr>
        </p:pic>
        <p:pic>
          <p:nvPicPr>
            <p:cNvPr id="1033" name="Picture 9">
              <a:extLst>
                <a:ext uri="{FF2B5EF4-FFF2-40B4-BE49-F238E27FC236}">
                  <a16:creationId xmlns:a16="http://schemas.microsoft.com/office/drawing/2014/main" id="{049E0B9D-7DD5-B107-D639-EF0E8F30AE1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454013" y="3233634"/>
              <a:ext cx="609600" cy="590551"/>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5118120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B4916E-1EDA-8300-84B2-A78B3F805421}"/>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8CF1DE72-5759-CC6D-4340-BEEFA1C1554F}"/>
              </a:ext>
            </a:extLst>
          </p:cNvPr>
          <p:cNvSpPr txBox="1"/>
          <p:nvPr/>
        </p:nvSpPr>
        <p:spPr>
          <a:xfrm>
            <a:off x="4038598" y="6443200"/>
            <a:ext cx="6788728" cy="369332"/>
          </a:xfrm>
          <a:prstGeom prst="rect">
            <a:avLst/>
          </a:prstGeom>
          <a:noFill/>
        </p:spPr>
        <p:txBody>
          <a:bodyPr wrap="square" rtlCol="0">
            <a:spAutoFit/>
          </a:bodyPr>
          <a:lstStyle/>
          <a:p>
            <a:r>
              <a:rPr lang="en-US">
                <a:solidFill>
                  <a:schemeClr val="bg1"/>
                </a:solidFill>
              </a:rPr>
              <a:t>Aim High | Work Together | Be Kind | Lead the Way</a:t>
            </a:r>
          </a:p>
        </p:txBody>
      </p:sp>
      <p:sp>
        <p:nvSpPr>
          <p:cNvPr id="17" name="TextBox 16">
            <a:extLst>
              <a:ext uri="{FF2B5EF4-FFF2-40B4-BE49-F238E27FC236}">
                <a16:creationId xmlns:a16="http://schemas.microsoft.com/office/drawing/2014/main" id="{3B34AB1A-D284-5A8A-007F-680022552D99}"/>
              </a:ext>
            </a:extLst>
          </p:cNvPr>
          <p:cNvSpPr txBox="1"/>
          <p:nvPr/>
        </p:nvSpPr>
        <p:spPr>
          <a:xfrm>
            <a:off x="-101546" y="45468"/>
            <a:ext cx="923330" cy="6767064"/>
          </a:xfrm>
          <a:prstGeom prst="rect">
            <a:avLst/>
          </a:prstGeom>
          <a:solidFill>
            <a:schemeClr val="accent4">
              <a:lumMod val="50000"/>
            </a:schemeClr>
          </a:solidFill>
        </p:spPr>
        <p:txBody>
          <a:bodyPr vert="vert270" wrap="square" rtlCol="0">
            <a:spAutoFit/>
          </a:bodyPr>
          <a:lstStyle/>
          <a:p>
            <a:pPr algn="ctr"/>
            <a:r>
              <a:rPr lang="en-GB" sz="4800">
                <a:solidFill>
                  <a:schemeClr val="bg1"/>
                </a:solidFill>
              </a:rPr>
              <a:t>Read Now</a:t>
            </a:r>
          </a:p>
        </p:txBody>
      </p:sp>
      <p:pic>
        <p:nvPicPr>
          <p:cNvPr id="2052" name="Picture 4" descr="GCSE Geography Weather Hazards SoW | Teaching Resources">
            <a:extLst>
              <a:ext uri="{FF2B5EF4-FFF2-40B4-BE49-F238E27FC236}">
                <a16:creationId xmlns:a16="http://schemas.microsoft.com/office/drawing/2014/main" id="{8703810E-97FB-DA8D-4FD8-185A6040B2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2507" y="226392"/>
            <a:ext cx="10616588" cy="5966522"/>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13">
            <a:extLst>
              <a:ext uri="{FF2B5EF4-FFF2-40B4-BE49-F238E27FC236}">
                <a16:creationId xmlns:a16="http://schemas.microsoft.com/office/drawing/2014/main" id="{FA810A95-22F2-89A8-0EAB-35B9790BCB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bwMode="white">
          <a:xfrm>
            <a:off x="0" y="0"/>
            <a:ext cx="12192000" cy="6858000"/>
          </a:xfrm>
          <a:prstGeom prst="rect">
            <a:avLst/>
          </a:prstGeom>
          <a:no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noProof="0"/>
          </a:p>
        </p:txBody>
      </p:sp>
      <p:sp>
        <p:nvSpPr>
          <p:cNvPr id="15" name="Rectangle 14">
            <a:extLst>
              <a:ext uri="{FF2B5EF4-FFF2-40B4-BE49-F238E27FC236}">
                <a16:creationId xmlns:a16="http://schemas.microsoft.com/office/drawing/2014/main" id="{362FCEB2-7480-F3CC-6AC1-55E7066F69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a:xfrm rot="10800000" flipH="1">
            <a:off x="0" y="6400799"/>
            <a:ext cx="12192000" cy="456773"/>
          </a:xfrm>
          <a:prstGeom prst="rect">
            <a:avLst/>
          </a:prstGeom>
          <a:gradFill>
            <a:gsLst>
              <a:gs pos="0">
                <a:schemeClr val="accent1"/>
              </a:gs>
              <a:gs pos="90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noProof="0"/>
          </a:p>
        </p:txBody>
      </p:sp>
      <p:grpSp>
        <p:nvGrpSpPr>
          <p:cNvPr id="19" name="Group 18">
            <a:extLst>
              <a:ext uri="{FF2B5EF4-FFF2-40B4-BE49-F238E27FC236}">
                <a16:creationId xmlns:a16="http://schemas.microsoft.com/office/drawing/2014/main" id="{FD2D8219-3802-C433-B92D-A5A9B096C2FB}"/>
              </a:ext>
            </a:extLst>
          </p:cNvPr>
          <p:cNvGrpSpPr/>
          <p:nvPr/>
        </p:nvGrpSpPr>
        <p:grpSpPr>
          <a:xfrm>
            <a:off x="9614796" y="6387318"/>
            <a:ext cx="1994299" cy="478636"/>
            <a:chOff x="9614803" y="6387318"/>
            <a:chExt cx="1341657" cy="447712"/>
          </a:xfrm>
        </p:grpSpPr>
        <p:pic>
          <p:nvPicPr>
            <p:cNvPr id="20" name="Picture 19" descr="A picture containing text&#10;&#10;Description automatically generated">
              <a:extLst>
                <a:ext uri="{FF2B5EF4-FFF2-40B4-BE49-F238E27FC236}">
                  <a16:creationId xmlns:a16="http://schemas.microsoft.com/office/drawing/2014/main" id="{D7E3C4A2-96E7-AEA5-4137-AA4C0D915A1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14803" y="6395709"/>
              <a:ext cx="330463" cy="429842"/>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0" descr="A picture containing text, sign&#10;&#10;Description automatically generated">
              <a:extLst>
                <a:ext uri="{FF2B5EF4-FFF2-40B4-BE49-F238E27FC236}">
                  <a16:creationId xmlns:a16="http://schemas.microsoft.com/office/drawing/2014/main" id="{9113DAE8-35B1-DB9B-47B1-4E2598F5D4D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277411" y="6388853"/>
              <a:ext cx="323977" cy="446177"/>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1" descr="A picture containing text&#10;&#10;Description automatically generated">
              <a:extLst>
                <a:ext uri="{FF2B5EF4-FFF2-40B4-BE49-F238E27FC236}">
                  <a16:creationId xmlns:a16="http://schemas.microsoft.com/office/drawing/2014/main" id="{6A6AC1A5-8B36-C765-9A84-4E6ADEE0A2D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610702" y="6391698"/>
              <a:ext cx="345758" cy="436820"/>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2">
              <a:extLst>
                <a:ext uri="{FF2B5EF4-FFF2-40B4-BE49-F238E27FC236}">
                  <a16:creationId xmlns:a16="http://schemas.microsoft.com/office/drawing/2014/main" id="{0E1535CF-3DAA-294D-DFFB-C1F37718FBF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937194" y="6387318"/>
              <a:ext cx="330582" cy="446427"/>
            </a:xfrm>
            <a:prstGeom prst="rect">
              <a:avLst/>
            </a:prstGeom>
            <a:noFill/>
            <a:extLst>
              <a:ext uri="{909E8E84-426E-40DD-AFC4-6F175D3DCCD1}">
                <a14:hiddenFill xmlns:a14="http://schemas.microsoft.com/office/drawing/2010/main">
                  <a:solidFill>
                    <a:srgbClr val="FFFFFF"/>
                  </a:solidFill>
                </a14:hiddenFill>
              </a:ext>
            </a:extLst>
          </p:spPr>
        </p:pic>
      </p:grpSp>
      <p:sp>
        <p:nvSpPr>
          <p:cNvPr id="24" name="TextBox 6">
            <a:extLst>
              <a:ext uri="{FF2B5EF4-FFF2-40B4-BE49-F238E27FC236}">
                <a16:creationId xmlns:a16="http://schemas.microsoft.com/office/drawing/2014/main" id="{9DDEA596-1649-2EB4-EE90-23C33B614E7D}"/>
              </a:ext>
            </a:extLst>
          </p:cNvPr>
          <p:cNvSpPr txBox="1"/>
          <p:nvPr/>
        </p:nvSpPr>
        <p:spPr>
          <a:xfrm>
            <a:off x="4038598" y="6443200"/>
            <a:ext cx="6788728"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bg1"/>
                </a:solidFill>
              </a:rPr>
              <a:t>Aim High | Work Together | Be Kind | Lead the Way</a:t>
            </a:r>
          </a:p>
        </p:txBody>
      </p:sp>
    </p:spTree>
    <p:extLst>
      <p:ext uri="{BB962C8B-B14F-4D97-AF65-F5344CB8AC3E}">
        <p14:creationId xmlns:p14="http://schemas.microsoft.com/office/powerpoint/2010/main" val="14438230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8154673-1242-2F81-582F-73200EABE762}"/>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C11D17A-AB75-E38D-3476-7829032A0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11" name="Rectangle 10">
            <a:extLst>
              <a:ext uri="{FF2B5EF4-FFF2-40B4-BE49-F238E27FC236}">
                <a16:creationId xmlns:a16="http://schemas.microsoft.com/office/drawing/2014/main" id="{28DB0A3F-BBC0-DB43-CA42-369DF276B6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90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13" name="Rectangle 12">
            <a:extLst>
              <a:ext uri="{FF2B5EF4-FFF2-40B4-BE49-F238E27FC236}">
                <a16:creationId xmlns:a16="http://schemas.microsoft.com/office/drawing/2014/main" id="{CF38898F-18B4-966C-1D87-28623E87C1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50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 name="TextBox 6">
            <a:extLst>
              <a:ext uri="{FF2B5EF4-FFF2-40B4-BE49-F238E27FC236}">
                <a16:creationId xmlns:a16="http://schemas.microsoft.com/office/drawing/2014/main" id="{56366FA5-3F2C-8F35-A8A7-5A2A1622A7BE}"/>
              </a:ext>
            </a:extLst>
          </p:cNvPr>
          <p:cNvSpPr txBox="1"/>
          <p:nvPr/>
        </p:nvSpPr>
        <p:spPr>
          <a:xfrm>
            <a:off x="4038598" y="6443200"/>
            <a:ext cx="6788728" cy="369332"/>
          </a:xfrm>
          <a:prstGeom prst="rect">
            <a:avLst/>
          </a:prstGeom>
          <a:noFill/>
        </p:spPr>
        <p:txBody>
          <a:bodyPr wrap="square" rtlCol="0">
            <a:spAutoFit/>
          </a:bodyPr>
          <a:lstStyle/>
          <a:p>
            <a:r>
              <a:rPr lang="en-US">
                <a:solidFill>
                  <a:schemeClr val="bg1"/>
                </a:solidFill>
              </a:rPr>
              <a:t>Aim High | Work Together | Be Kind | Lead the Way</a:t>
            </a:r>
          </a:p>
        </p:txBody>
      </p:sp>
      <p:sp>
        <p:nvSpPr>
          <p:cNvPr id="17" name="TextBox 16">
            <a:extLst>
              <a:ext uri="{FF2B5EF4-FFF2-40B4-BE49-F238E27FC236}">
                <a16:creationId xmlns:a16="http://schemas.microsoft.com/office/drawing/2014/main" id="{BD0D3CA3-6987-4F78-0549-D5CEE43E00DC}"/>
              </a:ext>
            </a:extLst>
          </p:cNvPr>
          <p:cNvSpPr txBox="1"/>
          <p:nvPr/>
        </p:nvSpPr>
        <p:spPr>
          <a:xfrm>
            <a:off x="-101546" y="45468"/>
            <a:ext cx="923330" cy="6767064"/>
          </a:xfrm>
          <a:prstGeom prst="rect">
            <a:avLst/>
          </a:prstGeom>
          <a:solidFill>
            <a:schemeClr val="accent4">
              <a:lumMod val="50000"/>
            </a:schemeClr>
          </a:solidFill>
        </p:spPr>
        <p:txBody>
          <a:bodyPr vert="vert270" wrap="square" rtlCol="0">
            <a:spAutoFit/>
          </a:bodyPr>
          <a:lstStyle/>
          <a:p>
            <a:pPr algn="ctr"/>
            <a:r>
              <a:rPr lang="en-GB" sz="4800">
                <a:solidFill>
                  <a:schemeClr val="bg1"/>
                </a:solidFill>
              </a:rPr>
              <a:t>Read Now</a:t>
            </a:r>
          </a:p>
        </p:txBody>
      </p:sp>
      <p:sp>
        <p:nvSpPr>
          <p:cNvPr id="14" name="Rectangle 13">
            <a:extLst>
              <a:ext uri="{FF2B5EF4-FFF2-40B4-BE49-F238E27FC236}">
                <a16:creationId xmlns:a16="http://schemas.microsoft.com/office/drawing/2014/main" id="{DC11D17A-AB75-E38D-3476-7829032A0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bwMode="white">
          <a:xfrm>
            <a:off x="0" y="0"/>
            <a:ext cx="12192000" cy="6858000"/>
          </a:xfrm>
          <a:prstGeom prst="rect">
            <a:avLst/>
          </a:prstGeom>
          <a:no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noProof="0"/>
          </a:p>
        </p:txBody>
      </p:sp>
      <p:sp>
        <p:nvSpPr>
          <p:cNvPr id="15" name="Rectangle 14">
            <a:extLst>
              <a:ext uri="{FF2B5EF4-FFF2-40B4-BE49-F238E27FC236}">
                <a16:creationId xmlns:a16="http://schemas.microsoft.com/office/drawing/2014/main" id="{28DB0A3F-BBC0-DB43-CA42-369DF276B6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a:xfrm rot="10800000" flipH="1">
            <a:off x="0" y="6400799"/>
            <a:ext cx="12192000" cy="456773"/>
          </a:xfrm>
          <a:prstGeom prst="rect">
            <a:avLst/>
          </a:prstGeom>
          <a:gradFill>
            <a:gsLst>
              <a:gs pos="0">
                <a:schemeClr val="accent1"/>
              </a:gs>
              <a:gs pos="90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noProof="0"/>
          </a:p>
        </p:txBody>
      </p:sp>
      <p:grpSp>
        <p:nvGrpSpPr>
          <p:cNvPr id="19" name="Group 18">
            <a:extLst>
              <a:ext uri="{FF2B5EF4-FFF2-40B4-BE49-F238E27FC236}">
                <a16:creationId xmlns:a16="http://schemas.microsoft.com/office/drawing/2014/main" id="{6D9BC8D5-96E3-C1F8-BC12-4344E0B6021E}"/>
              </a:ext>
            </a:extLst>
          </p:cNvPr>
          <p:cNvGrpSpPr/>
          <p:nvPr/>
        </p:nvGrpSpPr>
        <p:grpSpPr>
          <a:xfrm>
            <a:off x="9614796" y="6387318"/>
            <a:ext cx="1994299" cy="478636"/>
            <a:chOff x="9614803" y="6387318"/>
            <a:chExt cx="1341657" cy="447712"/>
          </a:xfrm>
        </p:grpSpPr>
        <p:pic>
          <p:nvPicPr>
            <p:cNvPr id="20" name="Picture 19" descr="A picture containing text&#10;&#10;Description automatically generated">
              <a:extLst>
                <a:ext uri="{FF2B5EF4-FFF2-40B4-BE49-F238E27FC236}">
                  <a16:creationId xmlns:a16="http://schemas.microsoft.com/office/drawing/2014/main" id="{F7DE70EE-2903-CE6F-09B3-8C0F534129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14803" y="6395709"/>
              <a:ext cx="330463" cy="429842"/>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0" descr="A picture containing text, sign&#10;&#10;Description automatically generated">
              <a:extLst>
                <a:ext uri="{FF2B5EF4-FFF2-40B4-BE49-F238E27FC236}">
                  <a16:creationId xmlns:a16="http://schemas.microsoft.com/office/drawing/2014/main" id="{EA795797-1C41-0AC9-4559-7D0BCE28723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77411" y="6388853"/>
              <a:ext cx="323977" cy="446177"/>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1" descr="A picture containing text&#10;&#10;Description automatically generated">
              <a:extLst>
                <a:ext uri="{FF2B5EF4-FFF2-40B4-BE49-F238E27FC236}">
                  <a16:creationId xmlns:a16="http://schemas.microsoft.com/office/drawing/2014/main" id="{5B1A1124-8F39-A14D-3FF5-949AA650C4A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610702" y="6391698"/>
              <a:ext cx="345758" cy="436820"/>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2">
              <a:extLst>
                <a:ext uri="{FF2B5EF4-FFF2-40B4-BE49-F238E27FC236}">
                  <a16:creationId xmlns:a16="http://schemas.microsoft.com/office/drawing/2014/main" id="{3F04A50F-A8A6-B16D-8A6E-6664B71CF22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937194" y="6387318"/>
              <a:ext cx="330582" cy="446427"/>
            </a:xfrm>
            <a:prstGeom prst="rect">
              <a:avLst/>
            </a:prstGeom>
            <a:noFill/>
            <a:extLst>
              <a:ext uri="{909E8E84-426E-40DD-AFC4-6F175D3DCCD1}">
                <a14:hiddenFill xmlns:a14="http://schemas.microsoft.com/office/drawing/2010/main">
                  <a:solidFill>
                    <a:srgbClr val="FFFFFF"/>
                  </a:solidFill>
                </a14:hiddenFill>
              </a:ext>
            </a:extLst>
          </p:spPr>
        </p:pic>
      </p:grpSp>
      <p:sp>
        <p:nvSpPr>
          <p:cNvPr id="24" name="TextBox 6">
            <a:extLst>
              <a:ext uri="{FF2B5EF4-FFF2-40B4-BE49-F238E27FC236}">
                <a16:creationId xmlns:a16="http://schemas.microsoft.com/office/drawing/2014/main" id="{56366FA5-3F2C-8F35-A8A7-5A2A1622A7BE}"/>
              </a:ext>
            </a:extLst>
          </p:cNvPr>
          <p:cNvSpPr txBox="1"/>
          <p:nvPr/>
        </p:nvSpPr>
        <p:spPr>
          <a:xfrm>
            <a:off x="4038598" y="6443200"/>
            <a:ext cx="6788728"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bg1"/>
                </a:solidFill>
              </a:rPr>
              <a:t>Aim High | Work Together | Be Kind | Lead the Way</a:t>
            </a:r>
          </a:p>
        </p:txBody>
      </p:sp>
      <p:sp>
        <p:nvSpPr>
          <p:cNvPr id="25" name="TextBox 24"/>
          <p:cNvSpPr txBox="1"/>
          <p:nvPr/>
        </p:nvSpPr>
        <p:spPr>
          <a:xfrm>
            <a:off x="978407" y="310896"/>
            <a:ext cx="10630687" cy="5943600"/>
          </a:xfrm>
          <a:prstGeom prst="rect">
            <a:avLst/>
          </a:prstGeom>
          <a:noFill/>
        </p:spPr>
        <p:txBody>
          <a:bodyPr wrap="square" tIns="91440" bIns="91440">
            <a:noAutofit/>
          </a:bodyPr>
          <a:lstStyle/>
          <a:p>
            <a:endParaRPr dirty="0"/>
          </a:p>
          <a:p>
            <a:r>
              <a:rPr sz="2400" b="1" dirty="0">
                <a:solidFill>
                  <a:srgbClr val="006600"/>
                </a:solidFill>
                <a:latin typeface="Century Gothic"/>
              </a:rPr>
              <a:t>MARK SCHEME:</a:t>
            </a:r>
          </a:p>
          <a:p>
            <a:r>
              <a:rPr sz="2400" b="1" dirty="0">
                <a:solidFill>
                  <a:srgbClr val="006600"/>
                </a:solidFill>
                <a:latin typeface="Century Gothic"/>
              </a:rPr>
              <a:t>1. An ion is a charged atom or molecule.</a:t>
            </a:r>
          </a:p>
          <a:p>
            <a:r>
              <a:rPr sz="2400" b="1" dirty="0">
                <a:solidFill>
                  <a:srgbClr val="006600"/>
                </a:solidFill>
                <a:latin typeface="Century Gothic"/>
              </a:rPr>
              <a:t>2. A displacement reaction occurs when one ion replaces another in a compound.</a:t>
            </a:r>
          </a:p>
          <a:p>
            <a:r>
              <a:rPr sz="2400" b="1" dirty="0">
                <a:solidFill>
                  <a:srgbClr val="006600"/>
                </a:solidFill>
                <a:latin typeface="Century Gothic"/>
              </a:rPr>
              <a:t>3. One component of an ionic equation is an ion.</a:t>
            </a:r>
          </a:p>
          <a:p>
            <a:r>
              <a:rPr sz="2400" b="1" dirty="0">
                <a:solidFill>
                  <a:srgbClr val="006600"/>
                </a:solidFill>
                <a:latin typeface="Century Gothic"/>
              </a:rPr>
              <a:t>4. It means to separate the soluble salts into their ions.</a:t>
            </a:r>
          </a:p>
          <a:p>
            <a:r>
              <a:rPr sz="2400" b="1" dirty="0">
                <a:solidFill>
                  <a:srgbClr val="006600"/>
                </a:solidFill>
                <a:latin typeface="Century Gothic"/>
              </a:rPr>
              <a:t>5. The ionic equation is Na⁺ + Cl⁻ + Ag⁺ + NO₃⁻ → AgCl + Na⁺ + NO₃⁻.</a:t>
            </a:r>
            <a:endParaRPr lang="en-GB" sz="2400" b="1" dirty="0">
              <a:solidFill>
                <a:srgbClr val="006600"/>
              </a:solidFill>
              <a:latin typeface="Century Gothic"/>
            </a:endParaRPr>
          </a:p>
          <a:p>
            <a:endParaRPr lang="en-US" sz="2400" b="1" dirty="0">
              <a:solidFill>
                <a:srgbClr val="006600"/>
              </a:solidFill>
              <a:latin typeface="Century Gothic"/>
            </a:endParaRPr>
          </a:p>
          <a:p>
            <a:endParaRPr sz="2400" b="1" dirty="0">
              <a:solidFill>
                <a:srgbClr val="006600"/>
              </a:solidFill>
              <a:latin typeface="Century Gothic"/>
            </a:endParaRPr>
          </a:p>
        </p:txBody>
      </p:sp>
    </p:spTree>
    <p:extLst>
      <p:ext uri="{BB962C8B-B14F-4D97-AF65-F5344CB8AC3E}">
        <p14:creationId xmlns:p14="http://schemas.microsoft.com/office/powerpoint/2010/main" val="42803916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B3D40CF-C87A-A96F-9F01-E09BEC4DB228}"/>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C5460EA-7F96-2126-0575-4EF93E9C54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11" name="Rectangle 10">
            <a:extLst>
              <a:ext uri="{FF2B5EF4-FFF2-40B4-BE49-F238E27FC236}">
                <a16:creationId xmlns:a16="http://schemas.microsoft.com/office/drawing/2014/main" id="{8FB04EB0-7234-59AE-E16E-9244EBC9D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90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13" name="Rectangle 12">
            <a:extLst>
              <a:ext uri="{FF2B5EF4-FFF2-40B4-BE49-F238E27FC236}">
                <a16:creationId xmlns:a16="http://schemas.microsoft.com/office/drawing/2014/main" id="{159AC99D-A4EE-C7E4-6076-3EF57709AD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50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 name="TextBox 6">
            <a:extLst>
              <a:ext uri="{FF2B5EF4-FFF2-40B4-BE49-F238E27FC236}">
                <a16:creationId xmlns:a16="http://schemas.microsoft.com/office/drawing/2014/main" id="{1279728D-E411-C9AD-7B05-7455564B926E}"/>
              </a:ext>
            </a:extLst>
          </p:cNvPr>
          <p:cNvSpPr txBox="1"/>
          <p:nvPr/>
        </p:nvSpPr>
        <p:spPr>
          <a:xfrm>
            <a:off x="4038598" y="6443200"/>
            <a:ext cx="6788728" cy="369332"/>
          </a:xfrm>
          <a:prstGeom prst="rect">
            <a:avLst/>
          </a:prstGeom>
          <a:noFill/>
        </p:spPr>
        <p:txBody>
          <a:bodyPr wrap="square" rtlCol="0">
            <a:spAutoFit/>
          </a:bodyPr>
          <a:lstStyle/>
          <a:p>
            <a:r>
              <a:rPr lang="en-US">
                <a:solidFill>
                  <a:schemeClr val="bg1"/>
                </a:solidFill>
              </a:rPr>
              <a:t>Aim High | Work Together | Be Kind | Lead the Way</a:t>
            </a:r>
          </a:p>
        </p:txBody>
      </p:sp>
      <p:sp>
        <p:nvSpPr>
          <p:cNvPr id="17" name="TextBox 16">
            <a:extLst>
              <a:ext uri="{FF2B5EF4-FFF2-40B4-BE49-F238E27FC236}">
                <a16:creationId xmlns:a16="http://schemas.microsoft.com/office/drawing/2014/main" id="{0225AA00-C23F-2B08-3182-06C3030599B1}"/>
              </a:ext>
            </a:extLst>
          </p:cNvPr>
          <p:cNvSpPr txBox="1"/>
          <p:nvPr/>
        </p:nvSpPr>
        <p:spPr>
          <a:xfrm>
            <a:off x="-101546" y="45468"/>
            <a:ext cx="923330" cy="6767064"/>
          </a:xfrm>
          <a:prstGeom prst="rect">
            <a:avLst/>
          </a:prstGeom>
          <a:solidFill>
            <a:schemeClr val="accent4">
              <a:lumMod val="50000"/>
            </a:schemeClr>
          </a:solidFill>
        </p:spPr>
        <p:txBody>
          <a:bodyPr vert="vert270" wrap="square" rtlCol="0">
            <a:spAutoFit/>
          </a:bodyPr>
          <a:lstStyle/>
          <a:p>
            <a:pPr algn="ctr"/>
            <a:r>
              <a:rPr lang="en-GB" sz="4800">
                <a:solidFill>
                  <a:schemeClr val="bg1"/>
                </a:solidFill>
              </a:rPr>
              <a:t>Daily Review</a:t>
            </a:r>
          </a:p>
        </p:txBody>
      </p:sp>
      <p:sp>
        <p:nvSpPr>
          <p:cNvPr id="8" name="Content Placeholder 7">
            <a:extLst>
              <a:ext uri="{FF2B5EF4-FFF2-40B4-BE49-F238E27FC236}">
                <a16:creationId xmlns:a16="http://schemas.microsoft.com/office/drawing/2014/main" id="{9BFC6B52-1A88-500B-8260-6EA27557B1DB}"/>
              </a:ext>
            </a:extLst>
          </p:cNvPr>
          <p:cNvSpPr>
            <a:spLocks noGrp="1"/>
          </p:cNvSpPr>
          <p:nvPr>
            <p:ph idx="1"/>
          </p:nvPr>
        </p:nvSpPr>
        <p:spPr>
          <a:xfrm>
            <a:off x="1371600" y="1515291"/>
            <a:ext cx="9982200" cy="4661672"/>
          </a:xfrm>
        </p:spPr>
        <p:txBody>
          <a:bodyPr/>
          <a:lstStyle/>
          <a:p>
            <a:pPr marL="0" indent="0">
              <a:buNone/>
            </a:pPr>
            <a:r>
              <a:rPr lang="en-GB"/>
              <a:t>Follow your teachers instructions:</a:t>
            </a:r>
          </a:p>
          <a:p>
            <a:pPr marL="0" indent="0">
              <a:buNone/>
            </a:pPr>
            <a:r>
              <a:rPr lang="en-GB"/>
              <a:t>“When I say go show me a MWB and a MWB Pen”</a:t>
            </a:r>
          </a:p>
          <a:p>
            <a:pPr marL="0" indent="0">
              <a:buNone/>
            </a:pPr>
            <a:r>
              <a:rPr lang="en-GB"/>
              <a:t>You will have 10 seconds for each question. </a:t>
            </a:r>
          </a:p>
          <a:p>
            <a:pPr marL="0" indent="0">
              <a:buNone/>
            </a:pPr>
            <a:r>
              <a:rPr lang="en-GB"/>
              <a:t>Hold your MWB in the </a:t>
            </a:r>
            <a:r>
              <a:rPr lang="en-GB" b="1"/>
              <a:t>Ready</a:t>
            </a:r>
            <a:r>
              <a:rPr lang="en-GB"/>
              <a:t> position</a:t>
            </a:r>
          </a:p>
          <a:p>
            <a:pPr marL="0" indent="0">
              <a:buNone/>
            </a:pPr>
            <a:r>
              <a:rPr lang="en-GB"/>
              <a:t>“Show me”</a:t>
            </a:r>
          </a:p>
          <a:p>
            <a:pPr marL="0" indent="0">
              <a:buNone/>
            </a:pPr>
            <a:r>
              <a:rPr lang="en-GB"/>
              <a:t>You need to score 70% to pass</a:t>
            </a:r>
          </a:p>
          <a:p>
            <a:pPr marL="0" indent="0">
              <a:buNone/>
            </a:pPr>
            <a:r>
              <a:rPr lang="en-GB"/>
              <a:t>Subtitle </a:t>
            </a:r>
            <a:r>
              <a:rPr lang="en-GB" b="1"/>
              <a:t>‘test score’ ?/10</a:t>
            </a:r>
          </a:p>
        </p:txBody>
      </p:sp>
      <p:grpSp>
        <p:nvGrpSpPr>
          <p:cNvPr id="34" name="Group 33">
            <a:extLst>
              <a:ext uri="{FF2B5EF4-FFF2-40B4-BE49-F238E27FC236}">
                <a16:creationId xmlns:a16="http://schemas.microsoft.com/office/drawing/2014/main" id="{0A587C07-6C84-0222-BFE4-D07079D83BD4}"/>
              </a:ext>
            </a:extLst>
          </p:cNvPr>
          <p:cNvGrpSpPr/>
          <p:nvPr/>
        </p:nvGrpSpPr>
        <p:grpSpPr>
          <a:xfrm>
            <a:off x="9614796" y="6387318"/>
            <a:ext cx="1994299" cy="478636"/>
            <a:chOff x="9614803" y="6387318"/>
            <a:chExt cx="1341657" cy="447712"/>
          </a:xfrm>
        </p:grpSpPr>
        <p:pic>
          <p:nvPicPr>
            <p:cNvPr id="30" name="Picture 29" descr="A picture containing text&#10;&#10;Description automatically generated">
              <a:extLst>
                <a:ext uri="{FF2B5EF4-FFF2-40B4-BE49-F238E27FC236}">
                  <a16:creationId xmlns:a16="http://schemas.microsoft.com/office/drawing/2014/main" id="{B2D66E4F-A3D6-D7BB-085C-94613A75B9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14803" y="6395709"/>
              <a:ext cx="330463" cy="429842"/>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30" descr="A picture containing text, sign&#10;&#10;Description automatically generated">
              <a:extLst>
                <a:ext uri="{FF2B5EF4-FFF2-40B4-BE49-F238E27FC236}">
                  <a16:creationId xmlns:a16="http://schemas.microsoft.com/office/drawing/2014/main" id="{D6625AAA-37D5-E818-899C-B43924C4FEF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77411" y="6388853"/>
              <a:ext cx="323977" cy="446177"/>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31" descr="A picture containing text&#10;&#10;Description automatically generated">
              <a:extLst>
                <a:ext uri="{FF2B5EF4-FFF2-40B4-BE49-F238E27FC236}">
                  <a16:creationId xmlns:a16="http://schemas.microsoft.com/office/drawing/2014/main" id="{FD682F4B-999A-5215-2024-142C8274A18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610702" y="6391698"/>
              <a:ext cx="345758" cy="436820"/>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32">
              <a:extLst>
                <a:ext uri="{FF2B5EF4-FFF2-40B4-BE49-F238E27FC236}">
                  <a16:creationId xmlns:a16="http://schemas.microsoft.com/office/drawing/2014/main" id="{8F0D5CB0-6BDF-CFCB-A5A7-9AF0A9F09E7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937194" y="6387318"/>
              <a:ext cx="330582" cy="446427"/>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716371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E603F12-ADAF-3A7A-184B-FBBEC30C1581}"/>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DBECBC3-A14A-4E70-5894-3B197931AB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11" name="Rectangle 10">
            <a:extLst>
              <a:ext uri="{FF2B5EF4-FFF2-40B4-BE49-F238E27FC236}">
                <a16:creationId xmlns:a16="http://schemas.microsoft.com/office/drawing/2014/main" id="{B77C23C3-645F-3B09-C1EC-DF97396497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90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13" name="Rectangle 12">
            <a:extLst>
              <a:ext uri="{FF2B5EF4-FFF2-40B4-BE49-F238E27FC236}">
                <a16:creationId xmlns:a16="http://schemas.microsoft.com/office/drawing/2014/main" id="{8F5D1ACB-821C-2E26-DDC6-F5CAD7505B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50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 name="TextBox 6">
            <a:extLst>
              <a:ext uri="{FF2B5EF4-FFF2-40B4-BE49-F238E27FC236}">
                <a16:creationId xmlns:a16="http://schemas.microsoft.com/office/drawing/2014/main" id="{E442A4A2-15CA-2480-5AB8-FAD42D3D849E}"/>
              </a:ext>
            </a:extLst>
          </p:cNvPr>
          <p:cNvSpPr txBox="1"/>
          <p:nvPr/>
        </p:nvSpPr>
        <p:spPr>
          <a:xfrm>
            <a:off x="4038598" y="6443200"/>
            <a:ext cx="6788728" cy="369332"/>
          </a:xfrm>
          <a:prstGeom prst="rect">
            <a:avLst/>
          </a:prstGeom>
          <a:noFill/>
        </p:spPr>
        <p:txBody>
          <a:bodyPr wrap="square" rtlCol="0">
            <a:spAutoFit/>
          </a:bodyPr>
          <a:lstStyle/>
          <a:p>
            <a:r>
              <a:rPr lang="en-US" dirty="0">
                <a:solidFill>
                  <a:schemeClr val="bg1"/>
                </a:solidFill>
              </a:rPr>
              <a:t>Aim High | Work Together | Be Kind | Lead the Way</a:t>
            </a:r>
          </a:p>
        </p:txBody>
      </p:sp>
      <p:sp>
        <p:nvSpPr>
          <p:cNvPr id="17" name="TextBox 16">
            <a:extLst>
              <a:ext uri="{FF2B5EF4-FFF2-40B4-BE49-F238E27FC236}">
                <a16:creationId xmlns:a16="http://schemas.microsoft.com/office/drawing/2014/main" id="{6BA13B54-FF7F-A714-7065-93DA85AB4B57}"/>
              </a:ext>
            </a:extLst>
          </p:cNvPr>
          <p:cNvSpPr txBox="1"/>
          <p:nvPr/>
        </p:nvSpPr>
        <p:spPr>
          <a:xfrm>
            <a:off x="-101546" y="45468"/>
            <a:ext cx="923330" cy="6767064"/>
          </a:xfrm>
          <a:prstGeom prst="rect">
            <a:avLst/>
          </a:prstGeom>
          <a:solidFill>
            <a:schemeClr val="accent4">
              <a:lumMod val="50000"/>
            </a:schemeClr>
          </a:solidFill>
        </p:spPr>
        <p:txBody>
          <a:bodyPr vert="vert270" wrap="square" rtlCol="0">
            <a:spAutoFit/>
          </a:bodyPr>
          <a:lstStyle/>
          <a:p>
            <a:pPr algn="ctr"/>
            <a:r>
              <a:rPr lang="en-GB" sz="4800">
                <a:solidFill>
                  <a:schemeClr val="bg1"/>
                </a:solidFill>
              </a:rPr>
              <a:t>Objectives</a:t>
            </a:r>
          </a:p>
        </p:txBody>
      </p:sp>
      <p:graphicFrame>
        <p:nvGraphicFramePr>
          <p:cNvPr id="2" name="Diagram 1">
            <a:extLst>
              <a:ext uri="{FF2B5EF4-FFF2-40B4-BE49-F238E27FC236}">
                <a16:creationId xmlns:a16="http://schemas.microsoft.com/office/drawing/2014/main" id="{D699853D-B664-0D36-C0B1-5DD47D6C29C1}"/>
              </a:ext>
            </a:extLst>
          </p:cNvPr>
          <p:cNvGraphicFramePr/>
          <p:nvPr>
            <p:extLst>
              <p:ext uri="{D42A27DB-BD31-4B8C-83A1-F6EECF244321}">
                <p14:modId xmlns:p14="http://schemas.microsoft.com/office/powerpoint/2010/main" val="1074948196"/>
              </p:ext>
            </p:extLst>
          </p:nvPr>
        </p:nvGraphicFramePr>
        <p:xfrm>
          <a:off x="1165413" y="4950758"/>
          <a:ext cx="10455087" cy="149486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30" name="Group 29">
            <a:extLst>
              <a:ext uri="{FF2B5EF4-FFF2-40B4-BE49-F238E27FC236}">
                <a16:creationId xmlns:a16="http://schemas.microsoft.com/office/drawing/2014/main" id="{BF88CFC3-A8F2-2223-25F0-8359E513D5FD}"/>
              </a:ext>
            </a:extLst>
          </p:cNvPr>
          <p:cNvGrpSpPr/>
          <p:nvPr/>
        </p:nvGrpSpPr>
        <p:grpSpPr>
          <a:xfrm>
            <a:off x="9614796" y="6387318"/>
            <a:ext cx="1994299" cy="478636"/>
            <a:chOff x="9614803" y="6387318"/>
            <a:chExt cx="1341657" cy="447712"/>
          </a:xfrm>
        </p:grpSpPr>
        <p:pic>
          <p:nvPicPr>
            <p:cNvPr id="26" name="Picture 25" descr="A picture containing text&#10;&#10;Description automatically generated">
              <a:extLst>
                <a:ext uri="{FF2B5EF4-FFF2-40B4-BE49-F238E27FC236}">
                  <a16:creationId xmlns:a16="http://schemas.microsoft.com/office/drawing/2014/main" id="{068FCF2F-95A8-28DA-0D8A-AB26D5862FE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614803" y="6395709"/>
              <a:ext cx="330463" cy="429842"/>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26" descr="A picture containing text, sign&#10;&#10;Description automatically generated">
              <a:extLst>
                <a:ext uri="{FF2B5EF4-FFF2-40B4-BE49-F238E27FC236}">
                  <a16:creationId xmlns:a16="http://schemas.microsoft.com/office/drawing/2014/main" id="{234152C5-FD47-9B44-0194-62C8D7BF1C8B}"/>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277411" y="6388853"/>
              <a:ext cx="323977" cy="446177"/>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7" descr="A picture containing text&#10;&#10;Description automatically generated">
              <a:extLst>
                <a:ext uri="{FF2B5EF4-FFF2-40B4-BE49-F238E27FC236}">
                  <a16:creationId xmlns:a16="http://schemas.microsoft.com/office/drawing/2014/main" id="{C1F70C14-68E1-1F24-91D5-B7DD522018DE}"/>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610702" y="6391698"/>
              <a:ext cx="345758" cy="436820"/>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28">
              <a:extLst>
                <a:ext uri="{FF2B5EF4-FFF2-40B4-BE49-F238E27FC236}">
                  <a16:creationId xmlns:a16="http://schemas.microsoft.com/office/drawing/2014/main" id="{B8366343-E6FA-1CEB-6A64-638D2CC2A339}"/>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937194" y="6387318"/>
              <a:ext cx="330582" cy="446427"/>
            </a:xfrm>
            <a:prstGeom prst="rect">
              <a:avLst/>
            </a:prstGeom>
            <a:noFill/>
            <a:extLst>
              <a:ext uri="{909E8E84-426E-40DD-AFC4-6F175D3DCCD1}">
                <a14:hiddenFill xmlns:a14="http://schemas.microsoft.com/office/drawing/2010/main">
                  <a:solidFill>
                    <a:srgbClr val="FFFFFF"/>
                  </a:solidFill>
                </a14:hiddenFill>
              </a:ext>
            </a:extLst>
          </p:spPr>
        </p:pic>
      </p:grpSp>
      <p:sp>
        <p:nvSpPr>
          <p:cNvPr id="31" name="TextBox 30"/>
          <p:cNvSpPr txBox="1"/>
          <p:nvPr/>
        </p:nvSpPr>
        <p:spPr>
          <a:xfrm>
            <a:off x="1115568" y="274320"/>
            <a:ext cx="10241280" cy="4745736"/>
          </a:xfrm>
          <a:prstGeom prst="rect">
            <a:avLst/>
          </a:prstGeom>
          <a:noFill/>
        </p:spPr>
        <p:txBody>
          <a:bodyPr wrap="square" tIns="91440" bIns="91440">
            <a:noAutofit/>
          </a:bodyPr>
          <a:lstStyle/>
          <a:p>
            <a:endParaRPr dirty="0"/>
          </a:p>
          <a:p>
            <a:r>
              <a:rPr sz="2800" dirty="0">
                <a:solidFill>
                  <a:srgbClr val="000000"/>
                </a:solidFill>
                <a:latin typeface="Century Gothic"/>
              </a:rPr>
              <a:t>Following this lesson, students will be able to:</a:t>
            </a:r>
            <a:endParaRPr lang="en-GB" sz="2800" dirty="0">
              <a:solidFill>
                <a:srgbClr val="000000"/>
              </a:solidFill>
              <a:latin typeface="Century Gothic"/>
            </a:endParaRPr>
          </a:p>
          <a:p>
            <a:endParaRPr sz="2800" dirty="0">
              <a:solidFill>
                <a:srgbClr val="000000"/>
              </a:solidFill>
              <a:latin typeface="Century Gothic"/>
            </a:endParaRPr>
          </a:p>
          <a:p>
            <a:r>
              <a:rPr sz="2800" dirty="0">
                <a:solidFill>
                  <a:srgbClr val="000000"/>
                </a:solidFill>
                <a:latin typeface="Century Gothic"/>
              </a:rPr>
              <a:t>• Write chemical equations in terms of ions</a:t>
            </a:r>
          </a:p>
          <a:p>
            <a:endParaRPr sz="2800" dirty="0">
              <a:solidFill>
                <a:srgbClr val="000000"/>
              </a:solidFill>
              <a:latin typeface="Century Gothic"/>
            </a:endParaRPr>
          </a:p>
          <a:p>
            <a:r>
              <a:rPr sz="2800" dirty="0">
                <a:solidFill>
                  <a:srgbClr val="000000"/>
                </a:solidFill>
                <a:latin typeface="Century Gothic"/>
              </a:rPr>
              <a:t>• Write ionic equations for displacement reactions</a:t>
            </a:r>
          </a:p>
          <a:p>
            <a:endParaRPr sz="2800" dirty="0">
              <a:solidFill>
                <a:srgbClr val="000000"/>
              </a:solidFill>
              <a:latin typeface="Century Gothic"/>
            </a:endParaRPr>
          </a:p>
          <a:p>
            <a:r>
              <a:rPr sz="2800" dirty="0">
                <a:solidFill>
                  <a:srgbClr val="000000"/>
                </a:solidFill>
                <a:latin typeface="Century Gothic"/>
              </a:rPr>
              <a:t>• Identify </a:t>
            </a:r>
            <a:r>
              <a:rPr sz="2800" dirty="0" err="1">
                <a:solidFill>
                  <a:srgbClr val="000000"/>
                </a:solidFill>
                <a:latin typeface="Century Gothic"/>
              </a:rPr>
              <a:t>oxidised</a:t>
            </a:r>
            <a:r>
              <a:rPr sz="2800" dirty="0">
                <a:solidFill>
                  <a:srgbClr val="000000"/>
                </a:solidFill>
                <a:latin typeface="Century Gothic"/>
              </a:rPr>
              <a:t> and reduced species using ionic equations</a:t>
            </a:r>
          </a:p>
          <a:p>
            <a:endParaRPr sz="2800" dirty="0">
              <a:solidFill>
                <a:srgbClr val="000000"/>
              </a:solidFill>
              <a:latin typeface="Century Gothic"/>
            </a:endParaRPr>
          </a:p>
        </p:txBody>
      </p:sp>
    </p:spTree>
    <p:extLst>
      <p:ext uri="{BB962C8B-B14F-4D97-AF65-F5344CB8AC3E}">
        <p14:creationId xmlns:p14="http://schemas.microsoft.com/office/powerpoint/2010/main" val="26520078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50C62D-9FFE-4AE0-8F2F-A8DC0959A73D}"/>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9916B6C8-5779-98ED-A8F1-AB8A2F2CDD7A}"/>
              </a:ext>
            </a:extLst>
          </p:cNvPr>
          <p:cNvSpPr txBox="1"/>
          <p:nvPr/>
        </p:nvSpPr>
        <p:spPr>
          <a:xfrm>
            <a:off x="4038598" y="6443200"/>
            <a:ext cx="6788728" cy="369332"/>
          </a:xfrm>
          <a:prstGeom prst="rect">
            <a:avLst/>
          </a:prstGeom>
          <a:noFill/>
        </p:spPr>
        <p:txBody>
          <a:bodyPr wrap="square" rtlCol="0">
            <a:spAutoFit/>
          </a:bodyPr>
          <a:lstStyle/>
          <a:p>
            <a:r>
              <a:rPr lang="en-US" dirty="0">
                <a:solidFill>
                  <a:schemeClr val="bg1"/>
                </a:solidFill>
              </a:rPr>
              <a:t>Aim High | Work Together | Be Kind | Lead the Way</a:t>
            </a:r>
          </a:p>
        </p:txBody>
      </p:sp>
      <p:sp>
        <p:nvSpPr>
          <p:cNvPr id="17" name="TextBox 16">
            <a:extLst>
              <a:ext uri="{FF2B5EF4-FFF2-40B4-BE49-F238E27FC236}">
                <a16:creationId xmlns:a16="http://schemas.microsoft.com/office/drawing/2014/main" id="{E3D010A1-4F8E-09D3-0DF6-33984839DAFF}"/>
              </a:ext>
            </a:extLst>
          </p:cNvPr>
          <p:cNvSpPr txBox="1"/>
          <p:nvPr/>
        </p:nvSpPr>
        <p:spPr>
          <a:xfrm>
            <a:off x="-101546" y="45468"/>
            <a:ext cx="923330" cy="6767064"/>
          </a:xfrm>
          <a:prstGeom prst="rect">
            <a:avLst/>
          </a:prstGeom>
          <a:solidFill>
            <a:schemeClr val="accent4">
              <a:lumMod val="50000"/>
            </a:schemeClr>
          </a:solidFill>
        </p:spPr>
        <p:txBody>
          <a:bodyPr vert="vert270" wrap="square" rtlCol="0">
            <a:spAutoFit/>
          </a:bodyPr>
          <a:lstStyle/>
          <a:p>
            <a:pPr algn="ctr"/>
            <a:r>
              <a:rPr lang="en-GB" sz="4800">
                <a:solidFill>
                  <a:schemeClr val="bg1"/>
                </a:solidFill>
              </a:rPr>
              <a:t>Exposition</a:t>
            </a:r>
          </a:p>
        </p:txBody>
      </p:sp>
      <p:grpSp>
        <p:nvGrpSpPr>
          <p:cNvPr id="16" name="Group 15">
            <a:extLst>
              <a:ext uri="{FF2B5EF4-FFF2-40B4-BE49-F238E27FC236}">
                <a16:creationId xmlns:a16="http://schemas.microsoft.com/office/drawing/2014/main" id="{E48D75A0-6829-E115-F4B3-8EE354A6F993}"/>
              </a:ext>
            </a:extLst>
          </p:cNvPr>
          <p:cNvGrpSpPr/>
          <p:nvPr/>
        </p:nvGrpSpPr>
        <p:grpSpPr>
          <a:xfrm>
            <a:off x="9614796" y="6387318"/>
            <a:ext cx="1994299" cy="478636"/>
            <a:chOff x="9614803" y="6387318"/>
            <a:chExt cx="1341657" cy="447712"/>
          </a:xfrm>
        </p:grpSpPr>
        <p:pic>
          <p:nvPicPr>
            <p:cNvPr id="10" name="Picture 9" descr="A picture containing text&#10;&#10;Description automatically generated">
              <a:extLst>
                <a:ext uri="{FF2B5EF4-FFF2-40B4-BE49-F238E27FC236}">
                  <a16:creationId xmlns:a16="http://schemas.microsoft.com/office/drawing/2014/main" id="{1976FE94-D8BD-355A-EE8C-29FAE91FF9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14803" y="6395709"/>
              <a:ext cx="330463" cy="429842"/>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descr="A picture containing text, sign&#10;&#10;Description automatically generated">
              <a:extLst>
                <a:ext uri="{FF2B5EF4-FFF2-40B4-BE49-F238E27FC236}">
                  <a16:creationId xmlns:a16="http://schemas.microsoft.com/office/drawing/2014/main" id="{22A454F6-AF72-8EC4-DFF7-FBE499AE38D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77411" y="6388853"/>
              <a:ext cx="323977" cy="446177"/>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3" descr="A picture containing text&#10;&#10;Description automatically generated">
              <a:extLst>
                <a:ext uri="{FF2B5EF4-FFF2-40B4-BE49-F238E27FC236}">
                  <a16:creationId xmlns:a16="http://schemas.microsoft.com/office/drawing/2014/main" id="{57689135-215D-BE0D-804E-DBE13D29551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610702" y="6391698"/>
              <a:ext cx="345758" cy="436820"/>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a:extLst>
                <a:ext uri="{FF2B5EF4-FFF2-40B4-BE49-F238E27FC236}">
                  <a16:creationId xmlns:a16="http://schemas.microsoft.com/office/drawing/2014/main" id="{EF1568F1-84B9-4A47-16E4-F0C076B8D2A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937194" y="6387318"/>
              <a:ext cx="330582" cy="446427"/>
            </a:xfrm>
            <a:prstGeom prst="rect">
              <a:avLst/>
            </a:prstGeom>
            <a:noFill/>
            <a:extLst>
              <a:ext uri="{909E8E84-426E-40DD-AFC4-6F175D3DCCD1}">
                <a14:hiddenFill xmlns:a14="http://schemas.microsoft.com/office/drawing/2010/main">
                  <a:solidFill>
                    <a:srgbClr val="FFFFFF"/>
                  </a:solidFill>
                </a14:hiddenFill>
              </a:ext>
            </a:extLst>
          </p:spPr>
        </p:pic>
      </p:grpSp>
      <p:pic>
        <p:nvPicPr>
          <p:cNvPr id="2" name="Picture 1" descr="Icon&#10;&#10;Description automatically generated">
            <a:extLst>
              <a:ext uri="{FF2B5EF4-FFF2-40B4-BE49-F238E27FC236}">
                <a16:creationId xmlns:a16="http://schemas.microsoft.com/office/drawing/2014/main" id="{AFCCFDAF-7828-53E5-2C9F-F8DA9EED76D1}"/>
              </a:ext>
            </a:extLst>
          </p:cNvPr>
          <p:cNvPicPr>
            <a:picLocks noChangeAspect="1"/>
          </p:cNvPicPr>
          <p:nvPr/>
        </p:nvPicPr>
        <p:blipFill>
          <a:blip r:embed="rId7"/>
          <a:stretch>
            <a:fillRect/>
          </a:stretch>
        </p:blipFill>
        <p:spPr>
          <a:xfrm>
            <a:off x="901205" y="1517827"/>
            <a:ext cx="2720310" cy="1931212"/>
          </a:xfrm>
          <a:prstGeom prst="rect">
            <a:avLst/>
          </a:prstGeom>
        </p:spPr>
      </p:pic>
      <p:sp>
        <p:nvSpPr>
          <p:cNvPr id="3" name="Title 1">
            <a:extLst>
              <a:ext uri="{FF2B5EF4-FFF2-40B4-BE49-F238E27FC236}">
                <a16:creationId xmlns:a16="http://schemas.microsoft.com/office/drawing/2014/main" id="{3A180624-289B-231E-72FC-F78725CCE5F4}"/>
              </a:ext>
            </a:extLst>
          </p:cNvPr>
          <p:cNvSpPr txBox="1">
            <a:spLocks/>
          </p:cNvSpPr>
          <p:nvPr/>
        </p:nvSpPr>
        <p:spPr>
          <a:xfrm>
            <a:off x="1623101" y="1059180"/>
            <a:ext cx="8230838" cy="720000"/>
          </a:xfrm>
          <a:prstGeom prst="rect">
            <a:avLst/>
          </a:prstGeom>
        </p:spPr>
        <p:txBody>
          <a:bodyPr/>
          <a:lstStyle>
            <a:lvl1pPr algn="l" defTabSz="914400" rtl="0" eaLnBrk="1" latinLnBrk="0" hangingPunct="1">
              <a:lnSpc>
                <a:spcPct val="90000"/>
              </a:lnSpc>
              <a:spcBef>
                <a:spcPct val="0"/>
              </a:spcBef>
              <a:buNone/>
              <a:defRPr sz="1800" kern="1200">
                <a:solidFill>
                  <a:schemeClr val="tx1"/>
                </a:solidFill>
                <a:latin typeface="Arial" panose="020B0604020202020204" pitchFamily="34" charset="0"/>
                <a:ea typeface="+mj-ea"/>
                <a:cs typeface="Arial" panose="020B0604020202020204" pitchFamily="34" charset="0"/>
              </a:defRPr>
            </a:lvl1pPr>
          </a:lstStyle>
          <a:p>
            <a:r>
              <a:rPr lang="en-US" sz="2600" b="1"/>
              <a:t>Key Words:</a:t>
            </a:r>
          </a:p>
        </p:txBody>
      </p:sp>
      <p:sp>
        <p:nvSpPr>
          <p:cNvPr id="4" name="Rectangle 3">
            <a:extLst>
              <a:ext uri="{FF2B5EF4-FFF2-40B4-BE49-F238E27FC236}">
                <a16:creationId xmlns:a16="http://schemas.microsoft.com/office/drawing/2014/main" id="{9C6E6117-9514-9A8E-169A-E57B9FF6B61D}"/>
              </a:ext>
            </a:extLst>
          </p:cNvPr>
          <p:cNvSpPr/>
          <p:nvPr/>
        </p:nvSpPr>
        <p:spPr>
          <a:xfrm>
            <a:off x="3130357" y="2531946"/>
            <a:ext cx="4115419" cy="751293"/>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Century Gothic" panose="020B0502020202020204" pitchFamily="34" charset="0"/>
              </a:rPr>
              <a:t>displacement</a:t>
            </a:r>
          </a:p>
        </p:txBody>
      </p:sp>
      <p:sp>
        <p:nvSpPr>
          <p:cNvPr id="6" name="Rectangle 5">
            <a:extLst>
              <a:ext uri="{FF2B5EF4-FFF2-40B4-BE49-F238E27FC236}">
                <a16:creationId xmlns:a16="http://schemas.microsoft.com/office/drawing/2014/main" id="{CD4AFD82-18A9-EABB-D7B1-10A2BF520726}"/>
              </a:ext>
            </a:extLst>
          </p:cNvPr>
          <p:cNvSpPr/>
          <p:nvPr/>
        </p:nvSpPr>
        <p:spPr>
          <a:xfrm>
            <a:off x="6494310" y="1668579"/>
            <a:ext cx="3359629" cy="751293"/>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Century Gothic" panose="020B0502020202020204" pitchFamily="34" charset="0"/>
              </a:rPr>
              <a:t>oxidation</a:t>
            </a:r>
          </a:p>
        </p:txBody>
      </p:sp>
      <p:sp>
        <p:nvSpPr>
          <p:cNvPr id="8" name="Rectangle 7">
            <a:extLst>
              <a:ext uri="{FF2B5EF4-FFF2-40B4-BE49-F238E27FC236}">
                <a16:creationId xmlns:a16="http://schemas.microsoft.com/office/drawing/2014/main" id="{9246B4AC-B008-4711-2D25-AD37AAC328E6}"/>
              </a:ext>
            </a:extLst>
          </p:cNvPr>
          <p:cNvSpPr/>
          <p:nvPr/>
        </p:nvSpPr>
        <p:spPr>
          <a:xfrm>
            <a:off x="3130357" y="1668579"/>
            <a:ext cx="3271903" cy="751293"/>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Century Gothic" panose="020B0502020202020204" pitchFamily="34" charset="0"/>
              </a:rPr>
              <a:t>spectator ions</a:t>
            </a:r>
          </a:p>
        </p:txBody>
      </p:sp>
      <p:sp>
        <p:nvSpPr>
          <p:cNvPr id="11" name="Rectangle 10">
            <a:extLst>
              <a:ext uri="{FF2B5EF4-FFF2-40B4-BE49-F238E27FC236}">
                <a16:creationId xmlns:a16="http://schemas.microsoft.com/office/drawing/2014/main" id="{C047C735-7EE7-4DEE-B839-E9D4F20D199F}"/>
              </a:ext>
            </a:extLst>
          </p:cNvPr>
          <p:cNvSpPr/>
          <p:nvPr/>
        </p:nvSpPr>
        <p:spPr>
          <a:xfrm>
            <a:off x="7412254" y="2531946"/>
            <a:ext cx="3359629" cy="751293"/>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Century Gothic" panose="020B0502020202020204" pitchFamily="34" charset="0"/>
              </a:rPr>
              <a:t>reduction</a:t>
            </a:r>
          </a:p>
        </p:txBody>
      </p:sp>
    </p:spTree>
    <p:extLst>
      <p:ext uri="{BB962C8B-B14F-4D97-AF65-F5344CB8AC3E}">
        <p14:creationId xmlns:p14="http://schemas.microsoft.com/office/powerpoint/2010/main" val="33945527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4B74C-D6E9-8C47-B64D-4A7EA3FB90D0}"/>
              </a:ext>
            </a:extLst>
          </p:cNvPr>
          <p:cNvSpPr>
            <a:spLocks noGrp="1"/>
          </p:cNvSpPr>
          <p:nvPr>
            <p:ph type="title"/>
          </p:nvPr>
        </p:nvSpPr>
        <p:spPr>
          <a:xfrm>
            <a:off x="245651" y="354581"/>
            <a:ext cx="10620000" cy="720000"/>
          </a:xfrm>
        </p:spPr>
        <p:txBody>
          <a:bodyPr>
            <a:noAutofit/>
          </a:bodyPr>
          <a:lstStyle/>
          <a:p>
            <a:r>
              <a:rPr lang="en-US" sz="2800" dirty="0">
                <a:latin typeface="Century Gothic" panose="020B0502020202020204" pitchFamily="34" charset="0"/>
              </a:rPr>
              <a:t>(a) Identify the ions present in each of these formulae</a:t>
            </a:r>
            <a:br>
              <a:rPr lang="en-US" sz="2800" dirty="0">
                <a:latin typeface="Century Gothic" panose="020B0502020202020204" pitchFamily="34" charset="0"/>
              </a:rPr>
            </a:br>
            <a:r>
              <a:rPr lang="en-US" sz="2800" dirty="0">
                <a:latin typeface="Century Gothic" panose="020B0502020202020204" pitchFamily="34" charset="0"/>
              </a:rPr>
              <a:t>(b) State how many of each ion is in the formula</a:t>
            </a:r>
          </a:p>
        </p:txBody>
      </p:sp>
      <p:sp>
        <p:nvSpPr>
          <p:cNvPr id="3" name="TextBox 2">
            <a:extLst>
              <a:ext uri="{FF2B5EF4-FFF2-40B4-BE49-F238E27FC236}">
                <a16:creationId xmlns:a16="http://schemas.microsoft.com/office/drawing/2014/main" id="{C016FFB1-F3E3-714C-AFDF-EF98170FA663}"/>
              </a:ext>
            </a:extLst>
          </p:cNvPr>
          <p:cNvSpPr txBox="1"/>
          <p:nvPr/>
        </p:nvSpPr>
        <p:spPr>
          <a:xfrm>
            <a:off x="509913" y="1168387"/>
            <a:ext cx="1394934" cy="1684115"/>
          </a:xfrm>
          <a:prstGeom prst="rect">
            <a:avLst/>
          </a:prstGeom>
          <a:noFill/>
        </p:spPr>
        <p:txBody>
          <a:bodyPr wrap="none" rtlCol="0">
            <a:spAutoFit/>
          </a:bodyPr>
          <a:lstStyle/>
          <a:p>
            <a:pPr marL="457200" indent="-457200">
              <a:lnSpc>
                <a:spcPct val="150000"/>
              </a:lnSpc>
              <a:buAutoNum type="arabicPeriod"/>
            </a:pPr>
            <a:r>
              <a:rPr lang="en-GB" sz="2400" dirty="0">
                <a:latin typeface="Century Gothic" panose="020B0502020202020204" pitchFamily="34" charset="0"/>
              </a:rPr>
              <a:t>NaCl</a:t>
            </a:r>
          </a:p>
          <a:p>
            <a:pPr marL="457200" indent="-457200">
              <a:lnSpc>
                <a:spcPct val="150000"/>
              </a:lnSpc>
              <a:buAutoNum type="arabicPeriod"/>
            </a:pPr>
            <a:r>
              <a:rPr lang="en-GB" sz="2400" dirty="0">
                <a:latin typeface="Century Gothic" panose="020B0502020202020204" pitchFamily="34" charset="0"/>
              </a:rPr>
              <a:t>HCl</a:t>
            </a:r>
          </a:p>
          <a:p>
            <a:pPr marL="457200" indent="-457200">
              <a:lnSpc>
                <a:spcPct val="150000"/>
              </a:lnSpc>
              <a:buAutoNum type="arabicPeriod"/>
            </a:pPr>
            <a:r>
              <a:rPr lang="en-GB" sz="2400" dirty="0">
                <a:latin typeface="Century Gothic" panose="020B0502020202020204" pitchFamily="34" charset="0"/>
              </a:rPr>
              <a:t>Li</a:t>
            </a:r>
            <a:r>
              <a:rPr lang="en-GB" sz="2400" baseline="-25000" dirty="0">
                <a:latin typeface="Century Gothic" panose="020B0502020202020204" pitchFamily="34" charset="0"/>
              </a:rPr>
              <a:t>2</a:t>
            </a:r>
            <a:r>
              <a:rPr lang="en-GB" sz="2400" dirty="0">
                <a:latin typeface="Century Gothic" panose="020B0502020202020204" pitchFamily="34" charset="0"/>
              </a:rPr>
              <a:t>O</a:t>
            </a:r>
          </a:p>
        </p:txBody>
      </p:sp>
      <p:sp>
        <p:nvSpPr>
          <p:cNvPr id="4" name="TextBox 3">
            <a:extLst>
              <a:ext uri="{FF2B5EF4-FFF2-40B4-BE49-F238E27FC236}">
                <a16:creationId xmlns:a16="http://schemas.microsoft.com/office/drawing/2014/main" id="{28675828-69E7-18DE-9DA1-51F7CF3E70CF}"/>
              </a:ext>
            </a:extLst>
          </p:cNvPr>
          <p:cNvSpPr txBox="1"/>
          <p:nvPr/>
        </p:nvSpPr>
        <p:spPr>
          <a:xfrm>
            <a:off x="3231508" y="1252685"/>
            <a:ext cx="2492990" cy="461665"/>
          </a:xfrm>
          <a:prstGeom prst="rect">
            <a:avLst/>
          </a:prstGeom>
          <a:noFill/>
        </p:spPr>
        <p:txBody>
          <a:bodyPr wrap="none" rtlCol="0">
            <a:spAutoFit/>
          </a:bodyPr>
          <a:lstStyle/>
          <a:p>
            <a:r>
              <a:rPr lang="en-GB" sz="2400" b="1" dirty="0">
                <a:solidFill>
                  <a:schemeClr val="accent2">
                    <a:lumMod val="60000"/>
                    <a:lumOff val="40000"/>
                  </a:schemeClr>
                </a:solidFill>
                <a:latin typeface="Century Gothic" panose="020B0502020202020204" pitchFamily="34" charset="0"/>
              </a:rPr>
              <a:t>Na</a:t>
            </a:r>
            <a:r>
              <a:rPr lang="en-GB" sz="2400" b="1" baseline="30000" dirty="0">
                <a:solidFill>
                  <a:schemeClr val="accent2">
                    <a:lumMod val="60000"/>
                    <a:lumOff val="40000"/>
                  </a:schemeClr>
                </a:solidFill>
                <a:latin typeface="Century Gothic" panose="020B0502020202020204" pitchFamily="34" charset="0"/>
              </a:rPr>
              <a:t>+		</a:t>
            </a:r>
            <a:r>
              <a:rPr lang="en-GB" sz="2400" b="1" dirty="0">
                <a:solidFill>
                  <a:schemeClr val="accent2">
                    <a:lumMod val="60000"/>
                    <a:lumOff val="40000"/>
                  </a:schemeClr>
                </a:solidFill>
                <a:latin typeface="Century Gothic" panose="020B0502020202020204" pitchFamily="34" charset="0"/>
              </a:rPr>
              <a:t>C</a:t>
            </a:r>
            <a:r>
              <a:rPr lang="en-GB" sz="2400" b="1" dirty="0">
                <a:solidFill>
                  <a:schemeClr val="accent2">
                    <a:lumMod val="60000"/>
                    <a:lumOff val="40000"/>
                  </a:schemeClr>
                </a:solidFill>
                <a:latin typeface="Century Gothic" panose="020B0502020202020204" pitchFamily="34" charset="0"/>
                <a:cs typeface="Aparajita" panose="020B0604020202020204" pitchFamily="34" charset="0"/>
              </a:rPr>
              <a:t>l</a:t>
            </a:r>
            <a:r>
              <a:rPr lang="en-GB" sz="3200" b="1" baseline="30000" dirty="0">
                <a:solidFill>
                  <a:schemeClr val="accent2">
                    <a:lumMod val="60000"/>
                    <a:lumOff val="40000"/>
                  </a:schemeClr>
                </a:solidFill>
                <a:latin typeface="Century Gothic" panose="020B0502020202020204" pitchFamily="34" charset="0"/>
              </a:rPr>
              <a:t>-</a:t>
            </a:r>
            <a:endParaRPr lang="en-GB" sz="2400" b="1" baseline="30000" dirty="0">
              <a:solidFill>
                <a:schemeClr val="accent2">
                  <a:lumMod val="60000"/>
                  <a:lumOff val="40000"/>
                </a:schemeClr>
              </a:solidFill>
              <a:latin typeface="Century Gothic" panose="020B0502020202020204" pitchFamily="34" charset="0"/>
            </a:endParaRPr>
          </a:p>
        </p:txBody>
      </p:sp>
      <p:sp>
        <p:nvSpPr>
          <p:cNvPr id="7" name="TextBox 6">
            <a:extLst>
              <a:ext uri="{FF2B5EF4-FFF2-40B4-BE49-F238E27FC236}">
                <a16:creationId xmlns:a16="http://schemas.microsoft.com/office/drawing/2014/main" id="{FAB1BD10-227F-70C1-06EF-42A9575B277D}"/>
              </a:ext>
            </a:extLst>
          </p:cNvPr>
          <p:cNvSpPr txBox="1"/>
          <p:nvPr/>
        </p:nvSpPr>
        <p:spPr>
          <a:xfrm>
            <a:off x="3231508" y="1769615"/>
            <a:ext cx="2460930" cy="461665"/>
          </a:xfrm>
          <a:prstGeom prst="rect">
            <a:avLst/>
          </a:prstGeom>
          <a:noFill/>
        </p:spPr>
        <p:txBody>
          <a:bodyPr wrap="none" rtlCol="0">
            <a:spAutoFit/>
          </a:bodyPr>
          <a:lstStyle/>
          <a:p>
            <a:r>
              <a:rPr lang="en-GB" sz="2400" b="1" dirty="0">
                <a:solidFill>
                  <a:schemeClr val="accent2">
                    <a:lumMod val="60000"/>
                    <a:lumOff val="40000"/>
                  </a:schemeClr>
                </a:solidFill>
                <a:latin typeface="Century Gothic" panose="020B0502020202020204" pitchFamily="34" charset="0"/>
              </a:rPr>
              <a:t>H</a:t>
            </a:r>
            <a:r>
              <a:rPr lang="en-GB" sz="2400" b="1" baseline="30000" dirty="0">
                <a:solidFill>
                  <a:schemeClr val="accent2">
                    <a:lumMod val="60000"/>
                    <a:lumOff val="40000"/>
                  </a:schemeClr>
                </a:solidFill>
                <a:latin typeface="Century Gothic" panose="020B0502020202020204" pitchFamily="34" charset="0"/>
              </a:rPr>
              <a:t>+		</a:t>
            </a:r>
            <a:r>
              <a:rPr lang="en-GB" sz="2400" b="1" dirty="0">
                <a:solidFill>
                  <a:schemeClr val="accent2">
                    <a:lumMod val="60000"/>
                    <a:lumOff val="40000"/>
                  </a:schemeClr>
                </a:solidFill>
                <a:latin typeface="Century Gothic" panose="020B0502020202020204" pitchFamily="34" charset="0"/>
              </a:rPr>
              <a:t>Cl</a:t>
            </a:r>
            <a:r>
              <a:rPr lang="en-GB" sz="3600" b="1" baseline="30000" dirty="0">
                <a:solidFill>
                  <a:schemeClr val="accent2">
                    <a:lumMod val="60000"/>
                    <a:lumOff val="40000"/>
                  </a:schemeClr>
                </a:solidFill>
                <a:latin typeface="Century Gothic" panose="020B0502020202020204" pitchFamily="34" charset="0"/>
              </a:rPr>
              <a:t>-</a:t>
            </a:r>
            <a:endParaRPr lang="en-GB" sz="2400" b="1" baseline="30000" dirty="0">
              <a:solidFill>
                <a:schemeClr val="accent2">
                  <a:lumMod val="60000"/>
                  <a:lumOff val="40000"/>
                </a:schemeClr>
              </a:solidFill>
              <a:latin typeface="Century Gothic" panose="020B0502020202020204" pitchFamily="34" charset="0"/>
            </a:endParaRPr>
          </a:p>
        </p:txBody>
      </p:sp>
      <p:sp>
        <p:nvSpPr>
          <p:cNvPr id="8" name="TextBox 7">
            <a:extLst>
              <a:ext uri="{FF2B5EF4-FFF2-40B4-BE49-F238E27FC236}">
                <a16:creationId xmlns:a16="http://schemas.microsoft.com/office/drawing/2014/main" id="{239F3B42-E8B4-60CE-652B-63D81960C3FB}"/>
              </a:ext>
            </a:extLst>
          </p:cNvPr>
          <p:cNvSpPr txBox="1"/>
          <p:nvPr/>
        </p:nvSpPr>
        <p:spPr>
          <a:xfrm>
            <a:off x="3223712" y="2327659"/>
            <a:ext cx="2558714" cy="461665"/>
          </a:xfrm>
          <a:prstGeom prst="rect">
            <a:avLst/>
          </a:prstGeom>
          <a:noFill/>
        </p:spPr>
        <p:txBody>
          <a:bodyPr wrap="none" rtlCol="0">
            <a:spAutoFit/>
          </a:bodyPr>
          <a:lstStyle/>
          <a:p>
            <a:r>
              <a:rPr lang="en-GB" sz="2400" b="1" dirty="0">
                <a:solidFill>
                  <a:schemeClr val="accent2">
                    <a:lumMod val="60000"/>
                    <a:lumOff val="40000"/>
                  </a:schemeClr>
                </a:solidFill>
                <a:latin typeface="Century Gothic" panose="020B0502020202020204" pitchFamily="34" charset="0"/>
              </a:rPr>
              <a:t>Li</a:t>
            </a:r>
            <a:r>
              <a:rPr lang="en-GB" sz="2400" b="1" baseline="30000" dirty="0">
                <a:solidFill>
                  <a:schemeClr val="accent2">
                    <a:lumMod val="60000"/>
                    <a:lumOff val="40000"/>
                  </a:schemeClr>
                </a:solidFill>
                <a:latin typeface="Century Gothic" panose="020B0502020202020204" pitchFamily="34" charset="0"/>
              </a:rPr>
              <a:t>+		</a:t>
            </a:r>
            <a:r>
              <a:rPr lang="en-GB" sz="2400" b="1" dirty="0">
                <a:solidFill>
                  <a:schemeClr val="accent2">
                    <a:lumMod val="60000"/>
                    <a:lumOff val="40000"/>
                  </a:schemeClr>
                </a:solidFill>
                <a:latin typeface="Century Gothic" panose="020B0502020202020204" pitchFamily="34" charset="0"/>
              </a:rPr>
              <a:t>O</a:t>
            </a:r>
            <a:r>
              <a:rPr lang="en-GB" sz="3200" b="1" baseline="30000" dirty="0">
                <a:solidFill>
                  <a:schemeClr val="accent2">
                    <a:lumMod val="60000"/>
                    <a:lumOff val="40000"/>
                  </a:schemeClr>
                </a:solidFill>
                <a:latin typeface="Century Gothic" panose="020B0502020202020204" pitchFamily="34" charset="0"/>
              </a:rPr>
              <a:t>2-</a:t>
            </a:r>
            <a:endParaRPr lang="en-GB" sz="2400" b="1" baseline="30000" dirty="0">
              <a:solidFill>
                <a:schemeClr val="accent2">
                  <a:lumMod val="60000"/>
                  <a:lumOff val="40000"/>
                </a:schemeClr>
              </a:solidFill>
              <a:latin typeface="Century Gothic" panose="020B0502020202020204" pitchFamily="34" charset="0"/>
            </a:endParaRPr>
          </a:p>
        </p:txBody>
      </p:sp>
      <p:sp>
        <p:nvSpPr>
          <p:cNvPr id="9" name="TextBox 8">
            <a:extLst>
              <a:ext uri="{FF2B5EF4-FFF2-40B4-BE49-F238E27FC236}">
                <a16:creationId xmlns:a16="http://schemas.microsoft.com/office/drawing/2014/main" id="{5C5D3630-5467-EA78-6AD1-C89059457D73}"/>
              </a:ext>
            </a:extLst>
          </p:cNvPr>
          <p:cNvSpPr txBox="1"/>
          <p:nvPr/>
        </p:nvSpPr>
        <p:spPr>
          <a:xfrm>
            <a:off x="8508900" y="1225714"/>
            <a:ext cx="2834430" cy="461665"/>
          </a:xfrm>
          <a:prstGeom prst="rect">
            <a:avLst/>
          </a:prstGeom>
          <a:noFill/>
        </p:spPr>
        <p:txBody>
          <a:bodyPr wrap="none" rtlCol="0">
            <a:spAutoFit/>
          </a:bodyPr>
          <a:lstStyle/>
          <a:p>
            <a:r>
              <a:rPr lang="en-GB" sz="2400" b="1" dirty="0">
                <a:solidFill>
                  <a:schemeClr val="accent2">
                    <a:lumMod val="60000"/>
                    <a:lumOff val="40000"/>
                  </a:schemeClr>
                </a:solidFill>
                <a:latin typeface="Century Gothic" panose="020B0502020202020204" pitchFamily="34" charset="0"/>
              </a:rPr>
              <a:t>H</a:t>
            </a:r>
            <a:r>
              <a:rPr lang="en-GB" sz="2400" b="1" baseline="30000" dirty="0">
                <a:solidFill>
                  <a:schemeClr val="accent2">
                    <a:lumMod val="60000"/>
                    <a:lumOff val="40000"/>
                  </a:schemeClr>
                </a:solidFill>
                <a:latin typeface="Century Gothic" panose="020B0502020202020204" pitchFamily="34" charset="0"/>
              </a:rPr>
              <a:t>+		</a:t>
            </a:r>
            <a:r>
              <a:rPr lang="en-GB" sz="2400" b="1" dirty="0">
                <a:solidFill>
                  <a:schemeClr val="accent2">
                    <a:lumMod val="60000"/>
                    <a:lumOff val="40000"/>
                  </a:schemeClr>
                </a:solidFill>
                <a:latin typeface="Century Gothic" panose="020B0502020202020204" pitchFamily="34" charset="0"/>
              </a:rPr>
              <a:t>SO</a:t>
            </a:r>
            <a:r>
              <a:rPr lang="en-GB" sz="2400" b="1" baseline="-25000" dirty="0">
                <a:solidFill>
                  <a:schemeClr val="accent2">
                    <a:lumMod val="60000"/>
                    <a:lumOff val="40000"/>
                  </a:schemeClr>
                </a:solidFill>
                <a:latin typeface="Century Gothic" panose="020B0502020202020204" pitchFamily="34" charset="0"/>
              </a:rPr>
              <a:t>4</a:t>
            </a:r>
            <a:r>
              <a:rPr lang="en-GB" sz="3200" b="1" baseline="30000" dirty="0">
                <a:solidFill>
                  <a:schemeClr val="accent2">
                    <a:lumMod val="60000"/>
                    <a:lumOff val="40000"/>
                  </a:schemeClr>
                </a:solidFill>
                <a:latin typeface="Century Gothic" panose="020B0502020202020204" pitchFamily="34" charset="0"/>
              </a:rPr>
              <a:t>2-</a:t>
            </a:r>
            <a:endParaRPr lang="en-GB" sz="2400" b="1" baseline="30000" dirty="0">
              <a:solidFill>
                <a:schemeClr val="accent2">
                  <a:lumMod val="60000"/>
                  <a:lumOff val="40000"/>
                </a:schemeClr>
              </a:solidFill>
              <a:latin typeface="Century Gothic" panose="020B0502020202020204" pitchFamily="34" charset="0"/>
            </a:endParaRPr>
          </a:p>
        </p:txBody>
      </p:sp>
      <p:sp>
        <p:nvSpPr>
          <p:cNvPr id="10" name="TextBox 9">
            <a:extLst>
              <a:ext uri="{FF2B5EF4-FFF2-40B4-BE49-F238E27FC236}">
                <a16:creationId xmlns:a16="http://schemas.microsoft.com/office/drawing/2014/main" id="{0675124F-AC81-C97E-3A7E-F483F8D3F5AB}"/>
              </a:ext>
            </a:extLst>
          </p:cNvPr>
          <p:cNvSpPr txBox="1"/>
          <p:nvPr/>
        </p:nvSpPr>
        <p:spPr>
          <a:xfrm>
            <a:off x="8508900" y="1850508"/>
            <a:ext cx="2747868" cy="461665"/>
          </a:xfrm>
          <a:prstGeom prst="rect">
            <a:avLst/>
          </a:prstGeom>
          <a:noFill/>
        </p:spPr>
        <p:txBody>
          <a:bodyPr wrap="none" rtlCol="0">
            <a:spAutoFit/>
          </a:bodyPr>
          <a:lstStyle/>
          <a:p>
            <a:r>
              <a:rPr lang="en-GB" sz="2400" b="1" dirty="0">
                <a:solidFill>
                  <a:schemeClr val="accent2">
                    <a:lumMod val="60000"/>
                    <a:lumOff val="40000"/>
                  </a:schemeClr>
                </a:solidFill>
                <a:latin typeface="Century Gothic" panose="020B0502020202020204" pitchFamily="34" charset="0"/>
              </a:rPr>
              <a:t>Cu</a:t>
            </a:r>
            <a:r>
              <a:rPr lang="en-GB" sz="2400" b="1" baseline="30000" dirty="0">
                <a:solidFill>
                  <a:schemeClr val="accent2">
                    <a:lumMod val="60000"/>
                    <a:lumOff val="40000"/>
                  </a:schemeClr>
                </a:solidFill>
                <a:latin typeface="Century Gothic" panose="020B0502020202020204" pitchFamily="34" charset="0"/>
              </a:rPr>
              <a:t>2+		</a:t>
            </a:r>
            <a:r>
              <a:rPr lang="en-GB" sz="2400" b="1" dirty="0">
                <a:solidFill>
                  <a:schemeClr val="accent2">
                    <a:lumMod val="60000"/>
                    <a:lumOff val="40000"/>
                  </a:schemeClr>
                </a:solidFill>
                <a:latin typeface="Century Gothic" panose="020B0502020202020204" pitchFamily="34" charset="0"/>
              </a:rPr>
              <a:t>NO</a:t>
            </a:r>
            <a:r>
              <a:rPr lang="en-GB" sz="2400" b="1" baseline="-25000" dirty="0">
                <a:solidFill>
                  <a:schemeClr val="accent2">
                    <a:lumMod val="60000"/>
                    <a:lumOff val="40000"/>
                  </a:schemeClr>
                </a:solidFill>
                <a:latin typeface="Century Gothic" panose="020B0502020202020204" pitchFamily="34" charset="0"/>
              </a:rPr>
              <a:t>3</a:t>
            </a:r>
            <a:r>
              <a:rPr lang="en-GB" sz="3200" b="1" baseline="30000" dirty="0">
                <a:solidFill>
                  <a:schemeClr val="accent2">
                    <a:lumMod val="60000"/>
                    <a:lumOff val="40000"/>
                  </a:schemeClr>
                </a:solidFill>
                <a:latin typeface="Century Gothic" panose="020B0502020202020204" pitchFamily="34" charset="0"/>
              </a:rPr>
              <a:t>-</a:t>
            </a:r>
            <a:endParaRPr lang="en-GB" sz="2400" b="1" baseline="30000" dirty="0">
              <a:solidFill>
                <a:schemeClr val="accent2">
                  <a:lumMod val="60000"/>
                  <a:lumOff val="40000"/>
                </a:schemeClr>
              </a:solidFill>
              <a:latin typeface="Century Gothic" panose="020B0502020202020204" pitchFamily="34" charset="0"/>
            </a:endParaRPr>
          </a:p>
        </p:txBody>
      </p:sp>
      <p:sp>
        <p:nvSpPr>
          <p:cNvPr id="11" name="TextBox 10">
            <a:extLst>
              <a:ext uri="{FF2B5EF4-FFF2-40B4-BE49-F238E27FC236}">
                <a16:creationId xmlns:a16="http://schemas.microsoft.com/office/drawing/2014/main" id="{469517FF-355F-F808-A9C7-C9248DC7033C}"/>
              </a:ext>
            </a:extLst>
          </p:cNvPr>
          <p:cNvSpPr txBox="1"/>
          <p:nvPr/>
        </p:nvSpPr>
        <p:spPr>
          <a:xfrm>
            <a:off x="2985119" y="1248843"/>
            <a:ext cx="357790" cy="461665"/>
          </a:xfrm>
          <a:prstGeom prst="rect">
            <a:avLst/>
          </a:prstGeom>
          <a:noFill/>
        </p:spPr>
        <p:txBody>
          <a:bodyPr wrap="none" rtlCol="0">
            <a:spAutoFit/>
          </a:bodyPr>
          <a:lstStyle/>
          <a:p>
            <a:r>
              <a:rPr lang="en-GB" sz="2400" b="1" dirty="0">
                <a:solidFill>
                  <a:srgbClr val="7030A0"/>
                </a:solidFill>
                <a:latin typeface="Century Gothic" panose="020B0502020202020204" pitchFamily="34" charset="0"/>
              </a:rPr>
              <a:t>1</a:t>
            </a:r>
          </a:p>
        </p:txBody>
      </p:sp>
      <p:sp>
        <p:nvSpPr>
          <p:cNvPr id="12" name="TextBox 11">
            <a:extLst>
              <a:ext uri="{FF2B5EF4-FFF2-40B4-BE49-F238E27FC236}">
                <a16:creationId xmlns:a16="http://schemas.microsoft.com/office/drawing/2014/main" id="{6E6D6060-CEA7-2451-2AF3-5284AF5F2B35}"/>
              </a:ext>
            </a:extLst>
          </p:cNvPr>
          <p:cNvSpPr txBox="1"/>
          <p:nvPr/>
        </p:nvSpPr>
        <p:spPr>
          <a:xfrm>
            <a:off x="4846012" y="1229286"/>
            <a:ext cx="357790" cy="461665"/>
          </a:xfrm>
          <a:prstGeom prst="rect">
            <a:avLst/>
          </a:prstGeom>
          <a:noFill/>
        </p:spPr>
        <p:txBody>
          <a:bodyPr wrap="none" rtlCol="0">
            <a:spAutoFit/>
          </a:bodyPr>
          <a:lstStyle/>
          <a:p>
            <a:r>
              <a:rPr lang="en-GB" sz="2400" b="1" dirty="0">
                <a:solidFill>
                  <a:srgbClr val="7030A0"/>
                </a:solidFill>
                <a:latin typeface="Century Gothic" panose="020B0502020202020204" pitchFamily="34" charset="0"/>
              </a:rPr>
              <a:t>1</a:t>
            </a:r>
          </a:p>
        </p:txBody>
      </p:sp>
      <p:sp>
        <p:nvSpPr>
          <p:cNvPr id="13" name="TextBox 12">
            <a:extLst>
              <a:ext uri="{FF2B5EF4-FFF2-40B4-BE49-F238E27FC236}">
                <a16:creationId xmlns:a16="http://schemas.microsoft.com/office/drawing/2014/main" id="{5EDCFDBB-1259-B418-DE50-00132478F61F}"/>
              </a:ext>
            </a:extLst>
          </p:cNvPr>
          <p:cNvSpPr txBox="1"/>
          <p:nvPr/>
        </p:nvSpPr>
        <p:spPr>
          <a:xfrm>
            <a:off x="2985119" y="1763162"/>
            <a:ext cx="357790" cy="461665"/>
          </a:xfrm>
          <a:prstGeom prst="rect">
            <a:avLst/>
          </a:prstGeom>
          <a:noFill/>
        </p:spPr>
        <p:txBody>
          <a:bodyPr wrap="none" rtlCol="0">
            <a:spAutoFit/>
          </a:bodyPr>
          <a:lstStyle/>
          <a:p>
            <a:r>
              <a:rPr lang="en-GB" sz="2400" b="1" dirty="0">
                <a:solidFill>
                  <a:srgbClr val="7030A0"/>
                </a:solidFill>
                <a:latin typeface="Century Gothic" panose="020B0502020202020204" pitchFamily="34" charset="0"/>
              </a:rPr>
              <a:t>1</a:t>
            </a:r>
          </a:p>
        </p:txBody>
      </p:sp>
      <p:sp>
        <p:nvSpPr>
          <p:cNvPr id="14" name="TextBox 13">
            <a:extLst>
              <a:ext uri="{FF2B5EF4-FFF2-40B4-BE49-F238E27FC236}">
                <a16:creationId xmlns:a16="http://schemas.microsoft.com/office/drawing/2014/main" id="{DD6AB334-25B3-FC99-3BE2-42071658D80A}"/>
              </a:ext>
            </a:extLst>
          </p:cNvPr>
          <p:cNvSpPr txBox="1"/>
          <p:nvPr/>
        </p:nvSpPr>
        <p:spPr>
          <a:xfrm>
            <a:off x="4846012" y="1743605"/>
            <a:ext cx="357790" cy="461665"/>
          </a:xfrm>
          <a:prstGeom prst="rect">
            <a:avLst/>
          </a:prstGeom>
          <a:noFill/>
        </p:spPr>
        <p:txBody>
          <a:bodyPr wrap="none" rtlCol="0">
            <a:spAutoFit/>
          </a:bodyPr>
          <a:lstStyle/>
          <a:p>
            <a:r>
              <a:rPr lang="en-GB" sz="2400" b="1" dirty="0">
                <a:solidFill>
                  <a:srgbClr val="7030A0"/>
                </a:solidFill>
                <a:latin typeface="Century Gothic" panose="020B0502020202020204" pitchFamily="34" charset="0"/>
              </a:rPr>
              <a:t>1</a:t>
            </a:r>
          </a:p>
        </p:txBody>
      </p:sp>
      <p:sp>
        <p:nvSpPr>
          <p:cNvPr id="15" name="TextBox 14">
            <a:extLst>
              <a:ext uri="{FF2B5EF4-FFF2-40B4-BE49-F238E27FC236}">
                <a16:creationId xmlns:a16="http://schemas.microsoft.com/office/drawing/2014/main" id="{84B6C2FA-2E92-6507-C965-5439906D9166}"/>
              </a:ext>
            </a:extLst>
          </p:cNvPr>
          <p:cNvSpPr txBox="1"/>
          <p:nvPr/>
        </p:nvSpPr>
        <p:spPr>
          <a:xfrm>
            <a:off x="2987790" y="2315023"/>
            <a:ext cx="357790" cy="461665"/>
          </a:xfrm>
          <a:prstGeom prst="rect">
            <a:avLst/>
          </a:prstGeom>
          <a:noFill/>
        </p:spPr>
        <p:txBody>
          <a:bodyPr wrap="none" rtlCol="0">
            <a:spAutoFit/>
          </a:bodyPr>
          <a:lstStyle/>
          <a:p>
            <a:r>
              <a:rPr lang="en-GB" sz="2400" b="1" dirty="0">
                <a:solidFill>
                  <a:srgbClr val="7030A0"/>
                </a:solidFill>
                <a:latin typeface="Century Gothic" panose="020B0502020202020204" pitchFamily="34" charset="0"/>
              </a:rPr>
              <a:t>2</a:t>
            </a:r>
          </a:p>
        </p:txBody>
      </p:sp>
      <p:sp>
        <p:nvSpPr>
          <p:cNvPr id="16" name="TextBox 15">
            <a:extLst>
              <a:ext uri="{FF2B5EF4-FFF2-40B4-BE49-F238E27FC236}">
                <a16:creationId xmlns:a16="http://schemas.microsoft.com/office/drawing/2014/main" id="{A52035F3-8A7E-9581-EA7A-E4BE55CCCA82}"/>
              </a:ext>
            </a:extLst>
          </p:cNvPr>
          <p:cNvSpPr txBox="1"/>
          <p:nvPr/>
        </p:nvSpPr>
        <p:spPr>
          <a:xfrm>
            <a:off x="4848683" y="2295466"/>
            <a:ext cx="357790" cy="461665"/>
          </a:xfrm>
          <a:prstGeom prst="rect">
            <a:avLst/>
          </a:prstGeom>
          <a:noFill/>
        </p:spPr>
        <p:txBody>
          <a:bodyPr wrap="none" rtlCol="0">
            <a:spAutoFit/>
          </a:bodyPr>
          <a:lstStyle/>
          <a:p>
            <a:r>
              <a:rPr lang="en-GB" sz="2400" b="1" dirty="0">
                <a:solidFill>
                  <a:srgbClr val="7030A0"/>
                </a:solidFill>
                <a:latin typeface="Century Gothic" panose="020B0502020202020204" pitchFamily="34" charset="0"/>
              </a:rPr>
              <a:t>1</a:t>
            </a:r>
          </a:p>
        </p:txBody>
      </p:sp>
      <p:sp>
        <p:nvSpPr>
          <p:cNvPr id="17" name="TextBox 16">
            <a:extLst>
              <a:ext uri="{FF2B5EF4-FFF2-40B4-BE49-F238E27FC236}">
                <a16:creationId xmlns:a16="http://schemas.microsoft.com/office/drawing/2014/main" id="{61C663EA-FBF3-C262-FBCA-984B2AFC38A1}"/>
              </a:ext>
            </a:extLst>
          </p:cNvPr>
          <p:cNvSpPr txBox="1"/>
          <p:nvPr/>
        </p:nvSpPr>
        <p:spPr>
          <a:xfrm>
            <a:off x="8270307" y="1235885"/>
            <a:ext cx="357790" cy="461665"/>
          </a:xfrm>
          <a:prstGeom prst="rect">
            <a:avLst/>
          </a:prstGeom>
          <a:noFill/>
        </p:spPr>
        <p:txBody>
          <a:bodyPr wrap="none" rtlCol="0">
            <a:spAutoFit/>
          </a:bodyPr>
          <a:lstStyle/>
          <a:p>
            <a:r>
              <a:rPr lang="en-GB" sz="2400" b="1" dirty="0">
                <a:solidFill>
                  <a:srgbClr val="7030A0"/>
                </a:solidFill>
                <a:latin typeface="Century Gothic" panose="020B0502020202020204" pitchFamily="34" charset="0"/>
              </a:rPr>
              <a:t>2</a:t>
            </a:r>
          </a:p>
        </p:txBody>
      </p:sp>
      <p:sp>
        <p:nvSpPr>
          <p:cNvPr id="18" name="TextBox 17">
            <a:extLst>
              <a:ext uri="{FF2B5EF4-FFF2-40B4-BE49-F238E27FC236}">
                <a16:creationId xmlns:a16="http://schemas.microsoft.com/office/drawing/2014/main" id="{E54417D2-FB0A-33C0-E076-FF66338A338D}"/>
              </a:ext>
            </a:extLst>
          </p:cNvPr>
          <p:cNvSpPr txBox="1"/>
          <p:nvPr/>
        </p:nvSpPr>
        <p:spPr>
          <a:xfrm>
            <a:off x="10131200" y="1216328"/>
            <a:ext cx="357790" cy="461665"/>
          </a:xfrm>
          <a:prstGeom prst="rect">
            <a:avLst/>
          </a:prstGeom>
          <a:noFill/>
        </p:spPr>
        <p:txBody>
          <a:bodyPr wrap="none" rtlCol="0">
            <a:spAutoFit/>
          </a:bodyPr>
          <a:lstStyle/>
          <a:p>
            <a:r>
              <a:rPr lang="en-GB" sz="2400" b="1" dirty="0">
                <a:solidFill>
                  <a:srgbClr val="7030A0"/>
                </a:solidFill>
                <a:latin typeface="Century Gothic" panose="020B0502020202020204" pitchFamily="34" charset="0"/>
              </a:rPr>
              <a:t>1</a:t>
            </a:r>
          </a:p>
        </p:txBody>
      </p:sp>
      <p:sp>
        <p:nvSpPr>
          <p:cNvPr id="19" name="TextBox 18">
            <a:extLst>
              <a:ext uri="{FF2B5EF4-FFF2-40B4-BE49-F238E27FC236}">
                <a16:creationId xmlns:a16="http://schemas.microsoft.com/office/drawing/2014/main" id="{5A3F3BAF-39C9-D5BA-3E04-3059810CA08C}"/>
              </a:ext>
            </a:extLst>
          </p:cNvPr>
          <p:cNvSpPr txBox="1"/>
          <p:nvPr/>
        </p:nvSpPr>
        <p:spPr>
          <a:xfrm>
            <a:off x="8270307" y="1829939"/>
            <a:ext cx="357790" cy="461665"/>
          </a:xfrm>
          <a:prstGeom prst="rect">
            <a:avLst/>
          </a:prstGeom>
          <a:noFill/>
        </p:spPr>
        <p:txBody>
          <a:bodyPr wrap="none" rtlCol="0">
            <a:spAutoFit/>
          </a:bodyPr>
          <a:lstStyle/>
          <a:p>
            <a:r>
              <a:rPr lang="en-GB" sz="2400" b="1" dirty="0">
                <a:solidFill>
                  <a:srgbClr val="7030A0"/>
                </a:solidFill>
                <a:latin typeface="Century Gothic" panose="020B0502020202020204" pitchFamily="34" charset="0"/>
              </a:rPr>
              <a:t>1</a:t>
            </a:r>
          </a:p>
        </p:txBody>
      </p:sp>
      <p:sp>
        <p:nvSpPr>
          <p:cNvPr id="20" name="TextBox 19">
            <a:extLst>
              <a:ext uri="{FF2B5EF4-FFF2-40B4-BE49-F238E27FC236}">
                <a16:creationId xmlns:a16="http://schemas.microsoft.com/office/drawing/2014/main" id="{0C510F80-5510-FC79-5F0D-C86171E89496}"/>
              </a:ext>
            </a:extLst>
          </p:cNvPr>
          <p:cNvSpPr txBox="1"/>
          <p:nvPr/>
        </p:nvSpPr>
        <p:spPr>
          <a:xfrm>
            <a:off x="10131200" y="1849812"/>
            <a:ext cx="357790" cy="461665"/>
          </a:xfrm>
          <a:prstGeom prst="rect">
            <a:avLst/>
          </a:prstGeom>
          <a:noFill/>
        </p:spPr>
        <p:txBody>
          <a:bodyPr wrap="none" rtlCol="0">
            <a:spAutoFit/>
          </a:bodyPr>
          <a:lstStyle/>
          <a:p>
            <a:r>
              <a:rPr lang="en-GB" sz="2400" b="1" dirty="0">
                <a:solidFill>
                  <a:srgbClr val="7030A0"/>
                </a:solidFill>
                <a:latin typeface="Century Gothic" panose="020B0502020202020204" pitchFamily="34" charset="0"/>
              </a:rPr>
              <a:t>2</a:t>
            </a:r>
          </a:p>
        </p:txBody>
      </p:sp>
      <p:sp>
        <p:nvSpPr>
          <p:cNvPr id="25" name="TextBox 24">
            <a:extLst>
              <a:ext uri="{FF2B5EF4-FFF2-40B4-BE49-F238E27FC236}">
                <a16:creationId xmlns:a16="http://schemas.microsoft.com/office/drawing/2014/main" id="{4E0D93CB-9BF9-8C8D-1E57-FFC5193BF6D1}"/>
              </a:ext>
            </a:extLst>
          </p:cNvPr>
          <p:cNvSpPr txBox="1"/>
          <p:nvPr/>
        </p:nvSpPr>
        <p:spPr>
          <a:xfrm>
            <a:off x="6136709" y="1125892"/>
            <a:ext cx="2282757" cy="1130118"/>
          </a:xfrm>
          <a:prstGeom prst="rect">
            <a:avLst/>
          </a:prstGeom>
          <a:noFill/>
        </p:spPr>
        <p:txBody>
          <a:bodyPr wrap="square">
            <a:spAutoFit/>
          </a:bodyPr>
          <a:lstStyle/>
          <a:p>
            <a:pPr>
              <a:lnSpc>
                <a:spcPct val="150000"/>
              </a:lnSpc>
            </a:pPr>
            <a:r>
              <a:rPr lang="en-GB" sz="2400" dirty="0">
                <a:latin typeface="Century Gothic" panose="020B0502020202020204" pitchFamily="34" charset="0"/>
              </a:rPr>
              <a:t>4. H</a:t>
            </a:r>
            <a:r>
              <a:rPr lang="en-GB" sz="2400" baseline="-25000" dirty="0">
                <a:latin typeface="Century Gothic" panose="020B0502020202020204" pitchFamily="34" charset="0"/>
              </a:rPr>
              <a:t>2</a:t>
            </a:r>
            <a:r>
              <a:rPr lang="en-GB" sz="2400" dirty="0">
                <a:latin typeface="Century Gothic" panose="020B0502020202020204" pitchFamily="34" charset="0"/>
              </a:rPr>
              <a:t>SO</a:t>
            </a:r>
            <a:r>
              <a:rPr lang="en-GB" sz="2400" baseline="-25000" dirty="0">
                <a:latin typeface="Century Gothic" panose="020B0502020202020204" pitchFamily="34" charset="0"/>
              </a:rPr>
              <a:t>4</a:t>
            </a:r>
          </a:p>
          <a:p>
            <a:pPr>
              <a:lnSpc>
                <a:spcPct val="150000"/>
              </a:lnSpc>
            </a:pPr>
            <a:r>
              <a:rPr lang="en-GB" sz="2400" dirty="0">
                <a:latin typeface="Century Gothic" panose="020B0502020202020204" pitchFamily="34" charset="0"/>
              </a:rPr>
              <a:t>5. Cu(NO</a:t>
            </a:r>
            <a:r>
              <a:rPr lang="en-GB" sz="2400" baseline="-25000" dirty="0">
                <a:latin typeface="Century Gothic" panose="020B0502020202020204" pitchFamily="34" charset="0"/>
              </a:rPr>
              <a:t>3</a:t>
            </a:r>
            <a:r>
              <a:rPr lang="en-GB" sz="2400" dirty="0">
                <a:latin typeface="Century Gothic" panose="020B0502020202020204" pitchFamily="34" charset="0"/>
              </a:rPr>
              <a:t>)</a:t>
            </a:r>
            <a:r>
              <a:rPr lang="en-GB" sz="2400" baseline="-25000" dirty="0">
                <a:latin typeface="Century Gothic" panose="020B0502020202020204" pitchFamily="34" charset="0"/>
              </a:rPr>
              <a:t>2</a:t>
            </a:r>
          </a:p>
        </p:txBody>
      </p:sp>
      <p:sp>
        <p:nvSpPr>
          <p:cNvPr id="26" name="Title 1">
            <a:extLst>
              <a:ext uri="{FF2B5EF4-FFF2-40B4-BE49-F238E27FC236}">
                <a16:creationId xmlns:a16="http://schemas.microsoft.com/office/drawing/2014/main" id="{818CC287-6EFE-9C18-B726-DCDBE8D6B092}"/>
              </a:ext>
            </a:extLst>
          </p:cNvPr>
          <p:cNvSpPr txBox="1">
            <a:spLocks/>
          </p:cNvSpPr>
          <p:nvPr/>
        </p:nvSpPr>
        <p:spPr>
          <a:xfrm>
            <a:off x="245651" y="2598176"/>
            <a:ext cx="10620000" cy="720000"/>
          </a:xfrm>
          <a:prstGeom prst="rect">
            <a:avLst/>
          </a:prstGeom>
        </p:spPr>
        <p:txBody>
          <a:bodyPr vert="horz" lIns="0" tIns="0" rIns="0" bIns="0" rtlCol="0" anchor="b" anchorCtr="0">
            <a:normAutofit/>
          </a:bodyPr>
          <a:lstStyle>
            <a:lvl1pPr algn="l" defTabSz="914400" rtl="0" eaLnBrk="1" latinLnBrk="0" hangingPunct="1">
              <a:lnSpc>
                <a:spcPct val="90000"/>
              </a:lnSpc>
              <a:spcBef>
                <a:spcPct val="0"/>
              </a:spcBef>
              <a:buNone/>
              <a:defRPr sz="2600" b="1" kern="1200">
                <a:solidFill>
                  <a:schemeClr val="tx1"/>
                </a:solidFill>
                <a:latin typeface="Arial" panose="020B0604020202020204" pitchFamily="34" charset="0"/>
                <a:ea typeface="+mj-ea"/>
                <a:cs typeface="Arial" panose="020B0604020202020204" pitchFamily="34" charset="0"/>
              </a:defRPr>
            </a:lvl1pPr>
          </a:lstStyle>
          <a:p>
            <a:r>
              <a:rPr lang="en-US" sz="2400" dirty="0">
                <a:latin typeface="Century Gothic" panose="020B0502020202020204" pitchFamily="34" charset="0"/>
              </a:rPr>
              <a:t>(c) Complete the table below.</a:t>
            </a:r>
            <a:endParaRPr lang="en-GB" dirty="0"/>
          </a:p>
        </p:txBody>
      </p:sp>
      <p:graphicFrame>
        <p:nvGraphicFramePr>
          <p:cNvPr id="27" name="Table 3">
            <a:extLst>
              <a:ext uri="{FF2B5EF4-FFF2-40B4-BE49-F238E27FC236}">
                <a16:creationId xmlns:a16="http://schemas.microsoft.com/office/drawing/2014/main" id="{625410FD-B729-881F-00D5-F8E0CAA721AA}"/>
              </a:ext>
            </a:extLst>
          </p:cNvPr>
          <p:cNvGraphicFramePr>
            <a:graphicFrameLocks noGrp="1"/>
          </p:cNvGraphicFramePr>
          <p:nvPr/>
        </p:nvGraphicFramePr>
        <p:xfrm>
          <a:off x="245651" y="3513148"/>
          <a:ext cx="10620000" cy="3108960"/>
        </p:xfrm>
        <a:graphic>
          <a:graphicData uri="http://schemas.openxmlformats.org/drawingml/2006/table">
            <a:tbl>
              <a:tblPr firstRow="1" bandRow="1">
                <a:tableStyleId>{5940675A-B579-460E-94D1-54222C63F5DA}</a:tableStyleId>
              </a:tblPr>
              <a:tblGrid>
                <a:gridCol w="1310571">
                  <a:extLst>
                    <a:ext uri="{9D8B030D-6E8A-4147-A177-3AD203B41FA5}">
                      <a16:colId xmlns:a16="http://schemas.microsoft.com/office/drawing/2014/main" val="2992347426"/>
                    </a:ext>
                  </a:extLst>
                </a:gridCol>
                <a:gridCol w="1371600">
                  <a:extLst>
                    <a:ext uri="{9D8B030D-6E8A-4147-A177-3AD203B41FA5}">
                      <a16:colId xmlns:a16="http://schemas.microsoft.com/office/drawing/2014/main" val="4196544052"/>
                    </a:ext>
                  </a:extLst>
                </a:gridCol>
                <a:gridCol w="5282829">
                  <a:extLst>
                    <a:ext uri="{9D8B030D-6E8A-4147-A177-3AD203B41FA5}">
                      <a16:colId xmlns:a16="http://schemas.microsoft.com/office/drawing/2014/main" val="506603736"/>
                    </a:ext>
                  </a:extLst>
                </a:gridCol>
                <a:gridCol w="2655000">
                  <a:extLst>
                    <a:ext uri="{9D8B030D-6E8A-4147-A177-3AD203B41FA5}">
                      <a16:colId xmlns:a16="http://schemas.microsoft.com/office/drawing/2014/main" val="2605022468"/>
                    </a:ext>
                  </a:extLst>
                </a:gridCol>
              </a:tblGrid>
              <a:tr h="370840">
                <a:tc>
                  <a:txBody>
                    <a:bodyPr/>
                    <a:lstStyle/>
                    <a:p>
                      <a:r>
                        <a:rPr lang="en-GB" sz="2400" b="1" dirty="0">
                          <a:latin typeface="Century Gothic" panose="020B0502020202020204" pitchFamily="34" charset="0"/>
                        </a:rPr>
                        <a:t>A</a:t>
                      </a:r>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400" b="1" dirty="0">
                          <a:latin typeface="Century Gothic" panose="020B0502020202020204" pitchFamily="34" charset="0"/>
                        </a:rPr>
                        <a:t>B</a:t>
                      </a:r>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400" b="1" dirty="0">
                          <a:latin typeface="Century Gothic" panose="020B0502020202020204" pitchFamily="34" charset="0"/>
                        </a:rPr>
                        <a:t>Would A need to </a:t>
                      </a:r>
                      <a:r>
                        <a:rPr lang="en-GB" sz="2400" b="1" u="sng" dirty="0">
                          <a:latin typeface="Century Gothic" panose="020B0502020202020204" pitchFamily="34" charset="0"/>
                        </a:rPr>
                        <a:t>gain</a:t>
                      </a:r>
                      <a:r>
                        <a:rPr lang="en-GB" sz="2400" b="1" dirty="0">
                          <a:latin typeface="Century Gothic" panose="020B0502020202020204" pitchFamily="34" charset="0"/>
                        </a:rPr>
                        <a:t> or </a:t>
                      </a:r>
                      <a:r>
                        <a:rPr lang="en-GB" sz="2400" b="1" u="sng" dirty="0">
                          <a:latin typeface="Century Gothic" panose="020B0502020202020204" pitchFamily="34" charset="0"/>
                        </a:rPr>
                        <a:t>lose</a:t>
                      </a:r>
                      <a:r>
                        <a:rPr lang="en-GB" sz="2400" b="1" dirty="0">
                          <a:latin typeface="Century Gothic" panose="020B0502020202020204" pitchFamily="34" charset="0"/>
                        </a:rPr>
                        <a:t> electrons to become B?</a:t>
                      </a:r>
                    </a:p>
                  </a:txBody>
                  <a:tcP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400" b="1" dirty="0">
                          <a:latin typeface="Century Gothic" panose="020B0502020202020204" pitchFamily="34" charset="0"/>
                        </a:rPr>
                        <a:t>How many electrons?</a:t>
                      </a:r>
                    </a:p>
                  </a:txBody>
                  <a:tcPr>
                    <a:solidFill>
                      <a:schemeClr val="accent1">
                        <a:lumMod val="20000"/>
                        <a:lumOff val="80000"/>
                      </a:schemeClr>
                    </a:solidFill>
                  </a:tcPr>
                </a:tc>
                <a:extLst>
                  <a:ext uri="{0D108BD9-81ED-4DB2-BD59-A6C34878D82A}">
                    <a16:rowId xmlns:a16="http://schemas.microsoft.com/office/drawing/2014/main" val="2550107700"/>
                  </a:ext>
                </a:extLst>
              </a:tr>
              <a:tr h="370840">
                <a:tc>
                  <a:txBody>
                    <a:bodyPr/>
                    <a:lstStyle/>
                    <a:p>
                      <a:r>
                        <a:rPr lang="en-GB" sz="2400" dirty="0">
                          <a:latin typeface="Century Gothic" panose="020B0502020202020204" pitchFamily="34" charset="0"/>
                        </a:rPr>
                        <a:t>H</a:t>
                      </a:r>
                      <a:r>
                        <a:rPr lang="en-GB" sz="2400" baseline="-25000" dirty="0">
                          <a:latin typeface="Century Gothic" panose="020B0502020202020204" pitchFamily="34" charset="0"/>
                        </a:rPr>
                        <a:t>(g)</a:t>
                      </a:r>
                    </a:p>
                  </a:txBody>
                  <a:tcPr>
                    <a:solidFill>
                      <a:schemeClr val="bg1"/>
                    </a:solidFill>
                  </a:tcPr>
                </a:tc>
                <a:tc>
                  <a:txBody>
                    <a:bodyPr/>
                    <a:lstStyle/>
                    <a:p>
                      <a:r>
                        <a:rPr lang="en-GB" sz="2400" dirty="0">
                          <a:latin typeface="Century Gothic" panose="020B0502020202020204" pitchFamily="34" charset="0"/>
                        </a:rPr>
                        <a:t>H</a:t>
                      </a:r>
                      <a:r>
                        <a:rPr lang="en-GB" sz="2400" baseline="30000" dirty="0">
                          <a:latin typeface="Century Gothic" panose="020B0502020202020204" pitchFamily="34" charset="0"/>
                        </a:rPr>
                        <a:t>+</a:t>
                      </a:r>
                      <a:r>
                        <a:rPr lang="en-GB" sz="2400" baseline="-25000" dirty="0">
                          <a:latin typeface="Century Gothic" panose="020B0502020202020204" pitchFamily="34" charset="0"/>
                        </a:rPr>
                        <a:t>(aq)</a:t>
                      </a:r>
                    </a:p>
                  </a:txBody>
                  <a:tcPr>
                    <a:solidFill>
                      <a:schemeClr val="bg1"/>
                    </a:solidFill>
                  </a:tcPr>
                </a:tc>
                <a:tc>
                  <a:txBody>
                    <a:bodyPr/>
                    <a:lstStyle/>
                    <a:p>
                      <a:endParaRPr lang="en-GB" sz="2400" dirty="0">
                        <a:latin typeface="Century Gothic" panose="020B0502020202020204" pitchFamily="34" charset="0"/>
                      </a:endParaRPr>
                    </a:p>
                  </a:txBody>
                  <a:tcPr>
                    <a:solidFill>
                      <a:schemeClr val="bg1"/>
                    </a:solidFill>
                  </a:tcPr>
                </a:tc>
                <a:tc>
                  <a:txBody>
                    <a:bodyPr/>
                    <a:lstStyle/>
                    <a:p>
                      <a:endParaRPr lang="en-GB" sz="2400" dirty="0">
                        <a:latin typeface="Century Gothic" panose="020B0502020202020204" pitchFamily="34" charset="0"/>
                      </a:endParaRPr>
                    </a:p>
                  </a:txBody>
                  <a:tcPr>
                    <a:solidFill>
                      <a:schemeClr val="bg1"/>
                    </a:solidFill>
                  </a:tcPr>
                </a:tc>
                <a:extLst>
                  <a:ext uri="{0D108BD9-81ED-4DB2-BD59-A6C34878D82A}">
                    <a16:rowId xmlns:a16="http://schemas.microsoft.com/office/drawing/2014/main" val="1913163681"/>
                  </a:ext>
                </a:extLst>
              </a:tr>
              <a:tr h="370840">
                <a:tc>
                  <a:txBody>
                    <a:bodyPr/>
                    <a:lstStyle/>
                    <a:p>
                      <a:r>
                        <a:rPr lang="en-GB" sz="2400" dirty="0">
                          <a:latin typeface="Century Gothic" panose="020B0502020202020204" pitchFamily="34" charset="0"/>
                        </a:rPr>
                        <a:t>Na</a:t>
                      </a:r>
                      <a:r>
                        <a:rPr lang="en-GB" sz="2400" baseline="30000" dirty="0">
                          <a:latin typeface="Century Gothic" panose="020B0502020202020204" pitchFamily="34" charset="0"/>
                        </a:rPr>
                        <a:t>+</a:t>
                      </a:r>
                      <a:r>
                        <a:rPr lang="en-GB" sz="2400" baseline="-25000" dirty="0">
                          <a:latin typeface="Century Gothic" panose="020B0502020202020204" pitchFamily="34" charset="0"/>
                        </a:rPr>
                        <a:t>(aq)</a:t>
                      </a:r>
                    </a:p>
                  </a:txBody>
                  <a:tcPr>
                    <a:solidFill>
                      <a:schemeClr val="bg1"/>
                    </a:solidFill>
                  </a:tcPr>
                </a:tc>
                <a:tc>
                  <a:txBody>
                    <a:bodyPr/>
                    <a:lstStyle/>
                    <a:p>
                      <a:r>
                        <a:rPr lang="en-GB" sz="2400" dirty="0">
                          <a:latin typeface="Century Gothic" panose="020B0502020202020204" pitchFamily="34" charset="0"/>
                        </a:rPr>
                        <a:t>Na</a:t>
                      </a:r>
                      <a:r>
                        <a:rPr lang="en-GB" sz="2400" baseline="-25000" dirty="0">
                          <a:latin typeface="Century Gothic" panose="020B0502020202020204" pitchFamily="34" charset="0"/>
                        </a:rPr>
                        <a:t>(s)</a:t>
                      </a:r>
                    </a:p>
                  </a:txBody>
                  <a:tcPr>
                    <a:solidFill>
                      <a:schemeClr val="bg1"/>
                    </a:solidFill>
                  </a:tcPr>
                </a:tc>
                <a:tc>
                  <a:txBody>
                    <a:bodyPr/>
                    <a:lstStyle/>
                    <a:p>
                      <a:endParaRPr lang="en-GB" sz="2400" dirty="0">
                        <a:latin typeface="Century Gothic" panose="020B0502020202020204" pitchFamily="34" charset="0"/>
                      </a:endParaRPr>
                    </a:p>
                  </a:txBody>
                  <a:tcPr>
                    <a:solidFill>
                      <a:schemeClr val="bg1"/>
                    </a:solidFill>
                  </a:tcPr>
                </a:tc>
                <a:tc>
                  <a:txBody>
                    <a:bodyPr/>
                    <a:lstStyle/>
                    <a:p>
                      <a:endParaRPr lang="en-GB" sz="2400" dirty="0">
                        <a:latin typeface="Century Gothic" panose="020B0502020202020204" pitchFamily="34" charset="0"/>
                      </a:endParaRPr>
                    </a:p>
                  </a:txBody>
                  <a:tcPr>
                    <a:solidFill>
                      <a:schemeClr val="bg1"/>
                    </a:solidFill>
                  </a:tcPr>
                </a:tc>
                <a:extLst>
                  <a:ext uri="{0D108BD9-81ED-4DB2-BD59-A6C34878D82A}">
                    <a16:rowId xmlns:a16="http://schemas.microsoft.com/office/drawing/2014/main" val="1872583232"/>
                  </a:ext>
                </a:extLst>
              </a:tr>
              <a:tr h="370840">
                <a:tc>
                  <a:txBody>
                    <a:bodyPr/>
                    <a:lstStyle/>
                    <a:p>
                      <a:r>
                        <a:rPr lang="en-GB" sz="2400" dirty="0">
                          <a:latin typeface="Century Gothic" panose="020B0502020202020204" pitchFamily="34" charset="0"/>
                        </a:rPr>
                        <a:t>Cl</a:t>
                      </a:r>
                      <a:r>
                        <a:rPr lang="en-GB" sz="2400" baseline="-25000" dirty="0">
                          <a:latin typeface="Century Gothic" panose="020B0502020202020204" pitchFamily="34" charset="0"/>
                        </a:rPr>
                        <a:t>2(g)</a:t>
                      </a:r>
                    </a:p>
                  </a:txBody>
                  <a:tcPr>
                    <a:solidFill>
                      <a:schemeClr val="bg1"/>
                    </a:solidFill>
                  </a:tcPr>
                </a:tc>
                <a:tc>
                  <a:txBody>
                    <a:bodyPr/>
                    <a:lstStyle/>
                    <a:p>
                      <a:r>
                        <a:rPr lang="en-GB" sz="2400" dirty="0">
                          <a:latin typeface="Century Gothic" panose="020B0502020202020204" pitchFamily="34" charset="0"/>
                        </a:rPr>
                        <a:t>2Cl</a:t>
                      </a:r>
                      <a:r>
                        <a:rPr lang="en-GB" sz="2400" baseline="30000" dirty="0">
                          <a:latin typeface="Century Gothic" panose="020B0502020202020204" pitchFamily="34" charset="0"/>
                        </a:rPr>
                        <a:t>-</a:t>
                      </a:r>
                      <a:r>
                        <a:rPr lang="en-GB" sz="2400" baseline="-25000" dirty="0">
                          <a:latin typeface="Century Gothic" panose="020B0502020202020204" pitchFamily="34" charset="0"/>
                        </a:rPr>
                        <a:t>(aq)</a:t>
                      </a:r>
                      <a:endParaRPr lang="en-GB" sz="2400" baseline="30000" dirty="0">
                        <a:latin typeface="Century Gothic" panose="020B0502020202020204" pitchFamily="34" charset="0"/>
                      </a:endParaRPr>
                    </a:p>
                  </a:txBody>
                  <a:tcPr>
                    <a:solidFill>
                      <a:schemeClr val="bg1"/>
                    </a:solidFill>
                  </a:tcPr>
                </a:tc>
                <a:tc>
                  <a:txBody>
                    <a:bodyPr/>
                    <a:lstStyle/>
                    <a:p>
                      <a:endParaRPr lang="en-GB" sz="2400" dirty="0">
                        <a:latin typeface="Century Gothic" panose="020B0502020202020204" pitchFamily="34" charset="0"/>
                      </a:endParaRPr>
                    </a:p>
                  </a:txBody>
                  <a:tcPr>
                    <a:solidFill>
                      <a:schemeClr val="bg1"/>
                    </a:solidFill>
                  </a:tcPr>
                </a:tc>
                <a:tc>
                  <a:txBody>
                    <a:bodyPr/>
                    <a:lstStyle/>
                    <a:p>
                      <a:endParaRPr lang="en-GB" sz="2400" dirty="0">
                        <a:latin typeface="Century Gothic" panose="020B0502020202020204" pitchFamily="34" charset="0"/>
                      </a:endParaRPr>
                    </a:p>
                  </a:txBody>
                  <a:tcPr>
                    <a:solidFill>
                      <a:schemeClr val="bg1"/>
                    </a:solidFill>
                  </a:tcPr>
                </a:tc>
                <a:extLst>
                  <a:ext uri="{0D108BD9-81ED-4DB2-BD59-A6C34878D82A}">
                    <a16:rowId xmlns:a16="http://schemas.microsoft.com/office/drawing/2014/main" val="2273464736"/>
                  </a:ext>
                </a:extLst>
              </a:tr>
              <a:tr h="370840">
                <a:tc>
                  <a:txBody>
                    <a:bodyPr/>
                    <a:lstStyle/>
                    <a:p>
                      <a:r>
                        <a:rPr lang="en-GB" sz="2400" dirty="0">
                          <a:latin typeface="Century Gothic" panose="020B0502020202020204" pitchFamily="34" charset="0"/>
                        </a:rPr>
                        <a:t>Cu</a:t>
                      </a:r>
                      <a:r>
                        <a:rPr lang="en-GB" sz="2400" baseline="30000" dirty="0">
                          <a:latin typeface="Century Gothic" panose="020B0502020202020204" pitchFamily="34" charset="0"/>
                        </a:rPr>
                        <a:t>2+</a:t>
                      </a:r>
                      <a:r>
                        <a:rPr lang="en-GB" sz="2400" baseline="-25000" dirty="0">
                          <a:latin typeface="Century Gothic" panose="020B0502020202020204" pitchFamily="34" charset="0"/>
                        </a:rPr>
                        <a:t>(aq)</a:t>
                      </a:r>
                    </a:p>
                  </a:txBody>
                  <a:tcPr>
                    <a:solidFill>
                      <a:schemeClr val="bg1"/>
                    </a:solidFill>
                  </a:tcPr>
                </a:tc>
                <a:tc>
                  <a:txBody>
                    <a:bodyPr/>
                    <a:lstStyle/>
                    <a:p>
                      <a:r>
                        <a:rPr lang="en-GB" sz="2400" dirty="0">
                          <a:latin typeface="Century Gothic" panose="020B0502020202020204" pitchFamily="34" charset="0"/>
                        </a:rPr>
                        <a:t>Cu</a:t>
                      </a:r>
                      <a:r>
                        <a:rPr lang="en-GB" sz="2400" baseline="-25000" dirty="0">
                          <a:latin typeface="Century Gothic" panose="020B0502020202020204" pitchFamily="34" charset="0"/>
                        </a:rPr>
                        <a:t>(s)</a:t>
                      </a:r>
                    </a:p>
                  </a:txBody>
                  <a:tcPr>
                    <a:solidFill>
                      <a:schemeClr val="bg1"/>
                    </a:solidFill>
                  </a:tcPr>
                </a:tc>
                <a:tc>
                  <a:txBody>
                    <a:bodyPr/>
                    <a:lstStyle/>
                    <a:p>
                      <a:endParaRPr lang="en-GB" sz="2400" dirty="0">
                        <a:latin typeface="Century Gothic" panose="020B0502020202020204" pitchFamily="34" charset="0"/>
                      </a:endParaRPr>
                    </a:p>
                  </a:txBody>
                  <a:tcPr>
                    <a:solidFill>
                      <a:schemeClr val="bg1"/>
                    </a:solidFill>
                  </a:tcPr>
                </a:tc>
                <a:tc>
                  <a:txBody>
                    <a:bodyPr/>
                    <a:lstStyle/>
                    <a:p>
                      <a:endParaRPr lang="en-GB" sz="2400" dirty="0">
                        <a:latin typeface="Century Gothic" panose="020B0502020202020204" pitchFamily="34" charset="0"/>
                      </a:endParaRPr>
                    </a:p>
                  </a:txBody>
                  <a:tcPr>
                    <a:solidFill>
                      <a:schemeClr val="bg1"/>
                    </a:solidFill>
                  </a:tcPr>
                </a:tc>
                <a:extLst>
                  <a:ext uri="{0D108BD9-81ED-4DB2-BD59-A6C34878D82A}">
                    <a16:rowId xmlns:a16="http://schemas.microsoft.com/office/drawing/2014/main" val="1654197482"/>
                  </a:ext>
                </a:extLst>
              </a:tr>
              <a:tr h="370840">
                <a:tc>
                  <a:txBody>
                    <a:bodyPr/>
                    <a:lstStyle/>
                    <a:p>
                      <a:r>
                        <a:rPr lang="en-GB" sz="2400" dirty="0">
                          <a:latin typeface="Century Gothic" panose="020B0502020202020204" pitchFamily="34" charset="0"/>
                        </a:rPr>
                        <a:t>Mg</a:t>
                      </a:r>
                      <a:r>
                        <a:rPr lang="en-GB" sz="2400" baseline="-25000" dirty="0">
                          <a:latin typeface="Century Gothic" panose="020B0502020202020204" pitchFamily="34" charset="0"/>
                        </a:rPr>
                        <a:t>(s)</a:t>
                      </a:r>
                    </a:p>
                  </a:txBody>
                  <a:tcPr>
                    <a:solidFill>
                      <a:schemeClr val="bg1"/>
                    </a:solidFill>
                  </a:tcPr>
                </a:tc>
                <a:tc>
                  <a:txBody>
                    <a:bodyPr/>
                    <a:lstStyle/>
                    <a:p>
                      <a:r>
                        <a:rPr lang="en-GB" sz="2400" dirty="0">
                          <a:latin typeface="Century Gothic" panose="020B0502020202020204" pitchFamily="34" charset="0"/>
                        </a:rPr>
                        <a:t>Mg</a:t>
                      </a:r>
                      <a:r>
                        <a:rPr lang="en-GB" sz="2400" baseline="30000" dirty="0">
                          <a:latin typeface="Century Gothic" panose="020B0502020202020204" pitchFamily="34" charset="0"/>
                        </a:rPr>
                        <a:t>2+</a:t>
                      </a:r>
                      <a:r>
                        <a:rPr lang="en-GB" sz="2400" baseline="-25000" dirty="0">
                          <a:latin typeface="Century Gothic" panose="020B0502020202020204" pitchFamily="34" charset="0"/>
                        </a:rPr>
                        <a:t>(aq)</a:t>
                      </a:r>
                      <a:endParaRPr lang="en-GB" sz="2400" dirty="0">
                        <a:latin typeface="Century Gothic" panose="020B0502020202020204" pitchFamily="34" charset="0"/>
                      </a:endParaRPr>
                    </a:p>
                  </a:txBody>
                  <a:tcPr>
                    <a:solidFill>
                      <a:schemeClr val="bg1"/>
                    </a:solidFill>
                  </a:tcPr>
                </a:tc>
                <a:tc>
                  <a:txBody>
                    <a:bodyPr/>
                    <a:lstStyle/>
                    <a:p>
                      <a:endParaRPr lang="en-GB" sz="2400" dirty="0">
                        <a:latin typeface="Century Gothic" panose="020B0502020202020204" pitchFamily="34" charset="0"/>
                      </a:endParaRPr>
                    </a:p>
                  </a:txBody>
                  <a:tcPr>
                    <a:solidFill>
                      <a:schemeClr val="bg1"/>
                    </a:solidFill>
                  </a:tcPr>
                </a:tc>
                <a:tc>
                  <a:txBody>
                    <a:bodyPr/>
                    <a:lstStyle/>
                    <a:p>
                      <a:endParaRPr lang="en-GB" sz="2400" dirty="0">
                        <a:latin typeface="Century Gothic" panose="020B0502020202020204" pitchFamily="34" charset="0"/>
                      </a:endParaRPr>
                    </a:p>
                  </a:txBody>
                  <a:tcPr>
                    <a:solidFill>
                      <a:schemeClr val="bg1"/>
                    </a:solidFill>
                  </a:tcPr>
                </a:tc>
                <a:extLst>
                  <a:ext uri="{0D108BD9-81ED-4DB2-BD59-A6C34878D82A}">
                    <a16:rowId xmlns:a16="http://schemas.microsoft.com/office/drawing/2014/main" val="1127639318"/>
                  </a:ext>
                </a:extLst>
              </a:tr>
            </a:tbl>
          </a:graphicData>
        </a:graphic>
      </p:graphicFrame>
      <p:sp>
        <p:nvSpPr>
          <p:cNvPr id="28" name="TextBox 27">
            <a:extLst>
              <a:ext uri="{FF2B5EF4-FFF2-40B4-BE49-F238E27FC236}">
                <a16:creationId xmlns:a16="http://schemas.microsoft.com/office/drawing/2014/main" id="{FBCCE285-1351-8A43-8DDB-393DAEA34FC7}"/>
              </a:ext>
            </a:extLst>
          </p:cNvPr>
          <p:cNvSpPr txBox="1"/>
          <p:nvPr/>
        </p:nvSpPr>
        <p:spPr>
          <a:xfrm>
            <a:off x="2949594" y="4338285"/>
            <a:ext cx="787395" cy="461665"/>
          </a:xfrm>
          <a:prstGeom prst="rect">
            <a:avLst/>
          </a:prstGeom>
          <a:noFill/>
        </p:spPr>
        <p:txBody>
          <a:bodyPr wrap="none" rtlCol="0">
            <a:spAutoFit/>
          </a:bodyPr>
          <a:lstStyle/>
          <a:p>
            <a:r>
              <a:rPr lang="en-GB" sz="2400" b="1" dirty="0">
                <a:solidFill>
                  <a:schemeClr val="accent2">
                    <a:lumMod val="60000"/>
                    <a:lumOff val="40000"/>
                  </a:schemeClr>
                </a:solidFill>
                <a:latin typeface="Century Gothic" panose="020B0502020202020204" pitchFamily="34" charset="0"/>
              </a:rPr>
              <a:t>lose</a:t>
            </a:r>
          </a:p>
        </p:txBody>
      </p:sp>
      <p:sp>
        <p:nvSpPr>
          <p:cNvPr id="29" name="TextBox 28">
            <a:extLst>
              <a:ext uri="{FF2B5EF4-FFF2-40B4-BE49-F238E27FC236}">
                <a16:creationId xmlns:a16="http://schemas.microsoft.com/office/drawing/2014/main" id="{FD61EB98-68D6-45A5-56D0-EA259B0F120C}"/>
              </a:ext>
            </a:extLst>
          </p:cNvPr>
          <p:cNvSpPr txBox="1"/>
          <p:nvPr/>
        </p:nvSpPr>
        <p:spPr>
          <a:xfrm>
            <a:off x="2949593" y="6160443"/>
            <a:ext cx="787395" cy="461665"/>
          </a:xfrm>
          <a:prstGeom prst="rect">
            <a:avLst/>
          </a:prstGeom>
          <a:noFill/>
        </p:spPr>
        <p:txBody>
          <a:bodyPr wrap="none" rtlCol="0">
            <a:spAutoFit/>
          </a:bodyPr>
          <a:lstStyle/>
          <a:p>
            <a:r>
              <a:rPr lang="en-GB" sz="2400" b="1" dirty="0">
                <a:solidFill>
                  <a:schemeClr val="accent2">
                    <a:lumMod val="60000"/>
                    <a:lumOff val="40000"/>
                  </a:schemeClr>
                </a:solidFill>
                <a:latin typeface="Century Gothic" panose="020B0502020202020204" pitchFamily="34" charset="0"/>
              </a:rPr>
              <a:t>lose</a:t>
            </a:r>
          </a:p>
        </p:txBody>
      </p:sp>
      <p:sp>
        <p:nvSpPr>
          <p:cNvPr id="30" name="TextBox 29">
            <a:extLst>
              <a:ext uri="{FF2B5EF4-FFF2-40B4-BE49-F238E27FC236}">
                <a16:creationId xmlns:a16="http://schemas.microsoft.com/office/drawing/2014/main" id="{89A8C5E1-907C-8326-CDB9-5B5A91F363C1}"/>
              </a:ext>
            </a:extLst>
          </p:cNvPr>
          <p:cNvSpPr txBox="1"/>
          <p:nvPr/>
        </p:nvSpPr>
        <p:spPr>
          <a:xfrm>
            <a:off x="2949593" y="4787699"/>
            <a:ext cx="849913" cy="461665"/>
          </a:xfrm>
          <a:prstGeom prst="rect">
            <a:avLst/>
          </a:prstGeom>
          <a:noFill/>
        </p:spPr>
        <p:txBody>
          <a:bodyPr wrap="none" rtlCol="0">
            <a:spAutoFit/>
          </a:bodyPr>
          <a:lstStyle/>
          <a:p>
            <a:r>
              <a:rPr lang="en-GB" sz="2400" b="1" dirty="0">
                <a:solidFill>
                  <a:schemeClr val="accent2">
                    <a:lumMod val="60000"/>
                    <a:lumOff val="40000"/>
                  </a:schemeClr>
                </a:solidFill>
                <a:latin typeface="Century Gothic" panose="020B0502020202020204" pitchFamily="34" charset="0"/>
              </a:rPr>
              <a:t>gain</a:t>
            </a:r>
          </a:p>
        </p:txBody>
      </p:sp>
      <p:sp>
        <p:nvSpPr>
          <p:cNvPr id="31" name="TextBox 30">
            <a:extLst>
              <a:ext uri="{FF2B5EF4-FFF2-40B4-BE49-F238E27FC236}">
                <a16:creationId xmlns:a16="http://schemas.microsoft.com/office/drawing/2014/main" id="{F9A758B0-D8D2-A3BF-E350-E3CFC621D26F}"/>
              </a:ext>
            </a:extLst>
          </p:cNvPr>
          <p:cNvSpPr txBox="1"/>
          <p:nvPr/>
        </p:nvSpPr>
        <p:spPr>
          <a:xfrm>
            <a:off x="2953216" y="5232408"/>
            <a:ext cx="849913" cy="461665"/>
          </a:xfrm>
          <a:prstGeom prst="rect">
            <a:avLst/>
          </a:prstGeom>
          <a:noFill/>
        </p:spPr>
        <p:txBody>
          <a:bodyPr wrap="none" rtlCol="0">
            <a:spAutoFit/>
          </a:bodyPr>
          <a:lstStyle/>
          <a:p>
            <a:r>
              <a:rPr lang="en-GB" sz="2400" b="1" dirty="0">
                <a:solidFill>
                  <a:schemeClr val="accent2">
                    <a:lumMod val="60000"/>
                    <a:lumOff val="40000"/>
                  </a:schemeClr>
                </a:solidFill>
                <a:latin typeface="Century Gothic" panose="020B0502020202020204" pitchFamily="34" charset="0"/>
              </a:rPr>
              <a:t>gain</a:t>
            </a:r>
          </a:p>
        </p:txBody>
      </p:sp>
      <p:sp>
        <p:nvSpPr>
          <p:cNvPr id="32" name="TextBox 31">
            <a:extLst>
              <a:ext uri="{FF2B5EF4-FFF2-40B4-BE49-F238E27FC236}">
                <a16:creationId xmlns:a16="http://schemas.microsoft.com/office/drawing/2014/main" id="{ED7B3B2C-B17A-CF27-052F-78858BD79088}"/>
              </a:ext>
            </a:extLst>
          </p:cNvPr>
          <p:cNvSpPr txBox="1"/>
          <p:nvPr/>
        </p:nvSpPr>
        <p:spPr>
          <a:xfrm>
            <a:off x="2956839" y="5688464"/>
            <a:ext cx="849913" cy="461665"/>
          </a:xfrm>
          <a:prstGeom prst="rect">
            <a:avLst/>
          </a:prstGeom>
          <a:noFill/>
        </p:spPr>
        <p:txBody>
          <a:bodyPr wrap="none" rtlCol="0">
            <a:spAutoFit/>
          </a:bodyPr>
          <a:lstStyle/>
          <a:p>
            <a:r>
              <a:rPr lang="en-GB" sz="2400" b="1" dirty="0">
                <a:solidFill>
                  <a:schemeClr val="accent2">
                    <a:lumMod val="60000"/>
                    <a:lumOff val="40000"/>
                  </a:schemeClr>
                </a:solidFill>
                <a:latin typeface="Century Gothic" panose="020B0502020202020204" pitchFamily="34" charset="0"/>
              </a:rPr>
              <a:t>gain</a:t>
            </a:r>
          </a:p>
        </p:txBody>
      </p:sp>
      <p:sp>
        <p:nvSpPr>
          <p:cNvPr id="33" name="TextBox 32">
            <a:extLst>
              <a:ext uri="{FF2B5EF4-FFF2-40B4-BE49-F238E27FC236}">
                <a16:creationId xmlns:a16="http://schemas.microsoft.com/office/drawing/2014/main" id="{0BB2A22A-9748-8D25-8D39-19BDCC9C35A3}"/>
              </a:ext>
            </a:extLst>
          </p:cNvPr>
          <p:cNvSpPr txBox="1"/>
          <p:nvPr/>
        </p:nvSpPr>
        <p:spPr>
          <a:xfrm>
            <a:off x="8200130" y="4338285"/>
            <a:ext cx="357790" cy="461665"/>
          </a:xfrm>
          <a:prstGeom prst="rect">
            <a:avLst/>
          </a:prstGeom>
          <a:noFill/>
        </p:spPr>
        <p:txBody>
          <a:bodyPr wrap="none" rtlCol="0">
            <a:spAutoFit/>
          </a:bodyPr>
          <a:lstStyle/>
          <a:p>
            <a:r>
              <a:rPr lang="en-GB" sz="2400" b="1" dirty="0">
                <a:solidFill>
                  <a:schemeClr val="accent2">
                    <a:lumMod val="60000"/>
                    <a:lumOff val="40000"/>
                  </a:schemeClr>
                </a:solidFill>
                <a:latin typeface="Century Gothic" panose="020B0502020202020204" pitchFamily="34" charset="0"/>
              </a:rPr>
              <a:t>1</a:t>
            </a:r>
          </a:p>
        </p:txBody>
      </p:sp>
      <p:sp>
        <p:nvSpPr>
          <p:cNvPr id="34" name="TextBox 33">
            <a:extLst>
              <a:ext uri="{FF2B5EF4-FFF2-40B4-BE49-F238E27FC236}">
                <a16:creationId xmlns:a16="http://schemas.microsoft.com/office/drawing/2014/main" id="{231860BE-9549-3F5A-1B18-E75C121F41B7}"/>
              </a:ext>
            </a:extLst>
          </p:cNvPr>
          <p:cNvSpPr txBox="1"/>
          <p:nvPr/>
        </p:nvSpPr>
        <p:spPr>
          <a:xfrm>
            <a:off x="8200130" y="4787699"/>
            <a:ext cx="357790" cy="461665"/>
          </a:xfrm>
          <a:prstGeom prst="rect">
            <a:avLst/>
          </a:prstGeom>
          <a:noFill/>
        </p:spPr>
        <p:txBody>
          <a:bodyPr wrap="none" rtlCol="0">
            <a:spAutoFit/>
          </a:bodyPr>
          <a:lstStyle/>
          <a:p>
            <a:r>
              <a:rPr lang="en-GB" sz="2400" b="1" dirty="0">
                <a:solidFill>
                  <a:schemeClr val="accent2">
                    <a:lumMod val="60000"/>
                    <a:lumOff val="40000"/>
                  </a:schemeClr>
                </a:solidFill>
                <a:latin typeface="Century Gothic" panose="020B0502020202020204" pitchFamily="34" charset="0"/>
              </a:rPr>
              <a:t>1</a:t>
            </a:r>
          </a:p>
        </p:txBody>
      </p:sp>
      <p:sp>
        <p:nvSpPr>
          <p:cNvPr id="35" name="TextBox 34">
            <a:extLst>
              <a:ext uri="{FF2B5EF4-FFF2-40B4-BE49-F238E27FC236}">
                <a16:creationId xmlns:a16="http://schemas.microsoft.com/office/drawing/2014/main" id="{66E64A4B-551E-2C1F-75A9-EFA4CA6AB9C5}"/>
              </a:ext>
            </a:extLst>
          </p:cNvPr>
          <p:cNvSpPr txBox="1"/>
          <p:nvPr/>
        </p:nvSpPr>
        <p:spPr>
          <a:xfrm>
            <a:off x="8200130" y="5226799"/>
            <a:ext cx="357790" cy="461665"/>
          </a:xfrm>
          <a:prstGeom prst="rect">
            <a:avLst/>
          </a:prstGeom>
          <a:noFill/>
        </p:spPr>
        <p:txBody>
          <a:bodyPr wrap="none" rtlCol="0">
            <a:spAutoFit/>
          </a:bodyPr>
          <a:lstStyle/>
          <a:p>
            <a:r>
              <a:rPr lang="en-GB" sz="2400" b="1" dirty="0">
                <a:solidFill>
                  <a:schemeClr val="accent2">
                    <a:lumMod val="60000"/>
                    <a:lumOff val="40000"/>
                  </a:schemeClr>
                </a:solidFill>
                <a:latin typeface="Century Gothic" panose="020B0502020202020204" pitchFamily="34" charset="0"/>
              </a:rPr>
              <a:t>2</a:t>
            </a:r>
          </a:p>
        </p:txBody>
      </p:sp>
      <p:sp>
        <p:nvSpPr>
          <p:cNvPr id="36" name="TextBox 35">
            <a:extLst>
              <a:ext uri="{FF2B5EF4-FFF2-40B4-BE49-F238E27FC236}">
                <a16:creationId xmlns:a16="http://schemas.microsoft.com/office/drawing/2014/main" id="{A556ACC7-E8A8-4042-2ED2-4D12CA3DDDA0}"/>
              </a:ext>
            </a:extLst>
          </p:cNvPr>
          <p:cNvSpPr txBox="1"/>
          <p:nvPr/>
        </p:nvSpPr>
        <p:spPr>
          <a:xfrm>
            <a:off x="8216822" y="5676213"/>
            <a:ext cx="357790" cy="461665"/>
          </a:xfrm>
          <a:prstGeom prst="rect">
            <a:avLst/>
          </a:prstGeom>
          <a:noFill/>
        </p:spPr>
        <p:txBody>
          <a:bodyPr wrap="none" rtlCol="0">
            <a:spAutoFit/>
          </a:bodyPr>
          <a:lstStyle/>
          <a:p>
            <a:r>
              <a:rPr lang="en-GB" sz="2400" b="1" dirty="0">
                <a:solidFill>
                  <a:schemeClr val="accent2">
                    <a:lumMod val="60000"/>
                    <a:lumOff val="40000"/>
                  </a:schemeClr>
                </a:solidFill>
                <a:latin typeface="Century Gothic" panose="020B0502020202020204" pitchFamily="34" charset="0"/>
              </a:rPr>
              <a:t>2</a:t>
            </a:r>
          </a:p>
        </p:txBody>
      </p:sp>
      <p:sp>
        <p:nvSpPr>
          <p:cNvPr id="37" name="TextBox 36">
            <a:extLst>
              <a:ext uri="{FF2B5EF4-FFF2-40B4-BE49-F238E27FC236}">
                <a16:creationId xmlns:a16="http://schemas.microsoft.com/office/drawing/2014/main" id="{89866E75-102E-A2BC-30DB-AEA522D489FD}"/>
              </a:ext>
            </a:extLst>
          </p:cNvPr>
          <p:cNvSpPr txBox="1"/>
          <p:nvPr/>
        </p:nvSpPr>
        <p:spPr>
          <a:xfrm>
            <a:off x="8216822" y="6137878"/>
            <a:ext cx="357790" cy="461665"/>
          </a:xfrm>
          <a:prstGeom prst="rect">
            <a:avLst/>
          </a:prstGeom>
          <a:noFill/>
        </p:spPr>
        <p:txBody>
          <a:bodyPr wrap="none" rtlCol="0">
            <a:spAutoFit/>
          </a:bodyPr>
          <a:lstStyle/>
          <a:p>
            <a:r>
              <a:rPr lang="en-GB" sz="2400" b="1" dirty="0">
                <a:solidFill>
                  <a:schemeClr val="accent2">
                    <a:lumMod val="60000"/>
                    <a:lumOff val="40000"/>
                  </a:schemeClr>
                </a:solidFill>
                <a:latin typeface="Century Gothic" panose="020B0502020202020204" pitchFamily="34" charset="0"/>
              </a:rPr>
              <a:t>2</a:t>
            </a:r>
          </a:p>
        </p:txBody>
      </p:sp>
    </p:spTree>
    <p:extLst>
      <p:ext uri="{BB962C8B-B14F-4D97-AF65-F5344CB8AC3E}">
        <p14:creationId xmlns:p14="http://schemas.microsoft.com/office/powerpoint/2010/main" val="31444207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fade">
                                      <p:cBhvr>
                                        <p:cTn id="42" dur="500"/>
                                        <p:tgtEl>
                                          <p:spTgt spid="13"/>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500"/>
                                        <p:tgtEl>
                                          <p:spTgt spid="14"/>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5"/>
                                        </p:tgtEl>
                                        <p:attrNameLst>
                                          <p:attrName>style.visibility</p:attrName>
                                        </p:attrNameLst>
                                      </p:cBhvr>
                                      <p:to>
                                        <p:strVal val="visible"/>
                                      </p:to>
                                    </p:set>
                                    <p:animEffect transition="in" filter="fade">
                                      <p:cBhvr>
                                        <p:cTn id="52" dur="500"/>
                                        <p:tgtEl>
                                          <p:spTgt spid="15"/>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6"/>
                                        </p:tgtEl>
                                        <p:attrNameLst>
                                          <p:attrName>style.visibility</p:attrName>
                                        </p:attrNameLst>
                                      </p:cBhvr>
                                      <p:to>
                                        <p:strVal val="visible"/>
                                      </p:to>
                                    </p:set>
                                    <p:animEffect transition="in" filter="fade">
                                      <p:cBhvr>
                                        <p:cTn id="57" dur="500"/>
                                        <p:tgtEl>
                                          <p:spTgt spid="16"/>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17"/>
                                        </p:tgtEl>
                                        <p:attrNameLst>
                                          <p:attrName>style.visibility</p:attrName>
                                        </p:attrNameLst>
                                      </p:cBhvr>
                                      <p:to>
                                        <p:strVal val="visible"/>
                                      </p:to>
                                    </p:set>
                                    <p:animEffect transition="in" filter="fade">
                                      <p:cBhvr>
                                        <p:cTn id="62" dur="500"/>
                                        <p:tgtEl>
                                          <p:spTgt spid="17"/>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18"/>
                                        </p:tgtEl>
                                        <p:attrNameLst>
                                          <p:attrName>style.visibility</p:attrName>
                                        </p:attrNameLst>
                                      </p:cBhvr>
                                      <p:to>
                                        <p:strVal val="visible"/>
                                      </p:to>
                                    </p:set>
                                    <p:animEffect transition="in" filter="fade">
                                      <p:cBhvr>
                                        <p:cTn id="67" dur="500"/>
                                        <p:tgtEl>
                                          <p:spTgt spid="18"/>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19"/>
                                        </p:tgtEl>
                                        <p:attrNameLst>
                                          <p:attrName>style.visibility</p:attrName>
                                        </p:attrNameLst>
                                      </p:cBhvr>
                                      <p:to>
                                        <p:strVal val="visible"/>
                                      </p:to>
                                    </p:set>
                                    <p:animEffect transition="in" filter="fade">
                                      <p:cBhvr>
                                        <p:cTn id="72" dur="500"/>
                                        <p:tgtEl>
                                          <p:spTgt spid="19"/>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20"/>
                                        </p:tgtEl>
                                        <p:attrNameLst>
                                          <p:attrName>style.visibility</p:attrName>
                                        </p:attrNameLst>
                                      </p:cBhvr>
                                      <p:to>
                                        <p:strVal val="visible"/>
                                      </p:to>
                                    </p:set>
                                    <p:animEffect transition="in" filter="fade">
                                      <p:cBhvr>
                                        <p:cTn id="77" dur="500"/>
                                        <p:tgtEl>
                                          <p:spTgt spid="20"/>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28"/>
                                        </p:tgtEl>
                                        <p:attrNameLst>
                                          <p:attrName>style.visibility</p:attrName>
                                        </p:attrNameLst>
                                      </p:cBhvr>
                                      <p:to>
                                        <p:strVal val="visible"/>
                                      </p:to>
                                    </p:set>
                                    <p:animEffect transition="in" filter="fade">
                                      <p:cBhvr>
                                        <p:cTn id="82" dur="500"/>
                                        <p:tgtEl>
                                          <p:spTgt spid="28"/>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33"/>
                                        </p:tgtEl>
                                        <p:attrNameLst>
                                          <p:attrName>style.visibility</p:attrName>
                                        </p:attrNameLst>
                                      </p:cBhvr>
                                      <p:to>
                                        <p:strVal val="visible"/>
                                      </p:to>
                                    </p:set>
                                    <p:animEffect transition="in" filter="fade">
                                      <p:cBhvr>
                                        <p:cTn id="87" dur="500"/>
                                        <p:tgtEl>
                                          <p:spTgt spid="33"/>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30"/>
                                        </p:tgtEl>
                                        <p:attrNameLst>
                                          <p:attrName>style.visibility</p:attrName>
                                        </p:attrNameLst>
                                      </p:cBhvr>
                                      <p:to>
                                        <p:strVal val="visible"/>
                                      </p:to>
                                    </p:set>
                                    <p:animEffect transition="in" filter="fade">
                                      <p:cBhvr>
                                        <p:cTn id="92" dur="500"/>
                                        <p:tgtEl>
                                          <p:spTgt spid="30"/>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grpId="0" nodeType="clickEffect">
                                  <p:stCondLst>
                                    <p:cond delay="0"/>
                                  </p:stCondLst>
                                  <p:childTnLst>
                                    <p:set>
                                      <p:cBhvr>
                                        <p:cTn id="96" dur="1" fill="hold">
                                          <p:stCondLst>
                                            <p:cond delay="0"/>
                                          </p:stCondLst>
                                        </p:cTn>
                                        <p:tgtEl>
                                          <p:spTgt spid="34"/>
                                        </p:tgtEl>
                                        <p:attrNameLst>
                                          <p:attrName>style.visibility</p:attrName>
                                        </p:attrNameLst>
                                      </p:cBhvr>
                                      <p:to>
                                        <p:strVal val="visible"/>
                                      </p:to>
                                    </p:set>
                                    <p:animEffect transition="in" filter="fade">
                                      <p:cBhvr>
                                        <p:cTn id="97" dur="500"/>
                                        <p:tgtEl>
                                          <p:spTgt spid="34"/>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grpId="0" nodeType="clickEffect">
                                  <p:stCondLst>
                                    <p:cond delay="0"/>
                                  </p:stCondLst>
                                  <p:childTnLst>
                                    <p:set>
                                      <p:cBhvr>
                                        <p:cTn id="101" dur="1" fill="hold">
                                          <p:stCondLst>
                                            <p:cond delay="0"/>
                                          </p:stCondLst>
                                        </p:cTn>
                                        <p:tgtEl>
                                          <p:spTgt spid="31"/>
                                        </p:tgtEl>
                                        <p:attrNameLst>
                                          <p:attrName>style.visibility</p:attrName>
                                        </p:attrNameLst>
                                      </p:cBhvr>
                                      <p:to>
                                        <p:strVal val="visible"/>
                                      </p:to>
                                    </p:set>
                                    <p:animEffect transition="in" filter="fade">
                                      <p:cBhvr>
                                        <p:cTn id="102" dur="500"/>
                                        <p:tgtEl>
                                          <p:spTgt spid="31"/>
                                        </p:tgtEl>
                                      </p:cBhvr>
                                    </p:animEffect>
                                  </p:childTnLst>
                                </p:cTn>
                              </p:par>
                            </p:childTnLst>
                          </p:cTn>
                        </p:par>
                      </p:childTnLst>
                    </p:cTn>
                  </p:par>
                  <p:par>
                    <p:cTn id="103" fill="hold">
                      <p:stCondLst>
                        <p:cond delay="indefinite"/>
                      </p:stCondLst>
                      <p:childTnLst>
                        <p:par>
                          <p:cTn id="104" fill="hold">
                            <p:stCondLst>
                              <p:cond delay="0"/>
                            </p:stCondLst>
                            <p:childTnLst>
                              <p:par>
                                <p:cTn id="105" presetID="10" presetClass="entr" presetSubtype="0" fill="hold" grpId="0" nodeType="clickEffect">
                                  <p:stCondLst>
                                    <p:cond delay="0"/>
                                  </p:stCondLst>
                                  <p:childTnLst>
                                    <p:set>
                                      <p:cBhvr>
                                        <p:cTn id="106" dur="1" fill="hold">
                                          <p:stCondLst>
                                            <p:cond delay="0"/>
                                          </p:stCondLst>
                                        </p:cTn>
                                        <p:tgtEl>
                                          <p:spTgt spid="35"/>
                                        </p:tgtEl>
                                        <p:attrNameLst>
                                          <p:attrName>style.visibility</p:attrName>
                                        </p:attrNameLst>
                                      </p:cBhvr>
                                      <p:to>
                                        <p:strVal val="visible"/>
                                      </p:to>
                                    </p:set>
                                    <p:animEffect transition="in" filter="fade">
                                      <p:cBhvr>
                                        <p:cTn id="107" dur="500"/>
                                        <p:tgtEl>
                                          <p:spTgt spid="35"/>
                                        </p:tgtEl>
                                      </p:cBhvr>
                                    </p:animEffect>
                                  </p:childTnLst>
                                </p:cTn>
                              </p:par>
                            </p:childTnLst>
                          </p:cTn>
                        </p:par>
                      </p:childTnLst>
                    </p:cTn>
                  </p:par>
                  <p:par>
                    <p:cTn id="108" fill="hold">
                      <p:stCondLst>
                        <p:cond delay="indefinite"/>
                      </p:stCondLst>
                      <p:childTnLst>
                        <p:par>
                          <p:cTn id="109" fill="hold">
                            <p:stCondLst>
                              <p:cond delay="0"/>
                            </p:stCondLst>
                            <p:childTnLst>
                              <p:par>
                                <p:cTn id="110" presetID="10" presetClass="entr" presetSubtype="0" fill="hold" grpId="0" nodeType="clickEffect">
                                  <p:stCondLst>
                                    <p:cond delay="0"/>
                                  </p:stCondLst>
                                  <p:childTnLst>
                                    <p:set>
                                      <p:cBhvr>
                                        <p:cTn id="111" dur="1" fill="hold">
                                          <p:stCondLst>
                                            <p:cond delay="0"/>
                                          </p:stCondLst>
                                        </p:cTn>
                                        <p:tgtEl>
                                          <p:spTgt spid="32"/>
                                        </p:tgtEl>
                                        <p:attrNameLst>
                                          <p:attrName>style.visibility</p:attrName>
                                        </p:attrNameLst>
                                      </p:cBhvr>
                                      <p:to>
                                        <p:strVal val="visible"/>
                                      </p:to>
                                    </p:set>
                                    <p:animEffect transition="in" filter="fade">
                                      <p:cBhvr>
                                        <p:cTn id="112" dur="500"/>
                                        <p:tgtEl>
                                          <p:spTgt spid="32"/>
                                        </p:tgtEl>
                                      </p:cBhvr>
                                    </p:animEffect>
                                  </p:childTnLst>
                                </p:cTn>
                              </p:par>
                            </p:childTnLst>
                          </p:cTn>
                        </p:par>
                      </p:childTnLst>
                    </p:cTn>
                  </p:par>
                  <p:par>
                    <p:cTn id="113" fill="hold">
                      <p:stCondLst>
                        <p:cond delay="indefinite"/>
                      </p:stCondLst>
                      <p:childTnLst>
                        <p:par>
                          <p:cTn id="114" fill="hold">
                            <p:stCondLst>
                              <p:cond delay="0"/>
                            </p:stCondLst>
                            <p:childTnLst>
                              <p:par>
                                <p:cTn id="115" presetID="10" presetClass="entr" presetSubtype="0" fill="hold" grpId="0" nodeType="clickEffect">
                                  <p:stCondLst>
                                    <p:cond delay="0"/>
                                  </p:stCondLst>
                                  <p:childTnLst>
                                    <p:set>
                                      <p:cBhvr>
                                        <p:cTn id="116" dur="1" fill="hold">
                                          <p:stCondLst>
                                            <p:cond delay="0"/>
                                          </p:stCondLst>
                                        </p:cTn>
                                        <p:tgtEl>
                                          <p:spTgt spid="36"/>
                                        </p:tgtEl>
                                        <p:attrNameLst>
                                          <p:attrName>style.visibility</p:attrName>
                                        </p:attrNameLst>
                                      </p:cBhvr>
                                      <p:to>
                                        <p:strVal val="visible"/>
                                      </p:to>
                                    </p:set>
                                    <p:animEffect transition="in" filter="fade">
                                      <p:cBhvr>
                                        <p:cTn id="117" dur="500"/>
                                        <p:tgtEl>
                                          <p:spTgt spid="36"/>
                                        </p:tgtEl>
                                      </p:cBhvr>
                                    </p:animEffect>
                                  </p:childTnLst>
                                </p:cTn>
                              </p:par>
                            </p:childTnLst>
                          </p:cTn>
                        </p:par>
                      </p:childTnLst>
                    </p:cTn>
                  </p:par>
                  <p:par>
                    <p:cTn id="118" fill="hold">
                      <p:stCondLst>
                        <p:cond delay="indefinite"/>
                      </p:stCondLst>
                      <p:childTnLst>
                        <p:par>
                          <p:cTn id="119" fill="hold">
                            <p:stCondLst>
                              <p:cond delay="0"/>
                            </p:stCondLst>
                            <p:childTnLst>
                              <p:par>
                                <p:cTn id="120" presetID="10" presetClass="entr" presetSubtype="0" fill="hold" grpId="0" nodeType="clickEffect">
                                  <p:stCondLst>
                                    <p:cond delay="0"/>
                                  </p:stCondLst>
                                  <p:childTnLst>
                                    <p:set>
                                      <p:cBhvr>
                                        <p:cTn id="121" dur="1" fill="hold">
                                          <p:stCondLst>
                                            <p:cond delay="0"/>
                                          </p:stCondLst>
                                        </p:cTn>
                                        <p:tgtEl>
                                          <p:spTgt spid="29"/>
                                        </p:tgtEl>
                                        <p:attrNameLst>
                                          <p:attrName>style.visibility</p:attrName>
                                        </p:attrNameLst>
                                      </p:cBhvr>
                                      <p:to>
                                        <p:strVal val="visible"/>
                                      </p:to>
                                    </p:set>
                                    <p:animEffect transition="in" filter="fade">
                                      <p:cBhvr>
                                        <p:cTn id="122" dur="500"/>
                                        <p:tgtEl>
                                          <p:spTgt spid="29"/>
                                        </p:tgtEl>
                                      </p:cBhvr>
                                    </p:animEffect>
                                  </p:childTnLst>
                                </p:cTn>
                              </p:par>
                            </p:childTnLst>
                          </p:cTn>
                        </p:par>
                      </p:childTnLst>
                    </p:cTn>
                  </p:par>
                  <p:par>
                    <p:cTn id="123" fill="hold">
                      <p:stCondLst>
                        <p:cond delay="indefinite"/>
                      </p:stCondLst>
                      <p:childTnLst>
                        <p:par>
                          <p:cTn id="124" fill="hold">
                            <p:stCondLst>
                              <p:cond delay="0"/>
                            </p:stCondLst>
                            <p:childTnLst>
                              <p:par>
                                <p:cTn id="125" presetID="10" presetClass="entr" presetSubtype="0" fill="hold" grpId="0" nodeType="clickEffect">
                                  <p:stCondLst>
                                    <p:cond delay="0"/>
                                  </p:stCondLst>
                                  <p:childTnLst>
                                    <p:set>
                                      <p:cBhvr>
                                        <p:cTn id="126" dur="1" fill="hold">
                                          <p:stCondLst>
                                            <p:cond delay="0"/>
                                          </p:stCondLst>
                                        </p:cTn>
                                        <p:tgtEl>
                                          <p:spTgt spid="37"/>
                                        </p:tgtEl>
                                        <p:attrNameLst>
                                          <p:attrName>style.visibility</p:attrName>
                                        </p:attrNameLst>
                                      </p:cBhvr>
                                      <p:to>
                                        <p:strVal val="visible"/>
                                      </p:to>
                                    </p:set>
                                    <p:animEffect transition="in" filter="fade">
                                      <p:cBhvr>
                                        <p:cTn id="127"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8" grpId="0"/>
      <p:bldP spid="29" grpId="0"/>
      <p:bldP spid="30" grpId="0"/>
      <p:bldP spid="31" grpId="0"/>
      <p:bldP spid="32" grpId="0"/>
      <p:bldP spid="33" grpId="0"/>
      <p:bldP spid="34" grpId="0"/>
      <p:bldP spid="35" grpId="0"/>
      <p:bldP spid="36" grpId="0"/>
      <p:bldP spid="3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4">
            <a:extLst>
              <a:ext uri="{FF2B5EF4-FFF2-40B4-BE49-F238E27FC236}">
                <a16:creationId xmlns:a16="http://schemas.microsoft.com/office/drawing/2014/main" id="{C987B6CB-CFEE-5F40-A81B-2D8338C272F8}"/>
              </a:ext>
            </a:extLst>
          </p:cNvPr>
          <p:cNvSpPr/>
          <p:nvPr/>
        </p:nvSpPr>
        <p:spPr>
          <a:xfrm>
            <a:off x="8946895" y="65193"/>
            <a:ext cx="2683840" cy="2547936"/>
          </a:xfrm>
          <a:prstGeom prst="ellipse">
            <a:avLst/>
          </a:prstGeom>
          <a:solidFill>
            <a:srgbClr val="009193">
              <a:alpha val="5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b="1" dirty="0">
                <a:solidFill>
                  <a:schemeClr val="tx1"/>
                </a:solidFill>
                <a:latin typeface="Century Gothic" panose="020B0502020202020204" pitchFamily="34" charset="0"/>
              </a:rPr>
              <a:t>Use your list of ions handout to help!</a:t>
            </a:r>
            <a:endParaRPr lang="en-GB" sz="2400" dirty="0">
              <a:solidFill>
                <a:schemeClr val="tx1"/>
              </a:solidFill>
              <a:latin typeface="Century Gothic" panose="020B0502020202020204" pitchFamily="34" charset="0"/>
            </a:endParaRPr>
          </a:p>
        </p:txBody>
      </p:sp>
      <p:sp>
        <p:nvSpPr>
          <p:cNvPr id="23" name="Title 1">
            <a:extLst>
              <a:ext uri="{FF2B5EF4-FFF2-40B4-BE49-F238E27FC236}">
                <a16:creationId xmlns:a16="http://schemas.microsoft.com/office/drawing/2014/main" id="{93573AAF-B387-14E0-4888-5569AC11E6DE}"/>
              </a:ext>
            </a:extLst>
          </p:cNvPr>
          <p:cNvSpPr txBox="1">
            <a:spLocks/>
          </p:cNvSpPr>
          <p:nvPr/>
        </p:nvSpPr>
        <p:spPr>
          <a:xfrm>
            <a:off x="369879" y="65193"/>
            <a:ext cx="10620000" cy="720000"/>
          </a:xfrm>
          <a:prstGeom prst="rect">
            <a:avLst/>
          </a:prstGeom>
        </p:spPr>
        <p:txBody>
          <a:bodyPr vert="horz" lIns="0" tIns="0" rIns="0" bIns="0" rtlCol="0" anchor="b" anchorCtr="0">
            <a:noAutofit/>
          </a:bodyPr>
          <a:lstStyle>
            <a:lvl1pPr algn="l" defTabSz="914400" rtl="0" eaLnBrk="1" latinLnBrk="0" hangingPunct="1">
              <a:lnSpc>
                <a:spcPct val="90000"/>
              </a:lnSpc>
              <a:spcBef>
                <a:spcPct val="0"/>
              </a:spcBef>
              <a:buNone/>
              <a:defRPr sz="2600" b="1" kern="1200">
                <a:solidFill>
                  <a:schemeClr val="tx1"/>
                </a:solidFill>
                <a:latin typeface="Arial" panose="020B0604020202020204" pitchFamily="34" charset="0"/>
                <a:ea typeface="+mj-ea"/>
                <a:cs typeface="Arial" panose="020B0604020202020204" pitchFamily="34" charset="0"/>
              </a:defRPr>
            </a:lvl1pPr>
          </a:lstStyle>
          <a:p>
            <a:r>
              <a:rPr lang="en-US" sz="2800" dirty="0">
                <a:latin typeface="Century Gothic" panose="020B0502020202020204" pitchFamily="34" charset="0"/>
              </a:rPr>
              <a:t>Writing ionic equations</a:t>
            </a:r>
          </a:p>
        </p:txBody>
      </p:sp>
      <p:sp>
        <p:nvSpPr>
          <p:cNvPr id="25" name="TextBox 24">
            <a:extLst>
              <a:ext uri="{FF2B5EF4-FFF2-40B4-BE49-F238E27FC236}">
                <a16:creationId xmlns:a16="http://schemas.microsoft.com/office/drawing/2014/main" id="{72EE57F4-583A-8223-F3B8-7DC3C9379ECD}"/>
              </a:ext>
            </a:extLst>
          </p:cNvPr>
          <p:cNvSpPr txBox="1"/>
          <p:nvPr/>
        </p:nvSpPr>
        <p:spPr>
          <a:xfrm>
            <a:off x="369879" y="1098996"/>
            <a:ext cx="7923516" cy="1323439"/>
          </a:xfrm>
          <a:prstGeom prst="rect">
            <a:avLst/>
          </a:prstGeom>
          <a:noFill/>
        </p:spPr>
        <p:txBody>
          <a:bodyPr wrap="square" rtlCol="0">
            <a:spAutoFit/>
          </a:bodyPr>
          <a:lstStyle/>
          <a:p>
            <a:r>
              <a:rPr lang="en-US" sz="2400" dirty="0">
                <a:latin typeface="Century Gothic" panose="020B0502020202020204" pitchFamily="34" charset="0"/>
              </a:rPr>
              <a:t>Look at this chemical equation:</a:t>
            </a:r>
          </a:p>
          <a:p>
            <a:endParaRPr lang="en-US" sz="2400" dirty="0">
              <a:latin typeface="Century Gothic" panose="020B0502020202020204" pitchFamily="34" charset="0"/>
            </a:endParaRPr>
          </a:p>
          <a:p>
            <a:r>
              <a:rPr lang="en-US" sz="3200" dirty="0">
                <a:latin typeface="Century Gothic" panose="020B0502020202020204" pitchFamily="34" charset="0"/>
              </a:rPr>
              <a:t>Mg</a:t>
            </a:r>
            <a:r>
              <a:rPr lang="en-US" sz="3200" baseline="-25000" dirty="0">
                <a:latin typeface="Century Gothic" panose="020B0502020202020204" pitchFamily="34" charset="0"/>
              </a:rPr>
              <a:t>(s) </a:t>
            </a:r>
            <a:r>
              <a:rPr lang="en-US" sz="3200" dirty="0">
                <a:latin typeface="Century Gothic" panose="020B0502020202020204" pitchFamily="34" charset="0"/>
              </a:rPr>
              <a:t>+ CuSO</a:t>
            </a:r>
            <a:r>
              <a:rPr lang="en-US" sz="3200" baseline="-25000" dirty="0">
                <a:latin typeface="Century Gothic" panose="020B0502020202020204" pitchFamily="34" charset="0"/>
              </a:rPr>
              <a:t>4(aq) </a:t>
            </a:r>
            <a:r>
              <a:rPr lang="en-GB" sz="3200" dirty="0">
                <a:latin typeface="Century Gothic" panose="020B0502020202020204" pitchFamily="34" charset="0"/>
              </a:rPr>
              <a:t>→ MgSO</a:t>
            </a:r>
            <a:r>
              <a:rPr lang="en-GB" sz="3200" baseline="-25000" dirty="0">
                <a:latin typeface="Century Gothic" panose="020B0502020202020204" pitchFamily="34" charset="0"/>
              </a:rPr>
              <a:t>4(aq) </a:t>
            </a:r>
            <a:r>
              <a:rPr lang="en-GB" sz="3200" dirty="0">
                <a:latin typeface="Century Gothic" panose="020B0502020202020204" pitchFamily="34" charset="0"/>
              </a:rPr>
              <a:t>+ Cu</a:t>
            </a:r>
            <a:r>
              <a:rPr lang="en-GB" sz="3200" baseline="-25000" dirty="0">
                <a:latin typeface="Century Gothic" panose="020B0502020202020204" pitchFamily="34" charset="0"/>
              </a:rPr>
              <a:t>(s</a:t>
            </a:r>
            <a:r>
              <a:rPr lang="en-GB" sz="2400" baseline="-25000" dirty="0">
                <a:latin typeface="Century Gothic" panose="020B0502020202020204" pitchFamily="34" charset="0"/>
              </a:rPr>
              <a:t>)</a:t>
            </a:r>
            <a:r>
              <a:rPr lang="en-US" sz="2400" baseline="-25000" dirty="0">
                <a:latin typeface="Century Gothic" panose="020B0502020202020204" pitchFamily="34" charset="0"/>
              </a:rPr>
              <a:t> </a:t>
            </a:r>
          </a:p>
        </p:txBody>
      </p:sp>
      <p:sp>
        <p:nvSpPr>
          <p:cNvPr id="27" name="TextBox 26">
            <a:extLst>
              <a:ext uri="{FF2B5EF4-FFF2-40B4-BE49-F238E27FC236}">
                <a16:creationId xmlns:a16="http://schemas.microsoft.com/office/drawing/2014/main" id="{FF3B4834-5FF8-ADDB-6D07-123E0B1A3AC3}"/>
              </a:ext>
            </a:extLst>
          </p:cNvPr>
          <p:cNvSpPr txBox="1"/>
          <p:nvPr/>
        </p:nvSpPr>
        <p:spPr>
          <a:xfrm>
            <a:off x="369878" y="2967335"/>
            <a:ext cx="8037778" cy="461665"/>
          </a:xfrm>
          <a:prstGeom prst="rect">
            <a:avLst/>
          </a:prstGeom>
          <a:noFill/>
        </p:spPr>
        <p:txBody>
          <a:bodyPr wrap="none" rtlCol="0">
            <a:spAutoFit/>
          </a:bodyPr>
          <a:lstStyle/>
          <a:p>
            <a:r>
              <a:rPr lang="en-GB" sz="2400" dirty="0">
                <a:latin typeface="Century Gothic" panose="020B0502020202020204" pitchFamily="34" charset="0"/>
              </a:rPr>
              <a:t>We can use </a:t>
            </a:r>
            <a:r>
              <a:rPr lang="en-GB" sz="2400" b="1" dirty="0">
                <a:latin typeface="Century Gothic" panose="020B0502020202020204" pitchFamily="34" charset="0"/>
              </a:rPr>
              <a:t>2 steps </a:t>
            </a:r>
            <a:r>
              <a:rPr lang="en-GB" sz="2400" dirty="0">
                <a:latin typeface="Century Gothic" panose="020B0502020202020204" pitchFamily="34" charset="0"/>
              </a:rPr>
              <a:t>to write this as an ionic equation:</a:t>
            </a:r>
          </a:p>
        </p:txBody>
      </p:sp>
      <p:sp>
        <p:nvSpPr>
          <p:cNvPr id="28" name="TextBox 27">
            <a:extLst>
              <a:ext uri="{FF2B5EF4-FFF2-40B4-BE49-F238E27FC236}">
                <a16:creationId xmlns:a16="http://schemas.microsoft.com/office/drawing/2014/main" id="{D97C1817-0C8B-4577-3B87-8E8524B8F1B6}"/>
              </a:ext>
            </a:extLst>
          </p:cNvPr>
          <p:cNvSpPr txBox="1"/>
          <p:nvPr/>
        </p:nvSpPr>
        <p:spPr>
          <a:xfrm>
            <a:off x="369878" y="4119282"/>
            <a:ext cx="10619999" cy="584775"/>
          </a:xfrm>
          <a:prstGeom prst="rect">
            <a:avLst/>
          </a:prstGeom>
          <a:noFill/>
        </p:spPr>
        <p:txBody>
          <a:bodyPr wrap="square" rtlCol="0">
            <a:spAutoFit/>
          </a:bodyPr>
          <a:lstStyle/>
          <a:p>
            <a:r>
              <a:rPr lang="en-US" sz="3200" dirty="0">
                <a:latin typeface="Century Gothic" panose="020B0502020202020204" pitchFamily="34" charset="0"/>
              </a:rPr>
              <a:t>Mg</a:t>
            </a:r>
            <a:r>
              <a:rPr lang="en-US" sz="3200" baseline="-25000" dirty="0">
                <a:latin typeface="Century Gothic" panose="020B0502020202020204" pitchFamily="34" charset="0"/>
              </a:rPr>
              <a:t>(s) </a:t>
            </a:r>
            <a:r>
              <a:rPr lang="en-US" sz="3200" dirty="0">
                <a:latin typeface="Century Gothic" panose="020B0502020202020204" pitchFamily="34" charset="0"/>
              </a:rPr>
              <a:t>+ Cu</a:t>
            </a:r>
            <a:r>
              <a:rPr lang="en-US" sz="3200" baseline="30000" dirty="0">
                <a:latin typeface="Century Gothic" panose="020B0502020202020204" pitchFamily="34" charset="0"/>
              </a:rPr>
              <a:t>2+</a:t>
            </a:r>
            <a:r>
              <a:rPr lang="en-US" sz="3200" baseline="-25000" dirty="0">
                <a:latin typeface="Century Gothic" panose="020B0502020202020204" pitchFamily="34" charset="0"/>
              </a:rPr>
              <a:t>(aq) </a:t>
            </a:r>
            <a:r>
              <a:rPr lang="en-US" sz="3200" dirty="0">
                <a:latin typeface="Century Gothic" panose="020B0502020202020204" pitchFamily="34" charset="0"/>
              </a:rPr>
              <a:t>+ SO</a:t>
            </a:r>
            <a:r>
              <a:rPr lang="en-US" sz="3200" baseline="-25000" dirty="0">
                <a:latin typeface="Century Gothic" panose="020B0502020202020204" pitchFamily="34" charset="0"/>
              </a:rPr>
              <a:t>4</a:t>
            </a:r>
            <a:r>
              <a:rPr lang="en-US" sz="3200" baseline="30000" dirty="0">
                <a:latin typeface="Century Gothic" panose="020B0502020202020204" pitchFamily="34" charset="0"/>
              </a:rPr>
              <a:t>2-</a:t>
            </a:r>
            <a:r>
              <a:rPr lang="en-US" sz="3200" baseline="-25000" dirty="0">
                <a:latin typeface="Century Gothic" panose="020B0502020202020204" pitchFamily="34" charset="0"/>
              </a:rPr>
              <a:t>(aq) </a:t>
            </a:r>
            <a:r>
              <a:rPr lang="en-GB" sz="3200" dirty="0">
                <a:latin typeface="Century Gothic" panose="020B0502020202020204" pitchFamily="34" charset="0"/>
              </a:rPr>
              <a:t>→ Mg</a:t>
            </a:r>
            <a:r>
              <a:rPr lang="en-GB" sz="3200" baseline="30000" dirty="0">
                <a:latin typeface="Century Gothic" panose="020B0502020202020204" pitchFamily="34" charset="0"/>
              </a:rPr>
              <a:t>2+</a:t>
            </a:r>
            <a:r>
              <a:rPr lang="en-GB" sz="3200" baseline="-25000" dirty="0">
                <a:latin typeface="Century Gothic" panose="020B0502020202020204" pitchFamily="34" charset="0"/>
              </a:rPr>
              <a:t>(aq) </a:t>
            </a:r>
            <a:r>
              <a:rPr lang="en-GB" sz="3200" dirty="0">
                <a:latin typeface="Century Gothic" panose="020B0502020202020204" pitchFamily="34" charset="0"/>
              </a:rPr>
              <a:t>+ SO</a:t>
            </a:r>
            <a:r>
              <a:rPr lang="en-GB" sz="3200" baseline="-25000" dirty="0">
                <a:latin typeface="Century Gothic" panose="020B0502020202020204" pitchFamily="34" charset="0"/>
              </a:rPr>
              <a:t>4</a:t>
            </a:r>
            <a:r>
              <a:rPr lang="en-GB" sz="3200" baseline="30000" dirty="0">
                <a:latin typeface="Century Gothic" panose="020B0502020202020204" pitchFamily="34" charset="0"/>
              </a:rPr>
              <a:t>2-</a:t>
            </a:r>
            <a:r>
              <a:rPr lang="en-GB" sz="3200" baseline="-25000" dirty="0">
                <a:latin typeface="Century Gothic" panose="020B0502020202020204" pitchFamily="34" charset="0"/>
              </a:rPr>
              <a:t>(aq) </a:t>
            </a:r>
            <a:r>
              <a:rPr lang="en-GB" sz="3200" dirty="0">
                <a:latin typeface="Century Gothic" panose="020B0502020202020204" pitchFamily="34" charset="0"/>
              </a:rPr>
              <a:t>+ Cu</a:t>
            </a:r>
            <a:r>
              <a:rPr lang="en-GB" sz="3200" baseline="-25000" dirty="0">
                <a:latin typeface="Century Gothic" panose="020B0502020202020204" pitchFamily="34" charset="0"/>
              </a:rPr>
              <a:t>(s</a:t>
            </a:r>
            <a:r>
              <a:rPr lang="en-GB" sz="2400" baseline="-25000" dirty="0">
                <a:latin typeface="Century Gothic" panose="020B0502020202020204" pitchFamily="34" charset="0"/>
              </a:rPr>
              <a:t>)</a:t>
            </a:r>
            <a:r>
              <a:rPr lang="en-US" sz="2400" baseline="-25000" dirty="0">
                <a:latin typeface="Century Gothic" panose="020B0502020202020204" pitchFamily="34" charset="0"/>
              </a:rPr>
              <a:t> </a:t>
            </a:r>
          </a:p>
        </p:txBody>
      </p:sp>
      <p:sp>
        <p:nvSpPr>
          <p:cNvPr id="31" name="TextBox 30">
            <a:extLst>
              <a:ext uri="{FF2B5EF4-FFF2-40B4-BE49-F238E27FC236}">
                <a16:creationId xmlns:a16="http://schemas.microsoft.com/office/drawing/2014/main" id="{BCE5B9B8-5132-3C56-898E-2F40F3148AB7}"/>
              </a:ext>
            </a:extLst>
          </p:cNvPr>
          <p:cNvSpPr txBox="1"/>
          <p:nvPr/>
        </p:nvSpPr>
        <p:spPr>
          <a:xfrm>
            <a:off x="369878" y="3468853"/>
            <a:ext cx="9029303" cy="459735"/>
          </a:xfrm>
          <a:prstGeom prst="rect">
            <a:avLst/>
          </a:prstGeom>
          <a:solidFill>
            <a:schemeClr val="accent1">
              <a:lumMod val="40000"/>
              <a:lumOff val="60000"/>
            </a:schemeClr>
          </a:solidFill>
        </p:spPr>
        <p:txBody>
          <a:bodyPr wrap="square" rtlCol="0">
            <a:spAutoFit/>
          </a:bodyPr>
          <a:lstStyle/>
          <a:p>
            <a:r>
              <a:rPr lang="en-GB" sz="2400" b="1" dirty="0">
                <a:latin typeface="Century Gothic" panose="020B0502020202020204" pitchFamily="34" charset="0"/>
              </a:rPr>
              <a:t>Step 1: </a:t>
            </a:r>
            <a:r>
              <a:rPr lang="en-GB" sz="2400" dirty="0">
                <a:latin typeface="Century Gothic" panose="020B0502020202020204" pitchFamily="34" charset="0"/>
              </a:rPr>
              <a:t>Split up the </a:t>
            </a:r>
            <a:r>
              <a:rPr lang="en-GB" sz="2400" b="1" dirty="0">
                <a:latin typeface="Century Gothic" panose="020B0502020202020204" pitchFamily="34" charset="0"/>
              </a:rPr>
              <a:t>aqueous</a:t>
            </a:r>
            <a:r>
              <a:rPr lang="en-GB" sz="2400" dirty="0">
                <a:latin typeface="Century Gothic" panose="020B0502020202020204" pitchFamily="34" charset="0"/>
              </a:rPr>
              <a:t> (aq) substances into their ions</a:t>
            </a:r>
          </a:p>
        </p:txBody>
      </p:sp>
      <p:sp>
        <p:nvSpPr>
          <p:cNvPr id="32" name="TextBox 31">
            <a:extLst>
              <a:ext uri="{FF2B5EF4-FFF2-40B4-BE49-F238E27FC236}">
                <a16:creationId xmlns:a16="http://schemas.microsoft.com/office/drawing/2014/main" id="{95333C8A-B8A3-8BAA-0BE5-2158357F14DB}"/>
              </a:ext>
            </a:extLst>
          </p:cNvPr>
          <p:cNvSpPr txBox="1"/>
          <p:nvPr/>
        </p:nvSpPr>
        <p:spPr>
          <a:xfrm>
            <a:off x="369878" y="4990122"/>
            <a:ext cx="10619999" cy="461665"/>
          </a:xfrm>
          <a:prstGeom prst="rect">
            <a:avLst/>
          </a:prstGeom>
          <a:solidFill>
            <a:schemeClr val="accent1">
              <a:lumMod val="40000"/>
              <a:lumOff val="60000"/>
            </a:schemeClr>
          </a:solidFill>
        </p:spPr>
        <p:txBody>
          <a:bodyPr wrap="square" rtlCol="0">
            <a:spAutoFit/>
          </a:bodyPr>
          <a:lstStyle/>
          <a:p>
            <a:r>
              <a:rPr lang="en-GB" sz="2400" b="1" dirty="0">
                <a:latin typeface="Century Gothic" panose="020B0502020202020204" pitchFamily="34" charset="0"/>
              </a:rPr>
              <a:t>Step 2: </a:t>
            </a:r>
            <a:r>
              <a:rPr lang="en-GB" sz="2400" dirty="0">
                <a:latin typeface="Century Gothic" panose="020B0502020202020204" pitchFamily="34" charset="0"/>
              </a:rPr>
              <a:t>Delete the </a:t>
            </a:r>
            <a:r>
              <a:rPr lang="en-GB" sz="2400" b="1" dirty="0">
                <a:latin typeface="Century Gothic" panose="020B0502020202020204" pitchFamily="34" charset="0"/>
              </a:rPr>
              <a:t>spectator</a:t>
            </a:r>
            <a:r>
              <a:rPr lang="en-GB" sz="2400" dirty="0">
                <a:latin typeface="Century Gothic" panose="020B0502020202020204" pitchFamily="34" charset="0"/>
              </a:rPr>
              <a:t> ions (the ones that appear on both sides)</a:t>
            </a:r>
          </a:p>
        </p:txBody>
      </p:sp>
      <p:sp>
        <p:nvSpPr>
          <p:cNvPr id="33" name="TextBox 32">
            <a:extLst>
              <a:ext uri="{FF2B5EF4-FFF2-40B4-BE49-F238E27FC236}">
                <a16:creationId xmlns:a16="http://schemas.microsoft.com/office/drawing/2014/main" id="{0154A21A-8BBF-5B8C-556B-40DB97C15A02}"/>
              </a:ext>
            </a:extLst>
          </p:cNvPr>
          <p:cNvSpPr txBox="1"/>
          <p:nvPr/>
        </p:nvSpPr>
        <p:spPr>
          <a:xfrm>
            <a:off x="369878" y="5756524"/>
            <a:ext cx="6775202" cy="584775"/>
          </a:xfrm>
          <a:prstGeom prst="rect">
            <a:avLst/>
          </a:prstGeom>
          <a:noFill/>
        </p:spPr>
        <p:txBody>
          <a:bodyPr wrap="square" rtlCol="0">
            <a:spAutoFit/>
          </a:bodyPr>
          <a:lstStyle/>
          <a:p>
            <a:r>
              <a:rPr lang="en-US" sz="3200" dirty="0">
                <a:latin typeface="Century Gothic" panose="020B0502020202020204" pitchFamily="34" charset="0"/>
              </a:rPr>
              <a:t>Mg</a:t>
            </a:r>
            <a:r>
              <a:rPr lang="en-US" sz="3200" baseline="-25000" dirty="0">
                <a:latin typeface="Century Gothic" panose="020B0502020202020204" pitchFamily="34" charset="0"/>
              </a:rPr>
              <a:t>(s) </a:t>
            </a:r>
            <a:r>
              <a:rPr lang="en-US" sz="3200" dirty="0">
                <a:latin typeface="Century Gothic" panose="020B0502020202020204" pitchFamily="34" charset="0"/>
              </a:rPr>
              <a:t>+ Cu</a:t>
            </a:r>
            <a:r>
              <a:rPr lang="en-US" sz="3200" baseline="30000" dirty="0">
                <a:latin typeface="Century Gothic" panose="020B0502020202020204" pitchFamily="34" charset="0"/>
              </a:rPr>
              <a:t>2+</a:t>
            </a:r>
            <a:r>
              <a:rPr lang="en-US" sz="3200" baseline="-25000" dirty="0">
                <a:latin typeface="Century Gothic" panose="020B0502020202020204" pitchFamily="34" charset="0"/>
              </a:rPr>
              <a:t>(aq) </a:t>
            </a:r>
            <a:r>
              <a:rPr lang="en-GB" sz="3200" dirty="0">
                <a:latin typeface="Century Gothic" panose="020B0502020202020204" pitchFamily="34" charset="0"/>
              </a:rPr>
              <a:t>→ Mg</a:t>
            </a:r>
            <a:r>
              <a:rPr lang="en-GB" sz="3200" baseline="30000" dirty="0">
                <a:latin typeface="Century Gothic" panose="020B0502020202020204" pitchFamily="34" charset="0"/>
              </a:rPr>
              <a:t>2+</a:t>
            </a:r>
            <a:r>
              <a:rPr lang="en-GB" sz="3200" baseline="-25000" dirty="0">
                <a:latin typeface="Century Gothic" panose="020B0502020202020204" pitchFamily="34" charset="0"/>
              </a:rPr>
              <a:t>(aq) </a:t>
            </a:r>
            <a:r>
              <a:rPr lang="en-GB" sz="3200" dirty="0">
                <a:latin typeface="Century Gothic" panose="020B0502020202020204" pitchFamily="34" charset="0"/>
              </a:rPr>
              <a:t>+ Cu</a:t>
            </a:r>
            <a:r>
              <a:rPr lang="en-GB" sz="3200" baseline="-25000" dirty="0">
                <a:latin typeface="Century Gothic" panose="020B0502020202020204" pitchFamily="34" charset="0"/>
              </a:rPr>
              <a:t>(s</a:t>
            </a:r>
            <a:r>
              <a:rPr lang="en-GB" sz="2400" baseline="-25000" dirty="0">
                <a:latin typeface="Century Gothic" panose="020B0502020202020204" pitchFamily="34" charset="0"/>
              </a:rPr>
              <a:t>)</a:t>
            </a:r>
            <a:r>
              <a:rPr lang="en-US" sz="2400" baseline="-25000" dirty="0">
                <a:latin typeface="Century Gothic" panose="020B0502020202020204" pitchFamily="34" charset="0"/>
              </a:rPr>
              <a:t> </a:t>
            </a:r>
          </a:p>
        </p:txBody>
      </p:sp>
      <p:sp>
        <p:nvSpPr>
          <p:cNvPr id="34" name="Oval 33">
            <a:extLst>
              <a:ext uri="{FF2B5EF4-FFF2-40B4-BE49-F238E27FC236}">
                <a16:creationId xmlns:a16="http://schemas.microsoft.com/office/drawing/2014/main" id="{995C4471-7D80-3A2E-7732-00BDBD2C8EFB}"/>
              </a:ext>
            </a:extLst>
          </p:cNvPr>
          <p:cNvSpPr/>
          <p:nvPr/>
        </p:nvSpPr>
        <p:spPr>
          <a:xfrm>
            <a:off x="3243943" y="3928588"/>
            <a:ext cx="2024743" cy="1061534"/>
          </a:xfrm>
          <a:prstGeom prst="ellipse">
            <a:avLst/>
          </a:prstGeom>
          <a:noFill/>
          <a:ln w="381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Oval 34">
            <a:extLst>
              <a:ext uri="{FF2B5EF4-FFF2-40B4-BE49-F238E27FC236}">
                <a16:creationId xmlns:a16="http://schemas.microsoft.com/office/drawing/2014/main" id="{D65AA684-86D1-273E-1474-61645E5099B3}"/>
              </a:ext>
            </a:extLst>
          </p:cNvPr>
          <p:cNvSpPr/>
          <p:nvPr/>
        </p:nvSpPr>
        <p:spPr>
          <a:xfrm>
            <a:off x="7374438" y="3928588"/>
            <a:ext cx="2024743" cy="1061534"/>
          </a:xfrm>
          <a:prstGeom prst="ellipse">
            <a:avLst/>
          </a:prstGeom>
          <a:noFill/>
          <a:ln w="381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881734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fade">
                                      <p:cBhvr>
                                        <p:cTn id="12" dur="500"/>
                                        <p:tgtEl>
                                          <p:spTgt spid="2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fade">
                                      <p:cBhvr>
                                        <p:cTn id="17" dur="500"/>
                                        <p:tgtEl>
                                          <p:spTgt spid="3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fade">
                                      <p:cBhvr>
                                        <p:cTn id="22" dur="500"/>
                                        <p:tgtEl>
                                          <p:spTgt spid="2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fade">
                                      <p:cBhvr>
                                        <p:cTn id="27" dur="500"/>
                                        <p:tgtEl>
                                          <p:spTgt spid="34"/>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5"/>
                                        </p:tgtEl>
                                        <p:attrNameLst>
                                          <p:attrName>style.visibility</p:attrName>
                                        </p:attrNameLst>
                                      </p:cBhvr>
                                      <p:to>
                                        <p:strVal val="visible"/>
                                      </p:to>
                                    </p:set>
                                    <p:animEffect transition="in" filter="fade">
                                      <p:cBhvr>
                                        <p:cTn id="30" dur="500"/>
                                        <p:tgtEl>
                                          <p:spTgt spid="35"/>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2"/>
                                        </p:tgtEl>
                                        <p:attrNameLst>
                                          <p:attrName>style.visibility</p:attrName>
                                        </p:attrNameLst>
                                      </p:cBhvr>
                                      <p:to>
                                        <p:strVal val="visible"/>
                                      </p:to>
                                    </p:set>
                                    <p:animEffect transition="in" filter="fade">
                                      <p:cBhvr>
                                        <p:cTn id="35" dur="500"/>
                                        <p:tgtEl>
                                          <p:spTgt spid="32"/>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33"/>
                                        </p:tgtEl>
                                        <p:attrNameLst>
                                          <p:attrName>style.visibility</p:attrName>
                                        </p:attrNameLst>
                                      </p:cBhvr>
                                      <p:to>
                                        <p:strVal val="visible"/>
                                      </p:to>
                                    </p:set>
                                    <p:animEffect transition="in" filter="fade">
                                      <p:cBhvr>
                                        <p:cTn id="40"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7" grpId="0"/>
      <p:bldP spid="28" grpId="0"/>
      <p:bldP spid="31" grpId="0" animBg="1"/>
      <p:bldP spid="32" grpId="0" animBg="1"/>
      <p:bldP spid="33" grpId="0"/>
      <p:bldP spid="34" grpId="0" animBg="1"/>
      <p:bldP spid="3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itle 1">
            <a:extLst>
              <a:ext uri="{FF2B5EF4-FFF2-40B4-BE49-F238E27FC236}">
                <a16:creationId xmlns:a16="http://schemas.microsoft.com/office/drawing/2014/main" id="{93573AAF-B387-14E0-4888-5569AC11E6DE}"/>
              </a:ext>
            </a:extLst>
          </p:cNvPr>
          <p:cNvSpPr txBox="1">
            <a:spLocks/>
          </p:cNvSpPr>
          <p:nvPr/>
        </p:nvSpPr>
        <p:spPr>
          <a:xfrm>
            <a:off x="369879" y="65193"/>
            <a:ext cx="10620000" cy="720000"/>
          </a:xfrm>
          <a:prstGeom prst="rect">
            <a:avLst/>
          </a:prstGeom>
        </p:spPr>
        <p:txBody>
          <a:bodyPr vert="horz" lIns="0" tIns="0" rIns="0" bIns="0" rtlCol="0" anchor="b" anchorCtr="0">
            <a:noAutofit/>
          </a:bodyPr>
          <a:lstStyle>
            <a:lvl1pPr algn="l" defTabSz="914400" rtl="0" eaLnBrk="1" latinLnBrk="0" hangingPunct="1">
              <a:lnSpc>
                <a:spcPct val="90000"/>
              </a:lnSpc>
              <a:spcBef>
                <a:spcPct val="0"/>
              </a:spcBef>
              <a:buNone/>
              <a:defRPr sz="2600" b="1" kern="1200">
                <a:solidFill>
                  <a:schemeClr val="tx1"/>
                </a:solidFill>
                <a:latin typeface="Arial" panose="020B0604020202020204" pitchFamily="34" charset="0"/>
                <a:ea typeface="+mj-ea"/>
                <a:cs typeface="Arial" panose="020B0604020202020204" pitchFamily="34" charset="0"/>
              </a:defRPr>
            </a:lvl1pPr>
          </a:lstStyle>
          <a:p>
            <a:r>
              <a:rPr lang="en-US" sz="2800" dirty="0">
                <a:latin typeface="Century Gothic" panose="020B0502020202020204" pitchFamily="34" charset="0"/>
              </a:rPr>
              <a:t>What does an ionic equation show?</a:t>
            </a:r>
          </a:p>
        </p:txBody>
      </p:sp>
      <p:sp>
        <p:nvSpPr>
          <p:cNvPr id="33" name="TextBox 32">
            <a:extLst>
              <a:ext uri="{FF2B5EF4-FFF2-40B4-BE49-F238E27FC236}">
                <a16:creationId xmlns:a16="http://schemas.microsoft.com/office/drawing/2014/main" id="{0154A21A-8BBF-5B8C-556B-40DB97C15A02}"/>
              </a:ext>
            </a:extLst>
          </p:cNvPr>
          <p:cNvSpPr txBox="1"/>
          <p:nvPr/>
        </p:nvSpPr>
        <p:spPr>
          <a:xfrm>
            <a:off x="369879" y="1120728"/>
            <a:ext cx="1186661" cy="584775"/>
          </a:xfrm>
          <a:prstGeom prst="rect">
            <a:avLst/>
          </a:prstGeom>
          <a:noFill/>
        </p:spPr>
        <p:txBody>
          <a:bodyPr wrap="square" rtlCol="0">
            <a:spAutoFit/>
          </a:bodyPr>
          <a:lstStyle/>
          <a:p>
            <a:r>
              <a:rPr lang="en-US" sz="3200" dirty="0">
                <a:latin typeface="Century Gothic" panose="020B0502020202020204" pitchFamily="34" charset="0"/>
              </a:rPr>
              <a:t>Mg</a:t>
            </a:r>
            <a:r>
              <a:rPr lang="en-US" sz="3200" baseline="-25000" dirty="0">
                <a:latin typeface="Century Gothic" panose="020B0502020202020204" pitchFamily="34" charset="0"/>
              </a:rPr>
              <a:t>(s)</a:t>
            </a:r>
            <a:endParaRPr lang="en-US" sz="2400" baseline="-25000" dirty="0">
              <a:latin typeface="Century Gothic" panose="020B0502020202020204" pitchFamily="34" charset="0"/>
            </a:endParaRPr>
          </a:p>
        </p:txBody>
      </p:sp>
      <p:sp>
        <p:nvSpPr>
          <p:cNvPr id="6" name="TextBox 5">
            <a:extLst>
              <a:ext uri="{FF2B5EF4-FFF2-40B4-BE49-F238E27FC236}">
                <a16:creationId xmlns:a16="http://schemas.microsoft.com/office/drawing/2014/main" id="{8197AF8D-2CE7-8549-1AD9-9E132E947171}"/>
              </a:ext>
            </a:extLst>
          </p:cNvPr>
          <p:cNvSpPr txBox="1"/>
          <p:nvPr/>
        </p:nvSpPr>
        <p:spPr>
          <a:xfrm>
            <a:off x="192677" y="2055687"/>
            <a:ext cx="11060121" cy="1384995"/>
          </a:xfrm>
          <a:prstGeom prst="rect">
            <a:avLst/>
          </a:prstGeom>
          <a:noFill/>
        </p:spPr>
        <p:txBody>
          <a:bodyPr wrap="square" rtlCol="0">
            <a:spAutoFit/>
          </a:bodyPr>
          <a:lstStyle/>
          <a:p>
            <a:pPr marL="342900" indent="-342900">
              <a:buFont typeface="Arial" panose="020B0604020202020204" pitchFamily="34" charset="0"/>
              <a:buChar char="•"/>
            </a:pPr>
            <a:r>
              <a:rPr lang="en-GB" sz="2800" dirty="0">
                <a:latin typeface="Century Gothic" panose="020B0502020202020204" pitchFamily="34" charset="0"/>
              </a:rPr>
              <a:t>Magnesium </a:t>
            </a:r>
            <a:r>
              <a:rPr lang="en-GB" sz="2800" b="1" dirty="0">
                <a:latin typeface="Century Gothic" panose="020B0502020202020204" pitchFamily="34" charset="0"/>
              </a:rPr>
              <a:t>atoms</a:t>
            </a:r>
            <a:r>
              <a:rPr lang="en-GB" sz="2800" dirty="0">
                <a:latin typeface="Century Gothic" panose="020B0502020202020204" pitchFamily="34" charset="0"/>
              </a:rPr>
              <a:t> </a:t>
            </a:r>
            <a:r>
              <a:rPr lang="en-GB" sz="2800" u="sng" dirty="0">
                <a:latin typeface="Century Gothic" panose="020B0502020202020204" pitchFamily="34" charset="0"/>
              </a:rPr>
              <a:t>lose 2 electrons </a:t>
            </a:r>
            <a:r>
              <a:rPr lang="en-GB" sz="2800" dirty="0">
                <a:latin typeface="Century Gothic" panose="020B0502020202020204" pitchFamily="34" charset="0"/>
              </a:rPr>
              <a:t>to become positively charged </a:t>
            </a:r>
            <a:r>
              <a:rPr lang="en-GB" sz="2800" b="1" dirty="0">
                <a:latin typeface="Century Gothic" panose="020B0502020202020204" pitchFamily="34" charset="0"/>
              </a:rPr>
              <a:t>ions</a:t>
            </a:r>
          </a:p>
          <a:p>
            <a:pPr marL="342900" indent="-342900">
              <a:buFont typeface="Arial" panose="020B0604020202020204" pitchFamily="34" charset="0"/>
              <a:buChar char="•"/>
            </a:pPr>
            <a:r>
              <a:rPr lang="en-GB" sz="2800" dirty="0">
                <a:latin typeface="Century Gothic" panose="020B0502020202020204" pitchFamily="34" charset="0"/>
              </a:rPr>
              <a:t>This loss of electrons is called </a:t>
            </a:r>
            <a:r>
              <a:rPr lang="en-GB" sz="2800" b="1" dirty="0">
                <a:latin typeface="Century Gothic" panose="020B0502020202020204" pitchFamily="34" charset="0"/>
              </a:rPr>
              <a:t>oxidation</a:t>
            </a:r>
          </a:p>
        </p:txBody>
      </p:sp>
      <p:sp>
        <p:nvSpPr>
          <p:cNvPr id="7" name="TextBox 6">
            <a:extLst>
              <a:ext uri="{FF2B5EF4-FFF2-40B4-BE49-F238E27FC236}">
                <a16:creationId xmlns:a16="http://schemas.microsoft.com/office/drawing/2014/main" id="{C02203CD-310B-6FE6-7A84-24A9DB91FF62}"/>
              </a:ext>
            </a:extLst>
          </p:cNvPr>
          <p:cNvSpPr txBox="1"/>
          <p:nvPr/>
        </p:nvSpPr>
        <p:spPr>
          <a:xfrm>
            <a:off x="214680" y="4013923"/>
            <a:ext cx="10099240" cy="954107"/>
          </a:xfrm>
          <a:prstGeom prst="rect">
            <a:avLst/>
          </a:prstGeom>
          <a:noFill/>
        </p:spPr>
        <p:txBody>
          <a:bodyPr wrap="none" rtlCol="0">
            <a:spAutoFit/>
          </a:bodyPr>
          <a:lstStyle/>
          <a:p>
            <a:pPr marL="342900" indent="-342900">
              <a:buFont typeface="Arial" panose="020B0604020202020204" pitchFamily="34" charset="0"/>
              <a:buChar char="•"/>
            </a:pPr>
            <a:r>
              <a:rPr lang="en-GB" sz="2800" dirty="0">
                <a:latin typeface="Century Gothic" panose="020B0502020202020204" pitchFamily="34" charset="0"/>
              </a:rPr>
              <a:t>Copper </a:t>
            </a:r>
            <a:r>
              <a:rPr lang="en-GB" sz="2800" b="1" dirty="0">
                <a:latin typeface="Century Gothic" panose="020B0502020202020204" pitchFamily="34" charset="0"/>
              </a:rPr>
              <a:t>ions</a:t>
            </a:r>
            <a:r>
              <a:rPr lang="en-GB" sz="2800" dirty="0">
                <a:latin typeface="Century Gothic" panose="020B0502020202020204" pitchFamily="34" charset="0"/>
              </a:rPr>
              <a:t> </a:t>
            </a:r>
            <a:r>
              <a:rPr lang="en-GB" sz="2800" u="sng" dirty="0">
                <a:latin typeface="Century Gothic" panose="020B0502020202020204" pitchFamily="34" charset="0"/>
              </a:rPr>
              <a:t>gain 2 electrons </a:t>
            </a:r>
            <a:r>
              <a:rPr lang="en-GB" sz="2800" dirty="0">
                <a:latin typeface="Century Gothic" panose="020B0502020202020204" pitchFamily="34" charset="0"/>
              </a:rPr>
              <a:t>to become neutral </a:t>
            </a:r>
            <a:r>
              <a:rPr lang="en-GB" sz="2800" b="1" dirty="0">
                <a:latin typeface="Century Gothic" panose="020B0502020202020204" pitchFamily="34" charset="0"/>
              </a:rPr>
              <a:t>atoms</a:t>
            </a:r>
          </a:p>
          <a:p>
            <a:pPr marL="342900" indent="-342900">
              <a:buFont typeface="Arial" panose="020B0604020202020204" pitchFamily="34" charset="0"/>
              <a:buChar char="•"/>
            </a:pPr>
            <a:r>
              <a:rPr lang="en-GB" sz="2800" dirty="0">
                <a:latin typeface="Century Gothic" panose="020B0502020202020204" pitchFamily="34" charset="0"/>
              </a:rPr>
              <a:t>This gain of electrons is called </a:t>
            </a:r>
            <a:r>
              <a:rPr lang="en-GB" sz="2800" b="1" dirty="0">
                <a:latin typeface="Century Gothic" panose="020B0502020202020204" pitchFamily="34" charset="0"/>
              </a:rPr>
              <a:t>reduction</a:t>
            </a:r>
          </a:p>
        </p:txBody>
      </p:sp>
      <p:sp>
        <p:nvSpPr>
          <p:cNvPr id="9" name="TextBox 8">
            <a:extLst>
              <a:ext uri="{FF2B5EF4-FFF2-40B4-BE49-F238E27FC236}">
                <a16:creationId xmlns:a16="http://schemas.microsoft.com/office/drawing/2014/main" id="{963D57CA-A110-B214-7C71-DCFF273E1D50}"/>
              </a:ext>
            </a:extLst>
          </p:cNvPr>
          <p:cNvSpPr txBox="1"/>
          <p:nvPr/>
        </p:nvSpPr>
        <p:spPr>
          <a:xfrm>
            <a:off x="1556540" y="1145149"/>
            <a:ext cx="2200940" cy="584775"/>
          </a:xfrm>
          <a:prstGeom prst="rect">
            <a:avLst/>
          </a:prstGeom>
          <a:noFill/>
        </p:spPr>
        <p:txBody>
          <a:bodyPr wrap="square">
            <a:spAutoFit/>
          </a:bodyPr>
          <a:lstStyle/>
          <a:p>
            <a:r>
              <a:rPr lang="en-US" sz="3200" dirty="0">
                <a:latin typeface="Century Gothic" panose="020B0502020202020204" pitchFamily="34" charset="0"/>
              </a:rPr>
              <a:t>+ Cu</a:t>
            </a:r>
            <a:r>
              <a:rPr lang="en-US" sz="3200" baseline="30000" dirty="0">
                <a:latin typeface="Century Gothic" panose="020B0502020202020204" pitchFamily="34" charset="0"/>
              </a:rPr>
              <a:t>2+</a:t>
            </a:r>
            <a:r>
              <a:rPr lang="en-US" sz="3200" baseline="-25000" dirty="0">
                <a:latin typeface="Century Gothic" panose="020B0502020202020204" pitchFamily="34" charset="0"/>
              </a:rPr>
              <a:t>(aq)</a:t>
            </a:r>
            <a:endParaRPr lang="en-GB" sz="3200" dirty="0"/>
          </a:p>
        </p:txBody>
      </p:sp>
      <p:sp>
        <p:nvSpPr>
          <p:cNvPr id="11" name="TextBox 10">
            <a:extLst>
              <a:ext uri="{FF2B5EF4-FFF2-40B4-BE49-F238E27FC236}">
                <a16:creationId xmlns:a16="http://schemas.microsoft.com/office/drawing/2014/main" id="{89E1BC68-F25F-9B89-D9B8-8FEBB15DF35F}"/>
              </a:ext>
            </a:extLst>
          </p:cNvPr>
          <p:cNvSpPr txBox="1"/>
          <p:nvPr/>
        </p:nvSpPr>
        <p:spPr>
          <a:xfrm>
            <a:off x="4135170" y="1145148"/>
            <a:ext cx="1895747" cy="584775"/>
          </a:xfrm>
          <a:prstGeom prst="rect">
            <a:avLst/>
          </a:prstGeom>
          <a:noFill/>
        </p:spPr>
        <p:txBody>
          <a:bodyPr wrap="square">
            <a:spAutoFit/>
          </a:bodyPr>
          <a:lstStyle/>
          <a:p>
            <a:r>
              <a:rPr lang="en-GB" sz="3200" dirty="0">
                <a:latin typeface="Century Gothic" panose="020B0502020202020204" pitchFamily="34" charset="0"/>
              </a:rPr>
              <a:t>Mg</a:t>
            </a:r>
            <a:r>
              <a:rPr lang="en-GB" sz="3200" baseline="30000" dirty="0">
                <a:latin typeface="Century Gothic" panose="020B0502020202020204" pitchFamily="34" charset="0"/>
              </a:rPr>
              <a:t>2+</a:t>
            </a:r>
            <a:r>
              <a:rPr lang="en-GB" sz="3200" baseline="-25000" dirty="0">
                <a:latin typeface="Century Gothic" panose="020B0502020202020204" pitchFamily="34" charset="0"/>
              </a:rPr>
              <a:t>(aq) </a:t>
            </a:r>
            <a:endParaRPr lang="en-GB" sz="3200" dirty="0"/>
          </a:p>
        </p:txBody>
      </p:sp>
      <p:sp>
        <p:nvSpPr>
          <p:cNvPr id="13" name="TextBox 12">
            <a:extLst>
              <a:ext uri="{FF2B5EF4-FFF2-40B4-BE49-F238E27FC236}">
                <a16:creationId xmlns:a16="http://schemas.microsoft.com/office/drawing/2014/main" id="{6959128E-0754-FD3A-FA5C-3DCB35613415}"/>
              </a:ext>
            </a:extLst>
          </p:cNvPr>
          <p:cNvSpPr txBox="1"/>
          <p:nvPr/>
        </p:nvSpPr>
        <p:spPr>
          <a:xfrm>
            <a:off x="5804716" y="1145148"/>
            <a:ext cx="2200940" cy="584775"/>
          </a:xfrm>
          <a:prstGeom prst="rect">
            <a:avLst/>
          </a:prstGeom>
          <a:noFill/>
        </p:spPr>
        <p:txBody>
          <a:bodyPr wrap="square">
            <a:spAutoFit/>
          </a:bodyPr>
          <a:lstStyle/>
          <a:p>
            <a:r>
              <a:rPr lang="en-GB" sz="3200" dirty="0">
                <a:latin typeface="Century Gothic" panose="020B0502020202020204" pitchFamily="34" charset="0"/>
              </a:rPr>
              <a:t>+ Cu</a:t>
            </a:r>
            <a:r>
              <a:rPr lang="en-GB" sz="3200" baseline="-25000" dirty="0">
                <a:latin typeface="Century Gothic" panose="020B0502020202020204" pitchFamily="34" charset="0"/>
              </a:rPr>
              <a:t>(s)</a:t>
            </a:r>
            <a:r>
              <a:rPr lang="en-US" sz="3200" baseline="-25000" dirty="0">
                <a:latin typeface="Century Gothic" panose="020B0502020202020204" pitchFamily="34" charset="0"/>
              </a:rPr>
              <a:t> </a:t>
            </a:r>
            <a:endParaRPr lang="en-GB" sz="3200" dirty="0"/>
          </a:p>
        </p:txBody>
      </p:sp>
      <p:sp>
        <p:nvSpPr>
          <p:cNvPr id="15" name="TextBox 14">
            <a:extLst>
              <a:ext uri="{FF2B5EF4-FFF2-40B4-BE49-F238E27FC236}">
                <a16:creationId xmlns:a16="http://schemas.microsoft.com/office/drawing/2014/main" id="{EA95D03D-424D-11E0-B9B0-B6D659BA6407}"/>
              </a:ext>
            </a:extLst>
          </p:cNvPr>
          <p:cNvSpPr txBox="1"/>
          <p:nvPr/>
        </p:nvSpPr>
        <p:spPr>
          <a:xfrm>
            <a:off x="3451393" y="1120728"/>
            <a:ext cx="684671" cy="584775"/>
          </a:xfrm>
          <a:prstGeom prst="rect">
            <a:avLst/>
          </a:prstGeom>
          <a:noFill/>
        </p:spPr>
        <p:txBody>
          <a:bodyPr wrap="square">
            <a:spAutoFit/>
          </a:bodyPr>
          <a:lstStyle/>
          <a:p>
            <a:r>
              <a:rPr lang="en-GB" sz="3200" dirty="0">
                <a:latin typeface="Century Gothic" panose="020B0502020202020204" pitchFamily="34" charset="0"/>
              </a:rPr>
              <a:t>→</a:t>
            </a:r>
            <a:endParaRPr lang="en-GB" sz="3200" dirty="0"/>
          </a:p>
        </p:txBody>
      </p:sp>
      <p:sp>
        <p:nvSpPr>
          <p:cNvPr id="16" name="TextBox 15">
            <a:extLst>
              <a:ext uri="{FF2B5EF4-FFF2-40B4-BE49-F238E27FC236}">
                <a16:creationId xmlns:a16="http://schemas.microsoft.com/office/drawing/2014/main" id="{C6ED3485-C492-B3D5-A49A-A679FB56AEFD}"/>
              </a:ext>
            </a:extLst>
          </p:cNvPr>
          <p:cNvSpPr txBox="1"/>
          <p:nvPr/>
        </p:nvSpPr>
        <p:spPr>
          <a:xfrm>
            <a:off x="530804" y="3495955"/>
            <a:ext cx="4984784" cy="461665"/>
          </a:xfrm>
          <a:prstGeom prst="rect">
            <a:avLst/>
          </a:prstGeom>
          <a:solidFill>
            <a:schemeClr val="accent1">
              <a:lumMod val="40000"/>
              <a:lumOff val="60000"/>
            </a:schemeClr>
          </a:solidFill>
        </p:spPr>
        <p:txBody>
          <a:bodyPr wrap="square" rtlCol="0">
            <a:spAutoFit/>
          </a:bodyPr>
          <a:lstStyle/>
          <a:p>
            <a:r>
              <a:rPr lang="en-GB" sz="2400" b="1" dirty="0">
                <a:latin typeface="Century Gothic" panose="020B0502020202020204" pitchFamily="34" charset="0"/>
              </a:rPr>
              <a:t>Oxidation </a:t>
            </a:r>
            <a:r>
              <a:rPr lang="en-GB" sz="2400" dirty="0">
                <a:latin typeface="Century Gothic" panose="020B0502020202020204" pitchFamily="34" charset="0"/>
              </a:rPr>
              <a:t>is the loss of electrons</a:t>
            </a:r>
          </a:p>
        </p:txBody>
      </p:sp>
      <p:sp>
        <p:nvSpPr>
          <p:cNvPr id="17" name="TextBox 16">
            <a:extLst>
              <a:ext uri="{FF2B5EF4-FFF2-40B4-BE49-F238E27FC236}">
                <a16:creationId xmlns:a16="http://schemas.microsoft.com/office/drawing/2014/main" id="{4AD93468-C644-E5E0-2B70-CB5A444F3231}"/>
              </a:ext>
            </a:extLst>
          </p:cNvPr>
          <p:cNvSpPr txBox="1"/>
          <p:nvPr/>
        </p:nvSpPr>
        <p:spPr>
          <a:xfrm>
            <a:off x="530804" y="5099294"/>
            <a:ext cx="5096710" cy="461665"/>
          </a:xfrm>
          <a:prstGeom prst="rect">
            <a:avLst/>
          </a:prstGeom>
          <a:solidFill>
            <a:schemeClr val="accent1">
              <a:lumMod val="40000"/>
              <a:lumOff val="60000"/>
            </a:schemeClr>
          </a:solidFill>
        </p:spPr>
        <p:txBody>
          <a:bodyPr wrap="square" rtlCol="0">
            <a:spAutoFit/>
          </a:bodyPr>
          <a:lstStyle/>
          <a:p>
            <a:r>
              <a:rPr lang="en-GB" sz="2400" b="1" dirty="0">
                <a:latin typeface="Century Gothic" panose="020B0502020202020204" pitchFamily="34" charset="0"/>
              </a:rPr>
              <a:t>Reduction </a:t>
            </a:r>
            <a:r>
              <a:rPr lang="en-GB" sz="2400" dirty="0">
                <a:latin typeface="Century Gothic" panose="020B0502020202020204" pitchFamily="34" charset="0"/>
              </a:rPr>
              <a:t>is the gain of electrons</a:t>
            </a:r>
          </a:p>
        </p:txBody>
      </p:sp>
      <p:sp>
        <p:nvSpPr>
          <p:cNvPr id="18" name="TextBox 17">
            <a:extLst>
              <a:ext uri="{FF2B5EF4-FFF2-40B4-BE49-F238E27FC236}">
                <a16:creationId xmlns:a16="http://schemas.microsoft.com/office/drawing/2014/main" id="{26301CE1-F604-3D77-7B60-8CC74F91D891}"/>
              </a:ext>
            </a:extLst>
          </p:cNvPr>
          <p:cNvSpPr txBox="1"/>
          <p:nvPr/>
        </p:nvSpPr>
        <p:spPr>
          <a:xfrm>
            <a:off x="530804" y="5712851"/>
            <a:ext cx="10547823" cy="830997"/>
          </a:xfrm>
          <a:prstGeom prst="rect">
            <a:avLst/>
          </a:prstGeom>
          <a:solidFill>
            <a:schemeClr val="accent1">
              <a:lumMod val="40000"/>
              <a:lumOff val="60000"/>
            </a:schemeClr>
          </a:solidFill>
        </p:spPr>
        <p:txBody>
          <a:bodyPr wrap="square" rtlCol="0">
            <a:spAutoFit/>
          </a:bodyPr>
          <a:lstStyle/>
          <a:p>
            <a:r>
              <a:rPr lang="en-GB" sz="2400" b="1" dirty="0">
                <a:latin typeface="Century Gothic" panose="020B0502020202020204" pitchFamily="34" charset="0"/>
              </a:rPr>
              <a:t>A redox reaction </a:t>
            </a:r>
            <a:r>
              <a:rPr lang="en-GB" sz="2400" dirty="0">
                <a:latin typeface="Century Gothic" panose="020B0502020202020204" pitchFamily="34" charset="0"/>
              </a:rPr>
              <a:t>is one in which oxidation and reduction take place at the same time</a:t>
            </a:r>
          </a:p>
        </p:txBody>
      </p:sp>
    </p:spTree>
    <p:extLst>
      <p:ext uri="{BB962C8B-B14F-4D97-AF65-F5344CB8AC3E}">
        <p14:creationId xmlns:p14="http://schemas.microsoft.com/office/powerpoint/2010/main" val="13108329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grpId="0" nodeType="clickEffect">
                                  <p:stCondLst>
                                    <p:cond delay="0"/>
                                  </p:stCondLst>
                                  <p:childTnLst>
                                    <p:animClr clrSpc="rgb" dir="cw">
                                      <p:cBhvr override="childStyle">
                                        <p:cTn id="6" dur="2000" fill="hold"/>
                                        <p:tgtEl>
                                          <p:spTgt spid="11"/>
                                        </p:tgtEl>
                                        <p:attrNameLst>
                                          <p:attrName>style.color</p:attrName>
                                        </p:attrNameLst>
                                      </p:cBhvr>
                                      <p:to>
                                        <a:srgbClr val="7030A0"/>
                                      </p:to>
                                    </p:animClr>
                                  </p:childTnLst>
                                </p:cTn>
                              </p:par>
                              <p:par>
                                <p:cTn id="7" presetID="3" presetClass="emph" presetSubtype="2" fill="hold" grpId="0" nodeType="withEffect">
                                  <p:stCondLst>
                                    <p:cond delay="0"/>
                                  </p:stCondLst>
                                  <p:childTnLst>
                                    <p:animClr clrSpc="rgb" dir="cw">
                                      <p:cBhvr override="childStyle">
                                        <p:cTn id="8" dur="2000" fill="hold"/>
                                        <p:tgtEl>
                                          <p:spTgt spid="15"/>
                                        </p:tgtEl>
                                        <p:attrNameLst>
                                          <p:attrName>style.color</p:attrName>
                                        </p:attrNameLst>
                                      </p:cBhvr>
                                      <p:to>
                                        <a:srgbClr val="7030A0"/>
                                      </p:to>
                                    </p:animClr>
                                  </p:childTnLst>
                                </p:cTn>
                              </p:par>
                              <p:par>
                                <p:cTn id="9" presetID="3" presetClass="emph" presetSubtype="2" fill="hold" grpId="0" nodeType="withEffect">
                                  <p:stCondLst>
                                    <p:cond delay="0"/>
                                  </p:stCondLst>
                                  <p:childTnLst>
                                    <p:animClr clrSpc="rgb" dir="cw">
                                      <p:cBhvr override="childStyle">
                                        <p:cTn id="10" dur="2000" fill="hold"/>
                                        <p:tgtEl>
                                          <p:spTgt spid="33"/>
                                        </p:tgtEl>
                                        <p:attrNameLst>
                                          <p:attrName>style.color</p:attrName>
                                        </p:attrNameLst>
                                      </p:cBhvr>
                                      <p:to>
                                        <a:srgbClr val="7030A0"/>
                                      </p:to>
                                    </p:animClr>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6">
                                            <p:txEl>
                                              <p:pRg st="0" end="0"/>
                                            </p:txEl>
                                          </p:spTgt>
                                        </p:tgtEl>
                                        <p:attrNameLst>
                                          <p:attrName>style.visibility</p:attrName>
                                        </p:attrNameLst>
                                      </p:cBhvr>
                                      <p:to>
                                        <p:strVal val="visible"/>
                                      </p:to>
                                    </p:set>
                                    <p:animEffect transition="in" filter="fade">
                                      <p:cBhvr>
                                        <p:cTn id="15" dur="500"/>
                                        <p:tgtEl>
                                          <p:spTgt spid="6">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6">
                                            <p:txEl>
                                              <p:pRg st="1" end="1"/>
                                            </p:txEl>
                                          </p:spTgt>
                                        </p:tgtEl>
                                        <p:attrNameLst>
                                          <p:attrName>style.visibility</p:attrName>
                                        </p:attrNameLst>
                                      </p:cBhvr>
                                      <p:to>
                                        <p:strVal val="visible"/>
                                      </p:to>
                                    </p:set>
                                    <p:animEffect transition="in" filter="fade">
                                      <p:cBhvr>
                                        <p:cTn id="20" dur="500"/>
                                        <p:tgtEl>
                                          <p:spTgt spid="6">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500"/>
                                        <p:tgtEl>
                                          <p:spTgt spid="16"/>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mph" presetSubtype="2" fill="hold" grpId="0" nodeType="clickEffect">
                                  <p:stCondLst>
                                    <p:cond delay="0"/>
                                  </p:stCondLst>
                                  <p:childTnLst>
                                    <p:animClr clrSpc="rgb" dir="cw">
                                      <p:cBhvr override="childStyle">
                                        <p:cTn id="29" dur="2000" fill="hold"/>
                                        <p:tgtEl>
                                          <p:spTgt spid="9"/>
                                        </p:tgtEl>
                                        <p:attrNameLst>
                                          <p:attrName>style.color</p:attrName>
                                        </p:attrNameLst>
                                      </p:cBhvr>
                                      <p:to>
                                        <a:srgbClr val="00B050"/>
                                      </p:to>
                                    </p:animClr>
                                  </p:childTnLst>
                                </p:cTn>
                              </p:par>
                              <p:par>
                                <p:cTn id="30" presetID="3" presetClass="emph" presetSubtype="2" fill="hold" grpId="1" nodeType="withEffect">
                                  <p:stCondLst>
                                    <p:cond delay="0"/>
                                  </p:stCondLst>
                                  <p:childTnLst>
                                    <p:animClr clrSpc="rgb" dir="cw">
                                      <p:cBhvr override="childStyle">
                                        <p:cTn id="31" dur="2000" fill="hold"/>
                                        <p:tgtEl>
                                          <p:spTgt spid="15"/>
                                        </p:tgtEl>
                                        <p:attrNameLst>
                                          <p:attrName>style.color</p:attrName>
                                        </p:attrNameLst>
                                      </p:cBhvr>
                                      <p:to>
                                        <a:srgbClr val="00B050"/>
                                      </p:to>
                                    </p:animClr>
                                  </p:childTnLst>
                                </p:cTn>
                              </p:par>
                              <p:par>
                                <p:cTn id="32" presetID="3" presetClass="emph" presetSubtype="2" fill="hold" grpId="0" nodeType="withEffect">
                                  <p:stCondLst>
                                    <p:cond delay="0"/>
                                  </p:stCondLst>
                                  <p:childTnLst>
                                    <p:animClr clrSpc="rgb" dir="cw">
                                      <p:cBhvr override="childStyle">
                                        <p:cTn id="33" dur="2000" fill="hold"/>
                                        <p:tgtEl>
                                          <p:spTgt spid="13"/>
                                        </p:tgtEl>
                                        <p:attrNameLst>
                                          <p:attrName>style.color</p:attrName>
                                        </p:attrNameLst>
                                      </p:cBhvr>
                                      <p:to>
                                        <a:srgbClr val="00B050"/>
                                      </p:to>
                                    </p:animClr>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7">
                                            <p:txEl>
                                              <p:pRg st="0" end="0"/>
                                            </p:txEl>
                                          </p:spTgt>
                                        </p:tgtEl>
                                        <p:attrNameLst>
                                          <p:attrName>style.visibility</p:attrName>
                                        </p:attrNameLst>
                                      </p:cBhvr>
                                      <p:to>
                                        <p:strVal val="visible"/>
                                      </p:to>
                                    </p:set>
                                    <p:animEffect transition="in" filter="fade">
                                      <p:cBhvr>
                                        <p:cTn id="38" dur="500"/>
                                        <p:tgtEl>
                                          <p:spTgt spid="7">
                                            <p:txEl>
                                              <p:pRg st="0" end="0"/>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7">
                                            <p:txEl>
                                              <p:pRg st="1" end="1"/>
                                            </p:txEl>
                                          </p:spTgt>
                                        </p:tgtEl>
                                        <p:attrNameLst>
                                          <p:attrName>style.visibility</p:attrName>
                                        </p:attrNameLst>
                                      </p:cBhvr>
                                      <p:to>
                                        <p:strVal val="visible"/>
                                      </p:to>
                                    </p:set>
                                    <p:animEffect transition="in" filter="fade">
                                      <p:cBhvr>
                                        <p:cTn id="43" dur="500"/>
                                        <p:tgtEl>
                                          <p:spTgt spid="7">
                                            <p:txEl>
                                              <p:pRg st="1" end="1"/>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500"/>
                                        <p:tgtEl>
                                          <p:spTgt spid="17"/>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fade">
                                      <p:cBhvr>
                                        <p:cTn id="53"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9" grpId="0"/>
      <p:bldP spid="11" grpId="0"/>
      <p:bldP spid="13" grpId="0"/>
      <p:bldP spid="15" grpId="0"/>
      <p:bldP spid="15" grpId="1"/>
      <p:bldP spid="16" grpId="0" animBg="1"/>
      <p:bldP spid="17" grpId="0" animBg="1"/>
      <p:bldP spid="1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13E47B-4613-5B23-67CD-13DC65BB7AC3}"/>
            </a:ext>
          </a:extLst>
        </p:cNvPr>
        <p:cNvGrpSpPr/>
        <p:nvPr/>
      </p:nvGrpSpPr>
      <p:grpSpPr>
        <a:xfrm>
          <a:off x="0" y="0"/>
          <a:ext cx="0" cy="0"/>
          <a:chOff x="0" y="0"/>
          <a:chExt cx="0" cy="0"/>
        </a:xfrm>
      </p:grpSpPr>
      <p:sp>
        <p:nvSpPr>
          <p:cNvPr id="23" name="Title 1">
            <a:extLst>
              <a:ext uri="{FF2B5EF4-FFF2-40B4-BE49-F238E27FC236}">
                <a16:creationId xmlns:a16="http://schemas.microsoft.com/office/drawing/2014/main" id="{7FCA7CA3-7233-20CE-F9D5-F86B147C181E}"/>
              </a:ext>
            </a:extLst>
          </p:cNvPr>
          <p:cNvSpPr txBox="1">
            <a:spLocks/>
          </p:cNvSpPr>
          <p:nvPr/>
        </p:nvSpPr>
        <p:spPr>
          <a:xfrm>
            <a:off x="369879" y="65193"/>
            <a:ext cx="10620000" cy="720000"/>
          </a:xfrm>
          <a:prstGeom prst="rect">
            <a:avLst/>
          </a:prstGeom>
        </p:spPr>
        <p:txBody>
          <a:bodyPr vert="horz" lIns="0" tIns="0" rIns="0" bIns="0" rtlCol="0" anchor="b" anchorCtr="0">
            <a:noAutofit/>
          </a:bodyPr>
          <a:lstStyle>
            <a:lvl1pPr algn="l" defTabSz="914400" rtl="0" eaLnBrk="1" latinLnBrk="0" hangingPunct="1">
              <a:lnSpc>
                <a:spcPct val="90000"/>
              </a:lnSpc>
              <a:spcBef>
                <a:spcPct val="0"/>
              </a:spcBef>
              <a:buNone/>
              <a:defRPr sz="2600" b="1" kern="1200">
                <a:solidFill>
                  <a:schemeClr val="tx1"/>
                </a:solidFill>
                <a:latin typeface="Arial" panose="020B0604020202020204" pitchFamily="34" charset="0"/>
                <a:ea typeface="+mj-ea"/>
                <a:cs typeface="Arial" panose="020B0604020202020204" pitchFamily="34" charset="0"/>
              </a:defRPr>
            </a:lvl1pPr>
          </a:lstStyle>
          <a:p>
            <a:r>
              <a:rPr lang="en-US" sz="2800" dirty="0">
                <a:latin typeface="Century Gothic" panose="020B0502020202020204" pitchFamily="34" charset="0"/>
              </a:rPr>
              <a:t>Key definitions</a:t>
            </a:r>
          </a:p>
        </p:txBody>
      </p:sp>
      <p:sp>
        <p:nvSpPr>
          <p:cNvPr id="16" name="TextBox 15">
            <a:extLst>
              <a:ext uri="{FF2B5EF4-FFF2-40B4-BE49-F238E27FC236}">
                <a16:creationId xmlns:a16="http://schemas.microsoft.com/office/drawing/2014/main" id="{49B7D7A8-987C-98CE-6C14-81126EBBA0B1}"/>
              </a:ext>
            </a:extLst>
          </p:cNvPr>
          <p:cNvSpPr txBox="1"/>
          <p:nvPr/>
        </p:nvSpPr>
        <p:spPr>
          <a:xfrm>
            <a:off x="530804" y="1527873"/>
            <a:ext cx="4984784" cy="830997"/>
          </a:xfrm>
          <a:prstGeom prst="rect">
            <a:avLst/>
          </a:prstGeom>
          <a:solidFill>
            <a:schemeClr val="accent1">
              <a:lumMod val="40000"/>
              <a:lumOff val="60000"/>
            </a:schemeClr>
          </a:solidFill>
        </p:spPr>
        <p:txBody>
          <a:bodyPr wrap="square" rtlCol="0">
            <a:spAutoFit/>
          </a:bodyPr>
          <a:lstStyle/>
          <a:p>
            <a:r>
              <a:rPr lang="en-GB" sz="2400" b="1" dirty="0">
                <a:latin typeface="Century Gothic" panose="020B0502020202020204" pitchFamily="34" charset="0"/>
              </a:rPr>
              <a:t>Oxidation </a:t>
            </a:r>
            <a:r>
              <a:rPr lang="en-GB" sz="2400" dirty="0">
                <a:latin typeface="Century Gothic" panose="020B0502020202020204" pitchFamily="34" charset="0"/>
              </a:rPr>
              <a:t>is the ________ of electrons</a:t>
            </a:r>
          </a:p>
        </p:txBody>
      </p:sp>
      <p:sp>
        <p:nvSpPr>
          <p:cNvPr id="17" name="TextBox 16">
            <a:extLst>
              <a:ext uri="{FF2B5EF4-FFF2-40B4-BE49-F238E27FC236}">
                <a16:creationId xmlns:a16="http://schemas.microsoft.com/office/drawing/2014/main" id="{E41BCC9E-29BF-59CB-E781-63E3208ECAC8}"/>
              </a:ext>
            </a:extLst>
          </p:cNvPr>
          <p:cNvSpPr txBox="1"/>
          <p:nvPr/>
        </p:nvSpPr>
        <p:spPr>
          <a:xfrm>
            <a:off x="474841" y="2866488"/>
            <a:ext cx="5096710" cy="830997"/>
          </a:xfrm>
          <a:prstGeom prst="rect">
            <a:avLst/>
          </a:prstGeom>
          <a:solidFill>
            <a:schemeClr val="accent1">
              <a:lumMod val="40000"/>
              <a:lumOff val="60000"/>
            </a:schemeClr>
          </a:solidFill>
        </p:spPr>
        <p:txBody>
          <a:bodyPr wrap="square" rtlCol="0">
            <a:spAutoFit/>
          </a:bodyPr>
          <a:lstStyle/>
          <a:p>
            <a:r>
              <a:rPr lang="en-GB" sz="2400" b="1" dirty="0">
                <a:latin typeface="Century Gothic" panose="020B0502020202020204" pitchFamily="34" charset="0"/>
              </a:rPr>
              <a:t>Reduction </a:t>
            </a:r>
            <a:r>
              <a:rPr lang="en-GB" sz="2400" dirty="0">
                <a:latin typeface="Century Gothic" panose="020B0502020202020204" pitchFamily="34" charset="0"/>
              </a:rPr>
              <a:t>is the ________ of electrons</a:t>
            </a:r>
          </a:p>
        </p:txBody>
      </p:sp>
      <p:sp>
        <p:nvSpPr>
          <p:cNvPr id="18" name="TextBox 17">
            <a:extLst>
              <a:ext uri="{FF2B5EF4-FFF2-40B4-BE49-F238E27FC236}">
                <a16:creationId xmlns:a16="http://schemas.microsoft.com/office/drawing/2014/main" id="{36652086-FA67-1087-B8CF-9984C7A21AAC}"/>
              </a:ext>
            </a:extLst>
          </p:cNvPr>
          <p:cNvSpPr txBox="1"/>
          <p:nvPr/>
        </p:nvSpPr>
        <p:spPr>
          <a:xfrm>
            <a:off x="442056" y="4217577"/>
            <a:ext cx="10547823" cy="830997"/>
          </a:xfrm>
          <a:prstGeom prst="rect">
            <a:avLst/>
          </a:prstGeom>
          <a:solidFill>
            <a:schemeClr val="accent1">
              <a:lumMod val="40000"/>
              <a:lumOff val="60000"/>
            </a:schemeClr>
          </a:solidFill>
        </p:spPr>
        <p:txBody>
          <a:bodyPr wrap="square" rtlCol="0">
            <a:spAutoFit/>
          </a:bodyPr>
          <a:lstStyle/>
          <a:p>
            <a:r>
              <a:rPr lang="en-GB" sz="2400" b="1" dirty="0">
                <a:latin typeface="Century Gothic" panose="020B0502020202020204" pitchFamily="34" charset="0"/>
              </a:rPr>
              <a:t>A redox reaction </a:t>
            </a:r>
            <a:r>
              <a:rPr lang="en-GB" sz="2400" dirty="0">
                <a:latin typeface="Century Gothic" panose="020B0502020202020204" pitchFamily="34" charset="0"/>
              </a:rPr>
              <a:t>is one in which ___________ and _____________ take place at the ____________ time</a:t>
            </a:r>
          </a:p>
        </p:txBody>
      </p:sp>
      <p:sp>
        <p:nvSpPr>
          <p:cNvPr id="2" name="TextBox 1">
            <a:extLst>
              <a:ext uri="{FF2B5EF4-FFF2-40B4-BE49-F238E27FC236}">
                <a16:creationId xmlns:a16="http://schemas.microsoft.com/office/drawing/2014/main" id="{D1D6CB0A-6B64-41AE-6928-E1D05505C60B}"/>
              </a:ext>
            </a:extLst>
          </p:cNvPr>
          <p:cNvSpPr txBox="1"/>
          <p:nvPr/>
        </p:nvSpPr>
        <p:spPr>
          <a:xfrm>
            <a:off x="8443608" y="1297041"/>
            <a:ext cx="1556426" cy="2123658"/>
          </a:xfrm>
          <a:prstGeom prst="rect">
            <a:avLst/>
          </a:prstGeom>
          <a:noFill/>
        </p:spPr>
        <p:txBody>
          <a:bodyPr wrap="square" rtlCol="0">
            <a:spAutoFit/>
          </a:bodyPr>
          <a:lstStyle/>
          <a:p>
            <a:r>
              <a:rPr lang="en-US" sz="4400" b="1" dirty="0"/>
              <a:t>O	R</a:t>
            </a:r>
          </a:p>
          <a:p>
            <a:r>
              <a:rPr lang="en-US" sz="4400" b="1" dirty="0"/>
              <a:t>I	I</a:t>
            </a:r>
          </a:p>
          <a:p>
            <a:r>
              <a:rPr lang="en-US" sz="4400" b="1" dirty="0"/>
              <a:t>L	G</a:t>
            </a:r>
          </a:p>
        </p:txBody>
      </p:sp>
      <p:sp>
        <p:nvSpPr>
          <p:cNvPr id="3" name="TextBox 2">
            <a:extLst>
              <a:ext uri="{FF2B5EF4-FFF2-40B4-BE49-F238E27FC236}">
                <a16:creationId xmlns:a16="http://schemas.microsoft.com/office/drawing/2014/main" id="{D488A296-2062-A7DA-CF4E-6985A3F29DD6}"/>
              </a:ext>
            </a:extLst>
          </p:cNvPr>
          <p:cNvSpPr txBox="1"/>
          <p:nvPr/>
        </p:nvSpPr>
        <p:spPr>
          <a:xfrm>
            <a:off x="535378" y="5568666"/>
            <a:ext cx="10072345" cy="883383"/>
          </a:xfrm>
          <a:prstGeom prst="rect">
            <a:avLst/>
          </a:prstGeom>
          <a:noFill/>
        </p:spPr>
        <p:txBody>
          <a:bodyPr wrap="square" rtlCol="0">
            <a:spAutoFit/>
          </a:bodyPr>
          <a:lstStyle/>
          <a:p>
            <a:pPr>
              <a:lnSpc>
                <a:spcPct val="150000"/>
              </a:lnSpc>
            </a:pPr>
            <a:r>
              <a:rPr lang="en-US" b="1" dirty="0"/>
              <a:t>KEYWORDS: LOSS 	GAIN		COMPOUNDS		OXIDATION	REDUCTION		DIFFERENT	SAME	</a:t>
            </a:r>
            <a:r>
              <a:rPr lang="en-US" dirty="0"/>
              <a:t>	</a:t>
            </a:r>
          </a:p>
        </p:txBody>
      </p:sp>
    </p:spTree>
    <p:extLst>
      <p:ext uri="{BB962C8B-B14F-4D97-AF65-F5344CB8AC3E}">
        <p14:creationId xmlns:p14="http://schemas.microsoft.com/office/powerpoint/2010/main" val="14533076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1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C42054-9B4C-AD71-F50E-8AA2EE0C0429}"/>
            </a:ext>
          </a:extLst>
        </p:cNvPr>
        <p:cNvGrpSpPr/>
        <p:nvPr/>
      </p:nvGrpSpPr>
      <p:grpSpPr>
        <a:xfrm>
          <a:off x="0" y="0"/>
          <a:ext cx="0" cy="0"/>
          <a:chOff x="0" y="0"/>
          <a:chExt cx="0" cy="0"/>
        </a:xfrm>
      </p:grpSpPr>
      <p:sp>
        <p:nvSpPr>
          <p:cNvPr id="23" name="Title 1">
            <a:extLst>
              <a:ext uri="{FF2B5EF4-FFF2-40B4-BE49-F238E27FC236}">
                <a16:creationId xmlns:a16="http://schemas.microsoft.com/office/drawing/2014/main" id="{CED8A923-02A2-ADE9-E8A9-23C3C53925B2}"/>
              </a:ext>
            </a:extLst>
          </p:cNvPr>
          <p:cNvSpPr txBox="1">
            <a:spLocks/>
          </p:cNvSpPr>
          <p:nvPr/>
        </p:nvSpPr>
        <p:spPr>
          <a:xfrm>
            <a:off x="369879" y="65193"/>
            <a:ext cx="10620000" cy="720000"/>
          </a:xfrm>
          <a:prstGeom prst="rect">
            <a:avLst/>
          </a:prstGeom>
        </p:spPr>
        <p:txBody>
          <a:bodyPr vert="horz" lIns="0" tIns="0" rIns="0" bIns="0" rtlCol="0" anchor="b" anchorCtr="0">
            <a:noAutofit/>
          </a:bodyPr>
          <a:lstStyle>
            <a:lvl1pPr algn="l" defTabSz="914400" rtl="0" eaLnBrk="1" latinLnBrk="0" hangingPunct="1">
              <a:lnSpc>
                <a:spcPct val="90000"/>
              </a:lnSpc>
              <a:spcBef>
                <a:spcPct val="0"/>
              </a:spcBef>
              <a:buNone/>
              <a:defRPr sz="2600" b="1" kern="1200">
                <a:solidFill>
                  <a:schemeClr val="tx1"/>
                </a:solidFill>
                <a:latin typeface="Arial" panose="020B0604020202020204" pitchFamily="34" charset="0"/>
                <a:ea typeface="+mj-ea"/>
                <a:cs typeface="Arial" panose="020B0604020202020204" pitchFamily="34" charset="0"/>
              </a:defRPr>
            </a:lvl1pPr>
          </a:lstStyle>
          <a:p>
            <a:r>
              <a:rPr lang="en-US" sz="2800" dirty="0">
                <a:latin typeface="Century Gothic" panose="020B0502020202020204" pitchFamily="34" charset="0"/>
              </a:rPr>
              <a:t>Key definitions</a:t>
            </a:r>
          </a:p>
        </p:txBody>
      </p:sp>
      <p:sp>
        <p:nvSpPr>
          <p:cNvPr id="16" name="TextBox 15">
            <a:extLst>
              <a:ext uri="{FF2B5EF4-FFF2-40B4-BE49-F238E27FC236}">
                <a16:creationId xmlns:a16="http://schemas.microsoft.com/office/drawing/2014/main" id="{6372F92E-55D5-7A31-8BF9-9BB25E5A2F0C}"/>
              </a:ext>
            </a:extLst>
          </p:cNvPr>
          <p:cNvSpPr txBox="1"/>
          <p:nvPr/>
        </p:nvSpPr>
        <p:spPr>
          <a:xfrm>
            <a:off x="530804" y="1527873"/>
            <a:ext cx="4984784" cy="830997"/>
          </a:xfrm>
          <a:prstGeom prst="rect">
            <a:avLst/>
          </a:prstGeom>
          <a:solidFill>
            <a:schemeClr val="accent1">
              <a:lumMod val="40000"/>
              <a:lumOff val="60000"/>
            </a:schemeClr>
          </a:solidFill>
        </p:spPr>
        <p:txBody>
          <a:bodyPr wrap="square" rtlCol="0">
            <a:spAutoFit/>
          </a:bodyPr>
          <a:lstStyle/>
          <a:p>
            <a:r>
              <a:rPr lang="en-GB" sz="2400" b="1" dirty="0">
                <a:latin typeface="Century Gothic" panose="020B0502020202020204" pitchFamily="34" charset="0"/>
              </a:rPr>
              <a:t>Oxidation </a:t>
            </a:r>
            <a:r>
              <a:rPr lang="en-GB" sz="2400" dirty="0">
                <a:latin typeface="Century Gothic" panose="020B0502020202020204" pitchFamily="34" charset="0"/>
              </a:rPr>
              <a:t>is the </a:t>
            </a:r>
            <a:r>
              <a:rPr lang="en-GB" sz="2400" b="1" dirty="0">
                <a:latin typeface="Century Gothic" panose="020B0502020202020204" pitchFamily="34" charset="0"/>
              </a:rPr>
              <a:t>LOSS</a:t>
            </a:r>
            <a:r>
              <a:rPr lang="en-GB" sz="2400" dirty="0">
                <a:latin typeface="Century Gothic" panose="020B0502020202020204" pitchFamily="34" charset="0"/>
              </a:rPr>
              <a:t> of electrons</a:t>
            </a:r>
          </a:p>
        </p:txBody>
      </p:sp>
      <p:sp>
        <p:nvSpPr>
          <p:cNvPr id="17" name="TextBox 16">
            <a:extLst>
              <a:ext uri="{FF2B5EF4-FFF2-40B4-BE49-F238E27FC236}">
                <a16:creationId xmlns:a16="http://schemas.microsoft.com/office/drawing/2014/main" id="{D3A8280C-D229-7737-FE2C-9D9756C2F7B4}"/>
              </a:ext>
            </a:extLst>
          </p:cNvPr>
          <p:cNvSpPr txBox="1"/>
          <p:nvPr/>
        </p:nvSpPr>
        <p:spPr>
          <a:xfrm>
            <a:off x="474841" y="2866488"/>
            <a:ext cx="5096710" cy="830997"/>
          </a:xfrm>
          <a:prstGeom prst="rect">
            <a:avLst/>
          </a:prstGeom>
          <a:solidFill>
            <a:schemeClr val="accent1">
              <a:lumMod val="40000"/>
              <a:lumOff val="60000"/>
            </a:schemeClr>
          </a:solidFill>
        </p:spPr>
        <p:txBody>
          <a:bodyPr wrap="square" rtlCol="0">
            <a:spAutoFit/>
          </a:bodyPr>
          <a:lstStyle/>
          <a:p>
            <a:r>
              <a:rPr lang="en-GB" sz="2400" b="1" dirty="0">
                <a:latin typeface="Century Gothic" panose="020B0502020202020204" pitchFamily="34" charset="0"/>
              </a:rPr>
              <a:t>Reduction </a:t>
            </a:r>
            <a:r>
              <a:rPr lang="en-GB" sz="2400" dirty="0">
                <a:latin typeface="Century Gothic" panose="020B0502020202020204" pitchFamily="34" charset="0"/>
              </a:rPr>
              <a:t>is the </a:t>
            </a:r>
            <a:r>
              <a:rPr lang="en-GB" sz="2400" b="1" dirty="0">
                <a:latin typeface="Century Gothic" panose="020B0502020202020204" pitchFamily="34" charset="0"/>
              </a:rPr>
              <a:t>GAIN</a:t>
            </a:r>
            <a:r>
              <a:rPr lang="en-GB" sz="2400" dirty="0">
                <a:latin typeface="Century Gothic" panose="020B0502020202020204" pitchFamily="34" charset="0"/>
              </a:rPr>
              <a:t> of electrons</a:t>
            </a:r>
          </a:p>
        </p:txBody>
      </p:sp>
      <p:sp>
        <p:nvSpPr>
          <p:cNvPr id="18" name="TextBox 17">
            <a:extLst>
              <a:ext uri="{FF2B5EF4-FFF2-40B4-BE49-F238E27FC236}">
                <a16:creationId xmlns:a16="http://schemas.microsoft.com/office/drawing/2014/main" id="{003E5646-984C-E05E-89C9-6DB956C81762}"/>
              </a:ext>
            </a:extLst>
          </p:cNvPr>
          <p:cNvSpPr txBox="1"/>
          <p:nvPr/>
        </p:nvSpPr>
        <p:spPr>
          <a:xfrm>
            <a:off x="442056" y="4217577"/>
            <a:ext cx="10547823" cy="830997"/>
          </a:xfrm>
          <a:prstGeom prst="rect">
            <a:avLst/>
          </a:prstGeom>
          <a:solidFill>
            <a:schemeClr val="accent1">
              <a:lumMod val="40000"/>
              <a:lumOff val="60000"/>
            </a:schemeClr>
          </a:solidFill>
        </p:spPr>
        <p:txBody>
          <a:bodyPr wrap="square" rtlCol="0">
            <a:spAutoFit/>
          </a:bodyPr>
          <a:lstStyle/>
          <a:p>
            <a:r>
              <a:rPr lang="en-GB" sz="2400" b="1" dirty="0">
                <a:latin typeface="Century Gothic" panose="020B0502020202020204" pitchFamily="34" charset="0"/>
              </a:rPr>
              <a:t>A redox reaction </a:t>
            </a:r>
            <a:r>
              <a:rPr lang="en-GB" sz="2400" dirty="0">
                <a:latin typeface="Century Gothic" panose="020B0502020202020204" pitchFamily="34" charset="0"/>
              </a:rPr>
              <a:t>is one in which </a:t>
            </a:r>
            <a:r>
              <a:rPr lang="en-GB" sz="2400" b="1" dirty="0">
                <a:latin typeface="Century Gothic" panose="020B0502020202020204" pitchFamily="34" charset="0"/>
              </a:rPr>
              <a:t>OXIDATION</a:t>
            </a:r>
            <a:r>
              <a:rPr lang="en-GB" sz="2400" dirty="0">
                <a:latin typeface="Century Gothic" panose="020B0502020202020204" pitchFamily="34" charset="0"/>
              </a:rPr>
              <a:t> and </a:t>
            </a:r>
            <a:r>
              <a:rPr lang="en-GB" sz="2400" b="1" dirty="0">
                <a:latin typeface="Century Gothic" panose="020B0502020202020204" pitchFamily="34" charset="0"/>
              </a:rPr>
              <a:t>REDUCTION</a:t>
            </a:r>
            <a:r>
              <a:rPr lang="en-GB" sz="2400" dirty="0">
                <a:latin typeface="Century Gothic" panose="020B0502020202020204" pitchFamily="34" charset="0"/>
              </a:rPr>
              <a:t> take place at the </a:t>
            </a:r>
            <a:r>
              <a:rPr lang="en-GB" sz="2400" b="1" dirty="0">
                <a:latin typeface="Century Gothic" panose="020B0502020202020204" pitchFamily="34" charset="0"/>
              </a:rPr>
              <a:t>SAME</a:t>
            </a:r>
            <a:r>
              <a:rPr lang="en-GB" sz="2400" dirty="0">
                <a:latin typeface="Century Gothic" panose="020B0502020202020204" pitchFamily="34" charset="0"/>
              </a:rPr>
              <a:t> time</a:t>
            </a:r>
          </a:p>
        </p:txBody>
      </p:sp>
      <p:sp>
        <p:nvSpPr>
          <p:cNvPr id="2" name="TextBox 1">
            <a:extLst>
              <a:ext uri="{FF2B5EF4-FFF2-40B4-BE49-F238E27FC236}">
                <a16:creationId xmlns:a16="http://schemas.microsoft.com/office/drawing/2014/main" id="{C9798E79-21F0-0E05-932B-61F12DC86005}"/>
              </a:ext>
            </a:extLst>
          </p:cNvPr>
          <p:cNvSpPr txBox="1"/>
          <p:nvPr/>
        </p:nvSpPr>
        <p:spPr>
          <a:xfrm>
            <a:off x="8443608" y="1297041"/>
            <a:ext cx="1556426" cy="2123658"/>
          </a:xfrm>
          <a:prstGeom prst="rect">
            <a:avLst/>
          </a:prstGeom>
          <a:noFill/>
        </p:spPr>
        <p:txBody>
          <a:bodyPr wrap="square" rtlCol="0">
            <a:spAutoFit/>
          </a:bodyPr>
          <a:lstStyle/>
          <a:p>
            <a:r>
              <a:rPr lang="en-US" sz="4400" b="1" dirty="0"/>
              <a:t>O	R</a:t>
            </a:r>
          </a:p>
          <a:p>
            <a:r>
              <a:rPr lang="en-US" sz="4400" b="1" dirty="0"/>
              <a:t>I	I</a:t>
            </a:r>
          </a:p>
          <a:p>
            <a:r>
              <a:rPr lang="en-US" sz="4400" b="1" dirty="0"/>
              <a:t>L	G</a:t>
            </a:r>
          </a:p>
        </p:txBody>
      </p:sp>
      <p:sp>
        <p:nvSpPr>
          <p:cNvPr id="3" name="TextBox 2">
            <a:extLst>
              <a:ext uri="{FF2B5EF4-FFF2-40B4-BE49-F238E27FC236}">
                <a16:creationId xmlns:a16="http://schemas.microsoft.com/office/drawing/2014/main" id="{C2298791-8696-570B-09BF-8ADDACB19FEE}"/>
              </a:ext>
            </a:extLst>
          </p:cNvPr>
          <p:cNvSpPr txBox="1"/>
          <p:nvPr/>
        </p:nvSpPr>
        <p:spPr>
          <a:xfrm>
            <a:off x="535378" y="5568666"/>
            <a:ext cx="10072345" cy="883383"/>
          </a:xfrm>
          <a:prstGeom prst="rect">
            <a:avLst/>
          </a:prstGeom>
          <a:noFill/>
        </p:spPr>
        <p:txBody>
          <a:bodyPr wrap="square" rtlCol="0">
            <a:spAutoFit/>
          </a:bodyPr>
          <a:lstStyle/>
          <a:p>
            <a:pPr>
              <a:lnSpc>
                <a:spcPct val="150000"/>
              </a:lnSpc>
            </a:pPr>
            <a:r>
              <a:rPr lang="en-US" b="1" dirty="0"/>
              <a:t>KEYWORDS: LOSS 	GAIN		COMPOUNDS		OXIDATION	REDUCTION		DIFFERENT	SAME	</a:t>
            </a:r>
            <a:r>
              <a:rPr lang="en-US" dirty="0"/>
              <a:t>	</a:t>
            </a:r>
          </a:p>
        </p:txBody>
      </p:sp>
    </p:spTree>
    <p:extLst>
      <p:ext uri="{BB962C8B-B14F-4D97-AF65-F5344CB8AC3E}">
        <p14:creationId xmlns:p14="http://schemas.microsoft.com/office/powerpoint/2010/main" val="3286736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1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C4BA4A9-D707-0263-FD4D-35A07472027A}"/>
              </a:ext>
            </a:extLst>
          </p:cNvPr>
          <p:cNvSpPr>
            <a:spLocks noGrp="1"/>
          </p:cNvSpPr>
          <p:nvPr>
            <p:ph type="title"/>
          </p:nvPr>
        </p:nvSpPr>
        <p:spPr>
          <a:xfrm>
            <a:off x="540000" y="466081"/>
            <a:ext cx="10620000" cy="720000"/>
          </a:xfrm>
        </p:spPr>
        <p:txBody>
          <a:bodyPr/>
          <a:lstStyle/>
          <a:p>
            <a:r>
              <a:rPr lang="en-GB" dirty="0">
                <a:latin typeface="Century Gothic" panose="020B0502020202020204" pitchFamily="34" charset="0"/>
              </a:rPr>
              <a:t>Write an ionic equation for the chemical reaction below.</a:t>
            </a:r>
          </a:p>
        </p:txBody>
      </p:sp>
      <p:sp>
        <p:nvSpPr>
          <p:cNvPr id="5" name="TextBox 4">
            <a:extLst>
              <a:ext uri="{FF2B5EF4-FFF2-40B4-BE49-F238E27FC236}">
                <a16:creationId xmlns:a16="http://schemas.microsoft.com/office/drawing/2014/main" id="{F60FB37C-11DA-3F62-715A-CD5D5691EC4B}"/>
              </a:ext>
            </a:extLst>
          </p:cNvPr>
          <p:cNvSpPr txBox="1"/>
          <p:nvPr/>
        </p:nvSpPr>
        <p:spPr>
          <a:xfrm>
            <a:off x="1412206" y="1247918"/>
            <a:ext cx="8875587" cy="1200329"/>
          </a:xfrm>
          <a:prstGeom prst="rect">
            <a:avLst/>
          </a:prstGeom>
          <a:noFill/>
        </p:spPr>
        <p:txBody>
          <a:bodyPr wrap="square" rtlCol="0">
            <a:spAutoFit/>
          </a:bodyPr>
          <a:lstStyle/>
          <a:p>
            <a:endParaRPr lang="en-US" sz="3200" dirty="0">
              <a:latin typeface="Century Gothic" panose="020B0502020202020204" pitchFamily="34" charset="0"/>
            </a:endParaRPr>
          </a:p>
          <a:p>
            <a:r>
              <a:rPr lang="en-US" sz="4000" dirty="0">
                <a:latin typeface="Century Gothic" panose="020B0502020202020204" pitchFamily="34" charset="0"/>
              </a:rPr>
              <a:t>2Na</a:t>
            </a:r>
            <a:r>
              <a:rPr lang="en-US" sz="4000" baseline="-25000" dirty="0">
                <a:latin typeface="Century Gothic" panose="020B0502020202020204" pitchFamily="34" charset="0"/>
              </a:rPr>
              <a:t>(s) </a:t>
            </a:r>
            <a:r>
              <a:rPr lang="en-US" sz="4000" dirty="0">
                <a:latin typeface="Century Gothic" panose="020B0502020202020204" pitchFamily="34" charset="0"/>
              </a:rPr>
              <a:t>+ CaO</a:t>
            </a:r>
            <a:r>
              <a:rPr lang="en-US" sz="4000" baseline="-25000" dirty="0">
                <a:latin typeface="Century Gothic" panose="020B0502020202020204" pitchFamily="34" charset="0"/>
              </a:rPr>
              <a:t>(aq) </a:t>
            </a:r>
            <a:r>
              <a:rPr lang="en-GB" sz="4000" dirty="0">
                <a:latin typeface="Century Gothic" panose="020B0502020202020204" pitchFamily="34" charset="0"/>
              </a:rPr>
              <a:t>→ Na</a:t>
            </a:r>
            <a:r>
              <a:rPr lang="en-GB" sz="4000" baseline="-25000" dirty="0">
                <a:latin typeface="Century Gothic" panose="020B0502020202020204" pitchFamily="34" charset="0"/>
              </a:rPr>
              <a:t>2</a:t>
            </a:r>
            <a:r>
              <a:rPr lang="en-GB" sz="4000" dirty="0">
                <a:latin typeface="Century Gothic" panose="020B0502020202020204" pitchFamily="34" charset="0"/>
              </a:rPr>
              <a:t>O</a:t>
            </a:r>
            <a:r>
              <a:rPr lang="en-GB" sz="4000" baseline="-25000" dirty="0">
                <a:latin typeface="Century Gothic" panose="020B0502020202020204" pitchFamily="34" charset="0"/>
              </a:rPr>
              <a:t>(aq) </a:t>
            </a:r>
            <a:r>
              <a:rPr lang="en-GB" sz="4000" dirty="0">
                <a:latin typeface="Century Gothic" panose="020B0502020202020204" pitchFamily="34" charset="0"/>
              </a:rPr>
              <a:t>+ Ca</a:t>
            </a:r>
            <a:r>
              <a:rPr lang="en-GB" sz="4000" baseline="-25000" dirty="0">
                <a:latin typeface="Century Gothic" panose="020B0502020202020204" pitchFamily="34" charset="0"/>
              </a:rPr>
              <a:t>(s</a:t>
            </a:r>
            <a:r>
              <a:rPr lang="en-GB" sz="3200" baseline="-25000" dirty="0">
                <a:latin typeface="Century Gothic" panose="020B0502020202020204" pitchFamily="34" charset="0"/>
              </a:rPr>
              <a:t>)</a:t>
            </a:r>
            <a:r>
              <a:rPr lang="en-US" sz="3200" baseline="-25000" dirty="0">
                <a:latin typeface="Century Gothic" panose="020B0502020202020204" pitchFamily="34" charset="0"/>
              </a:rPr>
              <a:t> </a:t>
            </a:r>
          </a:p>
        </p:txBody>
      </p:sp>
      <p:sp>
        <p:nvSpPr>
          <p:cNvPr id="7" name="TextBox 6">
            <a:extLst>
              <a:ext uri="{FF2B5EF4-FFF2-40B4-BE49-F238E27FC236}">
                <a16:creationId xmlns:a16="http://schemas.microsoft.com/office/drawing/2014/main" id="{C457A89C-57AB-F5A2-DD5E-750741A5C39C}"/>
              </a:ext>
            </a:extLst>
          </p:cNvPr>
          <p:cNvSpPr txBox="1"/>
          <p:nvPr/>
        </p:nvSpPr>
        <p:spPr>
          <a:xfrm>
            <a:off x="540000" y="4915878"/>
            <a:ext cx="8494633" cy="461665"/>
          </a:xfrm>
          <a:prstGeom prst="rect">
            <a:avLst/>
          </a:prstGeom>
          <a:noFill/>
        </p:spPr>
        <p:txBody>
          <a:bodyPr wrap="none" rtlCol="0">
            <a:spAutoFit/>
          </a:bodyPr>
          <a:lstStyle/>
          <a:p>
            <a:r>
              <a:rPr lang="en-GB" sz="2400" b="1" dirty="0">
                <a:latin typeface="Century Gothic" panose="020B0502020202020204" pitchFamily="34" charset="0"/>
              </a:rPr>
              <a:t>Discuss which species is oxidised and which is reduced.</a:t>
            </a:r>
          </a:p>
        </p:txBody>
      </p:sp>
      <p:sp>
        <p:nvSpPr>
          <p:cNvPr id="8" name="TextBox 7">
            <a:extLst>
              <a:ext uri="{FF2B5EF4-FFF2-40B4-BE49-F238E27FC236}">
                <a16:creationId xmlns:a16="http://schemas.microsoft.com/office/drawing/2014/main" id="{8D86CF03-78EF-9765-7F03-4757FD5381F3}"/>
              </a:ext>
            </a:extLst>
          </p:cNvPr>
          <p:cNvSpPr txBox="1"/>
          <p:nvPr/>
        </p:nvSpPr>
        <p:spPr>
          <a:xfrm>
            <a:off x="757714" y="2579731"/>
            <a:ext cx="11016343" cy="954107"/>
          </a:xfrm>
          <a:prstGeom prst="rect">
            <a:avLst/>
          </a:prstGeom>
          <a:noFill/>
        </p:spPr>
        <p:txBody>
          <a:bodyPr wrap="square" rtlCol="0">
            <a:spAutoFit/>
          </a:bodyPr>
          <a:lstStyle/>
          <a:p>
            <a:endParaRPr lang="en-US" sz="2400" b="1" dirty="0">
              <a:solidFill>
                <a:schemeClr val="accent2">
                  <a:lumMod val="60000"/>
                  <a:lumOff val="40000"/>
                </a:schemeClr>
              </a:solidFill>
              <a:latin typeface="Century Gothic" panose="020B0502020202020204" pitchFamily="34" charset="0"/>
            </a:endParaRPr>
          </a:p>
          <a:p>
            <a:r>
              <a:rPr lang="en-US" sz="3200" b="1" dirty="0">
                <a:solidFill>
                  <a:schemeClr val="accent2">
                    <a:lumMod val="60000"/>
                    <a:lumOff val="40000"/>
                  </a:schemeClr>
                </a:solidFill>
                <a:latin typeface="Century Gothic" panose="020B0502020202020204" pitchFamily="34" charset="0"/>
              </a:rPr>
              <a:t>2Na</a:t>
            </a:r>
            <a:r>
              <a:rPr lang="en-US" sz="3200" b="1" baseline="-25000" dirty="0">
                <a:solidFill>
                  <a:schemeClr val="accent2">
                    <a:lumMod val="60000"/>
                    <a:lumOff val="40000"/>
                  </a:schemeClr>
                </a:solidFill>
                <a:latin typeface="Century Gothic" panose="020B0502020202020204" pitchFamily="34" charset="0"/>
              </a:rPr>
              <a:t>(s) </a:t>
            </a:r>
            <a:r>
              <a:rPr lang="en-US" sz="3200" b="1" dirty="0">
                <a:solidFill>
                  <a:schemeClr val="accent2">
                    <a:lumMod val="60000"/>
                    <a:lumOff val="40000"/>
                  </a:schemeClr>
                </a:solidFill>
                <a:latin typeface="Century Gothic" panose="020B0502020202020204" pitchFamily="34" charset="0"/>
              </a:rPr>
              <a:t>+ Ca</a:t>
            </a:r>
            <a:r>
              <a:rPr lang="en-US" sz="3200" b="1" baseline="30000" dirty="0">
                <a:solidFill>
                  <a:schemeClr val="accent2">
                    <a:lumMod val="60000"/>
                    <a:lumOff val="40000"/>
                  </a:schemeClr>
                </a:solidFill>
                <a:latin typeface="Century Gothic" panose="020B0502020202020204" pitchFamily="34" charset="0"/>
              </a:rPr>
              <a:t>2+</a:t>
            </a:r>
            <a:r>
              <a:rPr lang="en-US" sz="3200" b="1" baseline="-25000" dirty="0">
                <a:solidFill>
                  <a:schemeClr val="accent2">
                    <a:lumMod val="60000"/>
                    <a:lumOff val="40000"/>
                  </a:schemeClr>
                </a:solidFill>
                <a:latin typeface="Century Gothic" panose="020B0502020202020204" pitchFamily="34" charset="0"/>
              </a:rPr>
              <a:t>(aq) </a:t>
            </a:r>
            <a:r>
              <a:rPr lang="en-US" sz="3200" b="1" dirty="0">
                <a:solidFill>
                  <a:schemeClr val="accent2">
                    <a:lumMod val="60000"/>
                    <a:lumOff val="40000"/>
                  </a:schemeClr>
                </a:solidFill>
                <a:latin typeface="Century Gothic" panose="020B0502020202020204" pitchFamily="34" charset="0"/>
              </a:rPr>
              <a:t>+ O</a:t>
            </a:r>
            <a:r>
              <a:rPr lang="en-US" sz="3200" b="1" baseline="30000" dirty="0">
                <a:solidFill>
                  <a:schemeClr val="accent2">
                    <a:lumMod val="60000"/>
                    <a:lumOff val="40000"/>
                  </a:schemeClr>
                </a:solidFill>
                <a:latin typeface="Century Gothic" panose="020B0502020202020204" pitchFamily="34" charset="0"/>
              </a:rPr>
              <a:t>2-</a:t>
            </a:r>
            <a:r>
              <a:rPr lang="en-US" sz="3200" b="1" baseline="-25000" dirty="0">
                <a:solidFill>
                  <a:schemeClr val="accent2">
                    <a:lumMod val="60000"/>
                    <a:lumOff val="40000"/>
                  </a:schemeClr>
                </a:solidFill>
                <a:latin typeface="Century Gothic" panose="020B0502020202020204" pitchFamily="34" charset="0"/>
              </a:rPr>
              <a:t>(aq) </a:t>
            </a:r>
            <a:r>
              <a:rPr lang="en-GB" sz="3200" b="1" dirty="0">
                <a:solidFill>
                  <a:schemeClr val="accent2">
                    <a:lumMod val="60000"/>
                    <a:lumOff val="40000"/>
                  </a:schemeClr>
                </a:solidFill>
                <a:latin typeface="Century Gothic" panose="020B0502020202020204" pitchFamily="34" charset="0"/>
              </a:rPr>
              <a:t>→ 2Na</a:t>
            </a:r>
            <a:r>
              <a:rPr lang="en-GB" sz="3200" b="1" baseline="30000" dirty="0">
                <a:solidFill>
                  <a:schemeClr val="accent2">
                    <a:lumMod val="60000"/>
                    <a:lumOff val="40000"/>
                  </a:schemeClr>
                </a:solidFill>
                <a:latin typeface="Century Gothic" panose="020B0502020202020204" pitchFamily="34" charset="0"/>
              </a:rPr>
              <a:t>+</a:t>
            </a:r>
            <a:r>
              <a:rPr lang="en-GB" sz="3200" b="1" baseline="-25000" dirty="0">
                <a:solidFill>
                  <a:schemeClr val="accent2">
                    <a:lumMod val="60000"/>
                    <a:lumOff val="40000"/>
                  </a:schemeClr>
                </a:solidFill>
                <a:latin typeface="Century Gothic" panose="020B0502020202020204" pitchFamily="34" charset="0"/>
              </a:rPr>
              <a:t>(aq)</a:t>
            </a:r>
            <a:r>
              <a:rPr lang="en-GB" sz="3200" b="1" dirty="0">
                <a:solidFill>
                  <a:schemeClr val="accent2">
                    <a:lumMod val="60000"/>
                    <a:lumOff val="40000"/>
                  </a:schemeClr>
                </a:solidFill>
                <a:latin typeface="Century Gothic" panose="020B0502020202020204" pitchFamily="34" charset="0"/>
              </a:rPr>
              <a:t>+ O</a:t>
            </a:r>
            <a:r>
              <a:rPr lang="en-GB" sz="3200" b="1" baseline="30000" dirty="0">
                <a:solidFill>
                  <a:schemeClr val="accent2">
                    <a:lumMod val="60000"/>
                    <a:lumOff val="40000"/>
                  </a:schemeClr>
                </a:solidFill>
                <a:latin typeface="Century Gothic" panose="020B0502020202020204" pitchFamily="34" charset="0"/>
              </a:rPr>
              <a:t>2-</a:t>
            </a:r>
            <a:r>
              <a:rPr lang="en-GB" sz="3200" b="1" baseline="-25000" dirty="0">
                <a:solidFill>
                  <a:schemeClr val="accent2">
                    <a:lumMod val="60000"/>
                    <a:lumOff val="40000"/>
                  </a:schemeClr>
                </a:solidFill>
                <a:latin typeface="Century Gothic" panose="020B0502020202020204" pitchFamily="34" charset="0"/>
              </a:rPr>
              <a:t>(aq) </a:t>
            </a:r>
            <a:r>
              <a:rPr lang="en-GB" sz="3200" b="1" dirty="0">
                <a:solidFill>
                  <a:schemeClr val="accent2">
                    <a:lumMod val="60000"/>
                    <a:lumOff val="40000"/>
                  </a:schemeClr>
                </a:solidFill>
                <a:latin typeface="Century Gothic" panose="020B0502020202020204" pitchFamily="34" charset="0"/>
              </a:rPr>
              <a:t>+ Ca</a:t>
            </a:r>
            <a:r>
              <a:rPr lang="en-GB" sz="3200" b="1" baseline="-25000" dirty="0">
                <a:solidFill>
                  <a:schemeClr val="accent2">
                    <a:lumMod val="60000"/>
                    <a:lumOff val="40000"/>
                  </a:schemeClr>
                </a:solidFill>
                <a:latin typeface="Century Gothic" panose="020B0502020202020204" pitchFamily="34" charset="0"/>
              </a:rPr>
              <a:t>(s</a:t>
            </a:r>
            <a:r>
              <a:rPr lang="en-GB" sz="2400" b="1" baseline="-25000" dirty="0">
                <a:solidFill>
                  <a:schemeClr val="accent2">
                    <a:lumMod val="60000"/>
                    <a:lumOff val="40000"/>
                  </a:schemeClr>
                </a:solidFill>
                <a:latin typeface="Century Gothic" panose="020B0502020202020204" pitchFamily="34" charset="0"/>
              </a:rPr>
              <a:t>)</a:t>
            </a:r>
            <a:r>
              <a:rPr lang="en-US" sz="2400" b="1" baseline="-25000" dirty="0">
                <a:solidFill>
                  <a:schemeClr val="accent2">
                    <a:lumMod val="60000"/>
                    <a:lumOff val="40000"/>
                  </a:schemeClr>
                </a:solidFill>
                <a:latin typeface="Century Gothic" panose="020B0502020202020204" pitchFamily="34" charset="0"/>
              </a:rPr>
              <a:t> </a:t>
            </a:r>
          </a:p>
        </p:txBody>
      </p:sp>
      <p:sp>
        <p:nvSpPr>
          <p:cNvPr id="9" name="TextBox 8">
            <a:extLst>
              <a:ext uri="{FF2B5EF4-FFF2-40B4-BE49-F238E27FC236}">
                <a16:creationId xmlns:a16="http://schemas.microsoft.com/office/drawing/2014/main" id="{455156AD-66D0-0E60-0929-7CC8575EF59A}"/>
              </a:ext>
            </a:extLst>
          </p:cNvPr>
          <p:cNvSpPr txBox="1"/>
          <p:nvPr/>
        </p:nvSpPr>
        <p:spPr>
          <a:xfrm>
            <a:off x="2286000" y="3631957"/>
            <a:ext cx="6841066" cy="954107"/>
          </a:xfrm>
          <a:prstGeom prst="rect">
            <a:avLst/>
          </a:prstGeom>
          <a:noFill/>
        </p:spPr>
        <p:txBody>
          <a:bodyPr wrap="square" rtlCol="0">
            <a:spAutoFit/>
          </a:bodyPr>
          <a:lstStyle/>
          <a:p>
            <a:endParaRPr lang="en-US" sz="2400" b="1" dirty="0">
              <a:solidFill>
                <a:schemeClr val="accent2">
                  <a:lumMod val="60000"/>
                  <a:lumOff val="40000"/>
                </a:schemeClr>
              </a:solidFill>
              <a:latin typeface="Century Gothic" panose="020B0502020202020204" pitchFamily="34" charset="0"/>
            </a:endParaRPr>
          </a:p>
          <a:p>
            <a:r>
              <a:rPr lang="en-US" sz="3200" b="1" dirty="0">
                <a:solidFill>
                  <a:schemeClr val="accent2">
                    <a:lumMod val="60000"/>
                    <a:lumOff val="40000"/>
                  </a:schemeClr>
                </a:solidFill>
                <a:latin typeface="Century Gothic" panose="020B0502020202020204" pitchFamily="34" charset="0"/>
              </a:rPr>
              <a:t>2Na</a:t>
            </a:r>
            <a:r>
              <a:rPr lang="en-US" sz="3200" b="1" baseline="-25000" dirty="0">
                <a:solidFill>
                  <a:schemeClr val="accent2">
                    <a:lumMod val="60000"/>
                    <a:lumOff val="40000"/>
                  </a:schemeClr>
                </a:solidFill>
                <a:latin typeface="Century Gothic" panose="020B0502020202020204" pitchFamily="34" charset="0"/>
              </a:rPr>
              <a:t>(s) </a:t>
            </a:r>
            <a:r>
              <a:rPr lang="en-US" sz="3200" b="1" dirty="0">
                <a:solidFill>
                  <a:schemeClr val="accent2">
                    <a:lumMod val="60000"/>
                    <a:lumOff val="40000"/>
                  </a:schemeClr>
                </a:solidFill>
                <a:latin typeface="Century Gothic" panose="020B0502020202020204" pitchFamily="34" charset="0"/>
              </a:rPr>
              <a:t>+ Ca</a:t>
            </a:r>
            <a:r>
              <a:rPr lang="en-US" sz="3200" b="1" baseline="30000" dirty="0">
                <a:solidFill>
                  <a:schemeClr val="accent2">
                    <a:lumMod val="60000"/>
                    <a:lumOff val="40000"/>
                  </a:schemeClr>
                </a:solidFill>
                <a:latin typeface="Century Gothic" panose="020B0502020202020204" pitchFamily="34" charset="0"/>
              </a:rPr>
              <a:t>2+</a:t>
            </a:r>
            <a:r>
              <a:rPr lang="en-US" sz="3200" b="1" baseline="-25000" dirty="0">
                <a:solidFill>
                  <a:schemeClr val="accent2">
                    <a:lumMod val="60000"/>
                    <a:lumOff val="40000"/>
                  </a:schemeClr>
                </a:solidFill>
                <a:latin typeface="Century Gothic" panose="020B0502020202020204" pitchFamily="34" charset="0"/>
              </a:rPr>
              <a:t>(aq)</a:t>
            </a:r>
            <a:r>
              <a:rPr lang="en-US" sz="3200" b="1" dirty="0">
                <a:solidFill>
                  <a:schemeClr val="accent2">
                    <a:lumMod val="60000"/>
                    <a:lumOff val="40000"/>
                  </a:schemeClr>
                </a:solidFill>
                <a:latin typeface="Century Gothic" panose="020B0502020202020204" pitchFamily="34" charset="0"/>
              </a:rPr>
              <a:t> </a:t>
            </a:r>
            <a:r>
              <a:rPr lang="en-GB" sz="3200" b="1" dirty="0">
                <a:solidFill>
                  <a:schemeClr val="accent2">
                    <a:lumMod val="60000"/>
                    <a:lumOff val="40000"/>
                  </a:schemeClr>
                </a:solidFill>
                <a:latin typeface="Century Gothic" panose="020B0502020202020204" pitchFamily="34" charset="0"/>
              </a:rPr>
              <a:t>→ 2Na</a:t>
            </a:r>
            <a:r>
              <a:rPr lang="en-GB" sz="3200" b="1" baseline="30000" dirty="0">
                <a:solidFill>
                  <a:schemeClr val="accent2">
                    <a:lumMod val="60000"/>
                    <a:lumOff val="40000"/>
                  </a:schemeClr>
                </a:solidFill>
                <a:latin typeface="Century Gothic" panose="020B0502020202020204" pitchFamily="34" charset="0"/>
              </a:rPr>
              <a:t>+</a:t>
            </a:r>
            <a:r>
              <a:rPr lang="en-GB" sz="3200" b="1" baseline="-25000" dirty="0">
                <a:solidFill>
                  <a:schemeClr val="accent2">
                    <a:lumMod val="60000"/>
                    <a:lumOff val="40000"/>
                  </a:schemeClr>
                </a:solidFill>
                <a:latin typeface="Century Gothic" panose="020B0502020202020204" pitchFamily="34" charset="0"/>
              </a:rPr>
              <a:t>(aq)</a:t>
            </a:r>
            <a:r>
              <a:rPr lang="en-GB" sz="3200" b="1" dirty="0">
                <a:solidFill>
                  <a:schemeClr val="accent2">
                    <a:lumMod val="60000"/>
                    <a:lumOff val="40000"/>
                  </a:schemeClr>
                </a:solidFill>
                <a:latin typeface="Century Gothic" panose="020B0502020202020204" pitchFamily="34" charset="0"/>
              </a:rPr>
              <a:t>+ Ca</a:t>
            </a:r>
            <a:r>
              <a:rPr lang="en-GB" sz="3200" b="1" baseline="-25000" dirty="0">
                <a:solidFill>
                  <a:schemeClr val="accent2">
                    <a:lumMod val="60000"/>
                    <a:lumOff val="40000"/>
                  </a:schemeClr>
                </a:solidFill>
                <a:latin typeface="Century Gothic" panose="020B0502020202020204" pitchFamily="34" charset="0"/>
              </a:rPr>
              <a:t>(s</a:t>
            </a:r>
            <a:r>
              <a:rPr lang="en-GB" sz="2400" b="1" baseline="-25000" dirty="0">
                <a:solidFill>
                  <a:schemeClr val="accent2">
                    <a:lumMod val="60000"/>
                    <a:lumOff val="40000"/>
                  </a:schemeClr>
                </a:solidFill>
                <a:latin typeface="Century Gothic" panose="020B0502020202020204" pitchFamily="34" charset="0"/>
              </a:rPr>
              <a:t>)</a:t>
            </a:r>
            <a:r>
              <a:rPr lang="en-US" sz="2400" b="1" baseline="-25000" dirty="0">
                <a:solidFill>
                  <a:schemeClr val="accent2">
                    <a:lumMod val="60000"/>
                    <a:lumOff val="40000"/>
                  </a:schemeClr>
                </a:solidFill>
                <a:latin typeface="Century Gothic" panose="020B0502020202020204" pitchFamily="34" charset="0"/>
              </a:rPr>
              <a:t> </a:t>
            </a:r>
          </a:p>
        </p:txBody>
      </p:sp>
      <p:sp>
        <p:nvSpPr>
          <p:cNvPr id="11" name="TextBox 10">
            <a:extLst>
              <a:ext uri="{FF2B5EF4-FFF2-40B4-BE49-F238E27FC236}">
                <a16:creationId xmlns:a16="http://schemas.microsoft.com/office/drawing/2014/main" id="{E3B813EB-71BB-CD86-D71D-C8FD39004520}"/>
              </a:ext>
            </a:extLst>
          </p:cNvPr>
          <p:cNvSpPr txBox="1"/>
          <p:nvPr/>
        </p:nvSpPr>
        <p:spPr>
          <a:xfrm>
            <a:off x="540000" y="5472573"/>
            <a:ext cx="7457491" cy="830997"/>
          </a:xfrm>
          <a:prstGeom prst="rect">
            <a:avLst/>
          </a:prstGeom>
          <a:noFill/>
        </p:spPr>
        <p:txBody>
          <a:bodyPr wrap="none" rtlCol="0">
            <a:spAutoFit/>
          </a:bodyPr>
          <a:lstStyle/>
          <a:p>
            <a:pPr marL="342900" indent="-342900">
              <a:buFont typeface="Arial" panose="020B0604020202020204" pitchFamily="34" charset="0"/>
              <a:buChar char="•"/>
            </a:pPr>
            <a:r>
              <a:rPr lang="en-GB" sz="2400" b="1" dirty="0">
                <a:solidFill>
                  <a:schemeClr val="accent2">
                    <a:lumMod val="60000"/>
                    <a:lumOff val="40000"/>
                  </a:schemeClr>
                </a:solidFill>
                <a:latin typeface="Century Gothic" panose="020B0502020202020204" pitchFamily="34" charset="0"/>
              </a:rPr>
              <a:t>Sodium is oxidised because it loses electrons</a:t>
            </a:r>
          </a:p>
          <a:p>
            <a:pPr marL="342900" indent="-342900">
              <a:buFont typeface="Arial" panose="020B0604020202020204" pitchFamily="34" charset="0"/>
              <a:buChar char="•"/>
            </a:pPr>
            <a:r>
              <a:rPr lang="en-GB" sz="2400" b="1" dirty="0">
                <a:solidFill>
                  <a:schemeClr val="accent2">
                    <a:lumMod val="60000"/>
                    <a:lumOff val="40000"/>
                  </a:schemeClr>
                </a:solidFill>
                <a:latin typeface="Century Gothic" panose="020B0502020202020204" pitchFamily="34" charset="0"/>
              </a:rPr>
              <a:t>Calcium is reduced because it gains electrons</a:t>
            </a:r>
          </a:p>
        </p:txBody>
      </p:sp>
    </p:spTree>
    <p:extLst>
      <p:ext uri="{BB962C8B-B14F-4D97-AF65-F5344CB8AC3E}">
        <p14:creationId xmlns:p14="http://schemas.microsoft.com/office/powerpoint/2010/main" val="857993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xEl>
                                              <p:pRg st="0" end="0"/>
                                            </p:txEl>
                                          </p:spTgt>
                                        </p:tgtEl>
                                        <p:attrNameLst>
                                          <p:attrName>style.visibility</p:attrName>
                                        </p:attrNameLst>
                                      </p:cBhvr>
                                      <p:to>
                                        <p:strVal val="visible"/>
                                      </p:to>
                                    </p:set>
                                    <p:animEffect transition="in" filter="fade">
                                      <p:cBhvr>
                                        <p:cTn id="17" dur="500"/>
                                        <p:tgtEl>
                                          <p:spTgt spid="11">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1">
                                            <p:txEl>
                                              <p:pRg st="1" end="1"/>
                                            </p:txEl>
                                          </p:spTgt>
                                        </p:tgtEl>
                                        <p:attrNameLst>
                                          <p:attrName>style.visibility</p:attrName>
                                        </p:attrNameLst>
                                      </p:cBhvr>
                                      <p:to>
                                        <p:strVal val="visible"/>
                                      </p:to>
                                    </p:set>
                                    <p:animEffect transition="in" filter="fade">
                                      <p:cBhvr>
                                        <p:cTn id="22" dur="500"/>
                                        <p:tgtEl>
                                          <p:spTgt spid="1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4B74C-D6E9-8C47-B64D-4A7EA3FB90D0}"/>
              </a:ext>
            </a:extLst>
          </p:cNvPr>
          <p:cNvSpPr>
            <a:spLocks noGrp="1"/>
          </p:cNvSpPr>
          <p:nvPr>
            <p:ph type="title" idx="4294967295"/>
          </p:nvPr>
        </p:nvSpPr>
        <p:spPr>
          <a:xfrm>
            <a:off x="0" y="198438"/>
            <a:ext cx="10620375" cy="720725"/>
          </a:xfrm>
        </p:spPr>
        <p:txBody>
          <a:bodyPr/>
          <a:lstStyle/>
          <a:p>
            <a:r>
              <a:rPr lang="en-US" sz="2600" b="1" dirty="0">
                <a:latin typeface="Century Gothic" panose="020B0502020202020204" pitchFamily="34" charset="0"/>
              </a:rPr>
              <a:t>I: Writing ionic equations</a:t>
            </a:r>
          </a:p>
        </p:txBody>
      </p:sp>
      <p:sp>
        <p:nvSpPr>
          <p:cNvPr id="3" name="Title 1">
            <a:extLst>
              <a:ext uri="{FF2B5EF4-FFF2-40B4-BE49-F238E27FC236}">
                <a16:creationId xmlns:a16="http://schemas.microsoft.com/office/drawing/2014/main" id="{BE1071E1-0EF2-5A3B-AED6-174B9D512EF5}"/>
              </a:ext>
            </a:extLst>
          </p:cNvPr>
          <p:cNvSpPr txBox="1">
            <a:spLocks/>
          </p:cNvSpPr>
          <p:nvPr/>
        </p:nvSpPr>
        <p:spPr>
          <a:xfrm>
            <a:off x="145382" y="919178"/>
            <a:ext cx="10620375" cy="184528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1800" kern="1200">
                <a:solidFill>
                  <a:schemeClr val="tx1"/>
                </a:solidFill>
                <a:latin typeface="Arial" panose="020B0604020202020204" pitchFamily="34" charset="0"/>
                <a:ea typeface="+mj-ea"/>
                <a:cs typeface="Arial" panose="020B0604020202020204" pitchFamily="34" charset="0"/>
              </a:defRPr>
            </a:lvl1pPr>
          </a:lstStyle>
          <a:p>
            <a:r>
              <a:rPr lang="en-US" sz="2800" dirty="0">
                <a:latin typeface="Century Gothic" panose="020B0502020202020204" pitchFamily="34" charset="0"/>
              </a:rPr>
              <a:t>The equation for the reaction between zinc and hydrochloric acid is as follows:</a:t>
            </a:r>
          </a:p>
          <a:p>
            <a:endParaRPr lang="en-US" sz="2800" dirty="0">
              <a:latin typeface="Century Gothic" panose="020B0502020202020204" pitchFamily="34" charset="0"/>
            </a:endParaRPr>
          </a:p>
          <a:p>
            <a:pPr algn="ctr"/>
            <a:r>
              <a:rPr lang="en-US" sz="2800" dirty="0">
                <a:latin typeface="Century Gothic" panose="020B0502020202020204" pitchFamily="34" charset="0"/>
              </a:rPr>
              <a:t>Zn</a:t>
            </a:r>
            <a:r>
              <a:rPr lang="en-US" sz="2800" baseline="-25000" dirty="0">
                <a:latin typeface="Century Gothic" panose="020B0502020202020204" pitchFamily="34" charset="0"/>
              </a:rPr>
              <a:t>(s)</a:t>
            </a:r>
            <a:r>
              <a:rPr lang="en-US" sz="2800" dirty="0">
                <a:latin typeface="Century Gothic" panose="020B0502020202020204" pitchFamily="34" charset="0"/>
              </a:rPr>
              <a:t> + 2HCl</a:t>
            </a:r>
            <a:r>
              <a:rPr lang="en-US" sz="2800" baseline="-25000" dirty="0">
                <a:latin typeface="Century Gothic" panose="020B0502020202020204" pitchFamily="34" charset="0"/>
              </a:rPr>
              <a:t> (aq)</a:t>
            </a:r>
            <a:r>
              <a:rPr lang="en-US" sz="2800" dirty="0">
                <a:latin typeface="Century Gothic" panose="020B0502020202020204" pitchFamily="34" charset="0"/>
              </a:rPr>
              <a:t> </a:t>
            </a:r>
            <a:r>
              <a:rPr lang="en-GB" sz="2800" dirty="0">
                <a:latin typeface="Century Gothic" panose="020B0502020202020204" pitchFamily="34" charset="0"/>
              </a:rPr>
              <a:t>→ H</a:t>
            </a:r>
            <a:r>
              <a:rPr lang="en-GB" sz="2800" baseline="-25000" dirty="0">
                <a:latin typeface="Century Gothic" panose="020B0502020202020204" pitchFamily="34" charset="0"/>
              </a:rPr>
              <a:t>2</a:t>
            </a:r>
            <a:r>
              <a:rPr lang="en-US" sz="2800" baseline="-25000" dirty="0">
                <a:latin typeface="Century Gothic" panose="020B0502020202020204" pitchFamily="34" charset="0"/>
              </a:rPr>
              <a:t>(g)</a:t>
            </a:r>
            <a:r>
              <a:rPr lang="en-GB" sz="2800" dirty="0">
                <a:latin typeface="Century Gothic" panose="020B0502020202020204" pitchFamily="34" charset="0"/>
              </a:rPr>
              <a:t> + ZnCl</a:t>
            </a:r>
            <a:r>
              <a:rPr lang="en-GB" sz="2800" baseline="-25000" dirty="0">
                <a:latin typeface="Century Gothic" panose="020B0502020202020204" pitchFamily="34" charset="0"/>
              </a:rPr>
              <a:t>2</a:t>
            </a:r>
            <a:r>
              <a:rPr lang="en-US" sz="2800" baseline="-25000" dirty="0">
                <a:latin typeface="Century Gothic" panose="020B0502020202020204" pitchFamily="34" charset="0"/>
              </a:rPr>
              <a:t> (aq)</a:t>
            </a:r>
            <a:r>
              <a:rPr lang="en-US" sz="2800" dirty="0">
                <a:latin typeface="Century Gothic" panose="020B0502020202020204" pitchFamily="34" charset="0"/>
              </a:rPr>
              <a:t> </a:t>
            </a:r>
          </a:p>
        </p:txBody>
      </p:sp>
      <p:sp>
        <p:nvSpPr>
          <p:cNvPr id="4" name="TextBox 3">
            <a:extLst>
              <a:ext uri="{FF2B5EF4-FFF2-40B4-BE49-F238E27FC236}">
                <a16:creationId xmlns:a16="http://schemas.microsoft.com/office/drawing/2014/main" id="{F166F49C-BC08-CB92-3816-F743E849E65B}"/>
              </a:ext>
            </a:extLst>
          </p:cNvPr>
          <p:cNvSpPr txBox="1"/>
          <p:nvPr/>
        </p:nvSpPr>
        <p:spPr>
          <a:xfrm>
            <a:off x="318977" y="3059668"/>
            <a:ext cx="6378669" cy="461665"/>
          </a:xfrm>
          <a:prstGeom prst="rect">
            <a:avLst/>
          </a:prstGeom>
          <a:noFill/>
        </p:spPr>
        <p:txBody>
          <a:bodyPr wrap="none" rtlCol="0">
            <a:spAutoFit/>
          </a:bodyPr>
          <a:lstStyle/>
          <a:p>
            <a:r>
              <a:rPr lang="en-GB" sz="2400" b="1" dirty="0">
                <a:latin typeface="Century Gothic" panose="020B0502020202020204" pitchFamily="34" charset="0"/>
              </a:rPr>
              <a:t>1. Write an ionic equation for this reaction</a:t>
            </a:r>
          </a:p>
        </p:txBody>
      </p:sp>
      <p:sp>
        <p:nvSpPr>
          <p:cNvPr id="5" name="TextBox 4">
            <a:extLst>
              <a:ext uri="{FF2B5EF4-FFF2-40B4-BE49-F238E27FC236}">
                <a16:creationId xmlns:a16="http://schemas.microsoft.com/office/drawing/2014/main" id="{6D6EE328-813A-F4C7-3AA8-2BF117877ADD}"/>
              </a:ext>
            </a:extLst>
          </p:cNvPr>
          <p:cNvSpPr txBox="1"/>
          <p:nvPr/>
        </p:nvSpPr>
        <p:spPr>
          <a:xfrm>
            <a:off x="318977" y="4700626"/>
            <a:ext cx="7797327" cy="461665"/>
          </a:xfrm>
          <a:prstGeom prst="rect">
            <a:avLst/>
          </a:prstGeom>
          <a:noFill/>
        </p:spPr>
        <p:txBody>
          <a:bodyPr wrap="none" rtlCol="0">
            <a:spAutoFit/>
          </a:bodyPr>
          <a:lstStyle/>
          <a:p>
            <a:r>
              <a:rPr lang="en-GB" sz="2400" b="1" dirty="0">
                <a:latin typeface="Century Gothic" panose="020B0502020202020204" pitchFamily="34" charset="0"/>
              </a:rPr>
              <a:t>2. Explain which species is reduced in this reaction.</a:t>
            </a:r>
          </a:p>
        </p:txBody>
      </p:sp>
      <p:sp>
        <p:nvSpPr>
          <p:cNvPr id="7" name="TextBox 6">
            <a:extLst>
              <a:ext uri="{FF2B5EF4-FFF2-40B4-BE49-F238E27FC236}">
                <a16:creationId xmlns:a16="http://schemas.microsoft.com/office/drawing/2014/main" id="{BD383A9C-1305-4C4B-7143-57C57A3E9015}"/>
              </a:ext>
            </a:extLst>
          </p:cNvPr>
          <p:cNvSpPr txBox="1"/>
          <p:nvPr/>
        </p:nvSpPr>
        <p:spPr>
          <a:xfrm>
            <a:off x="318977" y="3782689"/>
            <a:ext cx="10620374" cy="523220"/>
          </a:xfrm>
          <a:prstGeom prst="rect">
            <a:avLst/>
          </a:prstGeom>
          <a:noFill/>
        </p:spPr>
        <p:txBody>
          <a:bodyPr wrap="square">
            <a:spAutoFit/>
          </a:bodyPr>
          <a:lstStyle/>
          <a:p>
            <a:pPr algn="ctr"/>
            <a:r>
              <a:rPr lang="en-US" sz="2800" b="1" dirty="0">
                <a:solidFill>
                  <a:schemeClr val="accent2">
                    <a:lumMod val="60000"/>
                    <a:lumOff val="40000"/>
                  </a:schemeClr>
                </a:solidFill>
                <a:latin typeface="Century Gothic" panose="020B0502020202020204" pitchFamily="34" charset="0"/>
              </a:rPr>
              <a:t>Zn</a:t>
            </a:r>
            <a:r>
              <a:rPr lang="en-US" sz="2800" b="1" baseline="-25000" dirty="0">
                <a:solidFill>
                  <a:schemeClr val="accent2">
                    <a:lumMod val="60000"/>
                    <a:lumOff val="40000"/>
                  </a:schemeClr>
                </a:solidFill>
                <a:latin typeface="Century Gothic" panose="020B0502020202020204" pitchFamily="34" charset="0"/>
              </a:rPr>
              <a:t>(s) </a:t>
            </a:r>
            <a:r>
              <a:rPr lang="en-US" sz="2800" b="1" dirty="0">
                <a:solidFill>
                  <a:schemeClr val="accent2">
                    <a:lumMod val="60000"/>
                    <a:lumOff val="40000"/>
                  </a:schemeClr>
                </a:solidFill>
                <a:latin typeface="Century Gothic" panose="020B0502020202020204" pitchFamily="34" charset="0"/>
              </a:rPr>
              <a:t>+ 2H</a:t>
            </a:r>
            <a:r>
              <a:rPr lang="en-US" sz="2800" b="1" baseline="30000" dirty="0">
                <a:solidFill>
                  <a:schemeClr val="accent2">
                    <a:lumMod val="60000"/>
                    <a:lumOff val="40000"/>
                  </a:schemeClr>
                </a:solidFill>
                <a:latin typeface="Century Gothic" panose="020B0502020202020204" pitchFamily="34" charset="0"/>
              </a:rPr>
              <a:t>+</a:t>
            </a:r>
            <a:r>
              <a:rPr lang="en-US" sz="2800" b="1" baseline="-25000" dirty="0">
                <a:solidFill>
                  <a:schemeClr val="accent2">
                    <a:lumMod val="60000"/>
                    <a:lumOff val="40000"/>
                  </a:schemeClr>
                </a:solidFill>
                <a:latin typeface="Century Gothic" panose="020B0502020202020204" pitchFamily="34" charset="0"/>
              </a:rPr>
              <a:t>(aq) </a:t>
            </a:r>
            <a:r>
              <a:rPr lang="en-GB" sz="2800" b="1" dirty="0">
                <a:solidFill>
                  <a:schemeClr val="accent2">
                    <a:lumMod val="60000"/>
                    <a:lumOff val="40000"/>
                  </a:schemeClr>
                </a:solidFill>
                <a:latin typeface="Century Gothic" panose="020B0502020202020204" pitchFamily="34" charset="0"/>
              </a:rPr>
              <a:t>→ H</a:t>
            </a:r>
            <a:r>
              <a:rPr lang="en-GB" sz="2800" b="1" baseline="-25000" dirty="0">
                <a:solidFill>
                  <a:schemeClr val="accent2">
                    <a:lumMod val="60000"/>
                    <a:lumOff val="40000"/>
                  </a:schemeClr>
                </a:solidFill>
                <a:latin typeface="Century Gothic" panose="020B0502020202020204" pitchFamily="34" charset="0"/>
              </a:rPr>
              <a:t>2(g)</a:t>
            </a:r>
            <a:r>
              <a:rPr lang="en-GB" sz="2800" b="1" dirty="0">
                <a:solidFill>
                  <a:schemeClr val="accent2">
                    <a:lumMod val="60000"/>
                    <a:lumOff val="40000"/>
                  </a:schemeClr>
                </a:solidFill>
                <a:latin typeface="Century Gothic" panose="020B0502020202020204" pitchFamily="34" charset="0"/>
              </a:rPr>
              <a:t> + Zn</a:t>
            </a:r>
            <a:r>
              <a:rPr lang="en-GB" sz="2800" b="1" baseline="30000" dirty="0">
                <a:solidFill>
                  <a:schemeClr val="accent2">
                    <a:lumMod val="60000"/>
                    <a:lumOff val="40000"/>
                  </a:schemeClr>
                </a:solidFill>
                <a:latin typeface="Century Gothic" panose="020B0502020202020204" pitchFamily="34" charset="0"/>
              </a:rPr>
              <a:t>2+</a:t>
            </a:r>
            <a:r>
              <a:rPr lang="en-GB" sz="2800" b="1" baseline="-25000" dirty="0">
                <a:solidFill>
                  <a:schemeClr val="accent2">
                    <a:lumMod val="60000"/>
                    <a:lumOff val="40000"/>
                  </a:schemeClr>
                </a:solidFill>
                <a:latin typeface="Century Gothic" panose="020B0502020202020204" pitchFamily="34" charset="0"/>
              </a:rPr>
              <a:t>(aq)</a:t>
            </a:r>
            <a:endParaRPr lang="en-US" sz="2800" b="1" dirty="0">
              <a:solidFill>
                <a:schemeClr val="accent2">
                  <a:lumMod val="60000"/>
                  <a:lumOff val="40000"/>
                </a:schemeClr>
              </a:solidFill>
              <a:latin typeface="Century Gothic" panose="020B0502020202020204" pitchFamily="34" charset="0"/>
            </a:endParaRPr>
          </a:p>
        </p:txBody>
      </p:sp>
      <p:sp>
        <p:nvSpPr>
          <p:cNvPr id="9" name="TextBox 8">
            <a:extLst>
              <a:ext uri="{FF2B5EF4-FFF2-40B4-BE49-F238E27FC236}">
                <a16:creationId xmlns:a16="http://schemas.microsoft.com/office/drawing/2014/main" id="{F2E64495-AE9F-859B-E49F-196C353762EB}"/>
              </a:ext>
            </a:extLst>
          </p:cNvPr>
          <p:cNvSpPr txBox="1"/>
          <p:nvPr/>
        </p:nvSpPr>
        <p:spPr>
          <a:xfrm>
            <a:off x="471377" y="5324133"/>
            <a:ext cx="10620374" cy="954107"/>
          </a:xfrm>
          <a:prstGeom prst="rect">
            <a:avLst/>
          </a:prstGeom>
          <a:noFill/>
        </p:spPr>
        <p:txBody>
          <a:bodyPr wrap="square">
            <a:spAutoFit/>
          </a:bodyPr>
          <a:lstStyle/>
          <a:p>
            <a:r>
              <a:rPr lang="en-US" sz="2800" b="1" dirty="0">
                <a:solidFill>
                  <a:schemeClr val="accent2">
                    <a:lumMod val="60000"/>
                    <a:lumOff val="40000"/>
                  </a:schemeClr>
                </a:solidFill>
                <a:latin typeface="Century Gothic" panose="020B0502020202020204" pitchFamily="34" charset="0"/>
              </a:rPr>
              <a:t>Hydrogen is reduced in this reaction because it gains electrons</a:t>
            </a:r>
          </a:p>
        </p:txBody>
      </p:sp>
    </p:spTree>
    <p:extLst>
      <p:ext uri="{BB962C8B-B14F-4D97-AF65-F5344CB8AC3E}">
        <p14:creationId xmlns:p14="http://schemas.microsoft.com/office/powerpoint/2010/main" val="30284070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4B74C-D6E9-8C47-B64D-4A7EA3FB90D0}"/>
              </a:ext>
            </a:extLst>
          </p:cNvPr>
          <p:cNvSpPr>
            <a:spLocks noGrp="1"/>
          </p:cNvSpPr>
          <p:nvPr>
            <p:ph type="title" idx="4294967295"/>
          </p:nvPr>
        </p:nvSpPr>
        <p:spPr>
          <a:xfrm>
            <a:off x="0" y="198438"/>
            <a:ext cx="10620375" cy="720725"/>
          </a:xfrm>
        </p:spPr>
        <p:txBody>
          <a:bodyPr/>
          <a:lstStyle/>
          <a:p>
            <a:r>
              <a:rPr lang="en-US" sz="2600" b="1" dirty="0">
                <a:latin typeface="Century Gothic" panose="020B0502020202020204" pitchFamily="34" charset="0"/>
              </a:rPr>
              <a:t>We: Writing ionic equations</a:t>
            </a:r>
          </a:p>
        </p:txBody>
      </p:sp>
      <p:sp>
        <p:nvSpPr>
          <p:cNvPr id="3" name="Title 1">
            <a:extLst>
              <a:ext uri="{FF2B5EF4-FFF2-40B4-BE49-F238E27FC236}">
                <a16:creationId xmlns:a16="http://schemas.microsoft.com/office/drawing/2014/main" id="{BE1071E1-0EF2-5A3B-AED6-174B9D512EF5}"/>
              </a:ext>
            </a:extLst>
          </p:cNvPr>
          <p:cNvSpPr txBox="1">
            <a:spLocks/>
          </p:cNvSpPr>
          <p:nvPr/>
        </p:nvSpPr>
        <p:spPr>
          <a:xfrm>
            <a:off x="145382" y="919178"/>
            <a:ext cx="10620375" cy="184528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1800" kern="1200">
                <a:solidFill>
                  <a:schemeClr val="tx1"/>
                </a:solidFill>
                <a:latin typeface="Arial" panose="020B0604020202020204" pitchFamily="34" charset="0"/>
                <a:ea typeface="+mj-ea"/>
                <a:cs typeface="Arial" panose="020B0604020202020204" pitchFamily="34" charset="0"/>
              </a:defRPr>
            </a:lvl1pPr>
          </a:lstStyle>
          <a:p>
            <a:r>
              <a:rPr lang="en-US" sz="2800" dirty="0">
                <a:latin typeface="Century Gothic" panose="020B0502020202020204" pitchFamily="34" charset="0"/>
              </a:rPr>
              <a:t>The equation for the displacement reaction between copper and silver nitrate is as follows:</a:t>
            </a:r>
          </a:p>
          <a:p>
            <a:endParaRPr lang="en-US" sz="2800" dirty="0">
              <a:latin typeface="Century Gothic" panose="020B0502020202020204" pitchFamily="34" charset="0"/>
            </a:endParaRPr>
          </a:p>
          <a:p>
            <a:pPr algn="ctr"/>
            <a:r>
              <a:rPr lang="en-US" sz="2800" dirty="0">
                <a:latin typeface="Century Gothic" panose="020B0502020202020204" pitchFamily="34" charset="0"/>
              </a:rPr>
              <a:t>Cu + 2AgNO</a:t>
            </a:r>
            <a:r>
              <a:rPr lang="en-US" sz="2800" baseline="-25000" dirty="0">
                <a:latin typeface="Century Gothic" panose="020B0502020202020204" pitchFamily="34" charset="0"/>
              </a:rPr>
              <a:t>3</a:t>
            </a:r>
            <a:r>
              <a:rPr lang="en-US" sz="2800" dirty="0">
                <a:latin typeface="Century Gothic" panose="020B0502020202020204" pitchFamily="34" charset="0"/>
              </a:rPr>
              <a:t> </a:t>
            </a:r>
            <a:r>
              <a:rPr lang="en-GB" sz="2800" dirty="0">
                <a:latin typeface="Century Gothic" panose="020B0502020202020204" pitchFamily="34" charset="0"/>
              </a:rPr>
              <a:t>→ 2Ag + Cu(NO</a:t>
            </a:r>
            <a:r>
              <a:rPr lang="en-GB" sz="2800" baseline="-25000" dirty="0">
                <a:latin typeface="Century Gothic" panose="020B0502020202020204" pitchFamily="34" charset="0"/>
              </a:rPr>
              <a:t>3</a:t>
            </a:r>
            <a:r>
              <a:rPr lang="en-GB" sz="2800" dirty="0">
                <a:latin typeface="Century Gothic" panose="020B0502020202020204" pitchFamily="34" charset="0"/>
              </a:rPr>
              <a:t>)</a:t>
            </a:r>
            <a:r>
              <a:rPr lang="en-GB" sz="2800" baseline="-25000" dirty="0">
                <a:latin typeface="Century Gothic" panose="020B0502020202020204" pitchFamily="34" charset="0"/>
              </a:rPr>
              <a:t>2</a:t>
            </a:r>
            <a:endParaRPr lang="en-US" sz="2800" dirty="0">
              <a:latin typeface="Century Gothic" panose="020B0502020202020204" pitchFamily="34" charset="0"/>
            </a:endParaRPr>
          </a:p>
        </p:txBody>
      </p:sp>
      <p:sp>
        <p:nvSpPr>
          <p:cNvPr id="4" name="TextBox 3">
            <a:extLst>
              <a:ext uri="{FF2B5EF4-FFF2-40B4-BE49-F238E27FC236}">
                <a16:creationId xmlns:a16="http://schemas.microsoft.com/office/drawing/2014/main" id="{F166F49C-BC08-CB92-3816-F743E849E65B}"/>
              </a:ext>
            </a:extLst>
          </p:cNvPr>
          <p:cNvSpPr txBox="1"/>
          <p:nvPr/>
        </p:nvSpPr>
        <p:spPr>
          <a:xfrm>
            <a:off x="318977" y="3059668"/>
            <a:ext cx="6378669" cy="461665"/>
          </a:xfrm>
          <a:prstGeom prst="rect">
            <a:avLst/>
          </a:prstGeom>
          <a:noFill/>
        </p:spPr>
        <p:txBody>
          <a:bodyPr wrap="none" rtlCol="0">
            <a:spAutoFit/>
          </a:bodyPr>
          <a:lstStyle/>
          <a:p>
            <a:r>
              <a:rPr lang="en-GB" sz="2400" b="1" dirty="0">
                <a:latin typeface="Century Gothic" panose="020B0502020202020204" pitchFamily="34" charset="0"/>
              </a:rPr>
              <a:t>1. Write an ionic equation for this reaction</a:t>
            </a:r>
          </a:p>
        </p:txBody>
      </p:sp>
      <p:sp>
        <p:nvSpPr>
          <p:cNvPr id="5" name="TextBox 4">
            <a:extLst>
              <a:ext uri="{FF2B5EF4-FFF2-40B4-BE49-F238E27FC236}">
                <a16:creationId xmlns:a16="http://schemas.microsoft.com/office/drawing/2014/main" id="{6D6EE328-813A-F4C7-3AA8-2BF117877ADD}"/>
              </a:ext>
            </a:extLst>
          </p:cNvPr>
          <p:cNvSpPr txBox="1"/>
          <p:nvPr/>
        </p:nvSpPr>
        <p:spPr>
          <a:xfrm>
            <a:off x="318977" y="4700626"/>
            <a:ext cx="7773282" cy="461665"/>
          </a:xfrm>
          <a:prstGeom prst="rect">
            <a:avLst/>
          </a:prstGeom>
          <a:noFill/>
        </p:spPr>
        <p:txBody>
          <a:bodyPr wrap="none" rtlCol="0">
            <a:spAutoFit/>
          </a:bodyPr>
          <a:lstStyle/>
          <a:p>
            <a:r>
              <a:rPr lang="en-GB" sz="2400" b="1" dirty="0">
                <a:latin typeface="Century Gothic" panose="020B0502020202020204" pitchFamily="34" charset="0"/>
              </a:rPr>
              <a:t>2. Explain which species is oxidised in this reaction.</a:t>
            </a:r>
          </a:p>
        </p:txBody>
      </p:sp>
      <p:sp>
        <p:nvSpPr>
          <p:cNvPr id="6" name="TextBox 5">
            <a:extLst>
              <a:ext uri="{FF2B5EF4-FFF2-40B4-BE49-F238E27FC236}">
                <a16:creationId xmlns:a16="http://schemas.microsoft.com/office/drawing/2014/main" id="{5CEB4B3D-1604-2969-7C2D-7B778FA5B4DB}"/>
              </a:ext>
            </a:extLst>
          </p:cNvPr>
          <p:cNvSpPr txBox="1"/>
          <p:nvPr/>
        </p:nvSpPr>
        <p:spPr>
          <a:xfrm>
            <a:off x="318977" y="3782689"/>
            <a:ext cx="10620374" cy="523220"/>
          </a:xfrm>
          <a:prstGeom prst="rect">
            <a:avLst/>
          </a:prstGeom>
          <a:noFill/>
        </p:spPr>
        <p:txBody>
          <a:bodyPr wrap="square">
            <a:spAutoFit/>
          </a:bodyPr>
          <a:lstStyle/>
          <a:p>
            <a:pPr algn="ctr"/>
            <a:r>
              <a:rPr lang="en-US" sz="2800" b="1" dirty="0">
                <a:solidFill>
                  <a:schemeClr val="accent2">
                    <a:lumMod val="60000"/>
                    <a:lumOff val="40000"/>
                  </a:schemeClr>
                </a:solidFill>
                <a:latin typeface="Century Gothic" panose="020B0502020202020204" pitchFamily="34" charset="0"/>
              </a:rPr>
              <a:t>Cu</a:t>
            </a:r>
            <a:r>
              <a:rPr lang="en-US" sz="2800" b="1" baseline="-25000" dirty="0">
                <a:solidFill>
                  <a:schemeClr val="accent2">
                    <a:lumMod val="60000"/>
                    <a:lumOff val="40000"/>
                  </a:schemeClr>
                </a:solidFill>
                <a:latin typeface="Century Gothic" panose="020B0502020202020204" pitchFamily="34" charset="0"/>
              </a:rPr>
              <a:t>(s) </a:t>
            </a:r>
            <a:r>
              <a:rPr lang="en-US" sz="2800" b="1" dirty="0">
                <a:solidFill>
                  <a:schemeClr val="accent2">
                    <a:lumMod val="60000"/>
                    <a:lumOff val="40000"/>
                  </a:schemeClr>
                </a:solidFill>
                <a:latin typeface="Century Gothic" panose="020B0502020202020204" pitchFamily="34" charset="0"/>
              </a:rPr>
              <a:t>+ 2Ag</a:t>
            </a:r>
            <a:r>
              <a:rPr lang="en-US" sz="2800" b="1" baseline="30000" dirty="0">
                <a:solidFill>
                  <a:schemeClr val="accent2">
                    <a:lumMod val="60000"/>
                    <a:lumOff val="40000"/>
                  </a:schemeClr>
                </a:solidFill>
                <a:latin typeface="Century Gothic" panose="020B0502020202020204" pitchFamily="34" charset="0"/>
              </a:rPr>
              <a:t>+</a:t>
            </a:r>
            <a:r>
              <a:rPr lang="en-US" sz="2800" b="1" baseline="-25000" dirty="0">
                <a:solidFill>
                  <a:schemeClr val="accent2">
                    <a:lumMod val="60000"/>
                    <a:lumOff val="40000"/>
                  </a:schemeClr>
                </a:solidFill>
                <a:latin typeface="Century Gothic" panose="020B0502020202020204" pitchFamily="34" charset="0"/>
              </a:rPr>
              <a:t>(aq) </a:t>
            </a:r>
            <a:r>
              <a:rPr lang="en-GB" sz="2800" b="1" dirty="0">
                <a:solidFill>
                  <a:schemeClr val="accent2">
                    <a:lumMod val="60000"/>
                    <a:lumOff val="40000"/>
                  </a:schemeClr>
                </a:solidFill>
                <a:latin typeface="Century Gothic" panose="020B0502020202020204" pitchFamily="34" charset="0"/>
              </a:rPr>
              <a:t>→ 2Ag + Cu</a:t>
            </a:r>
            <a:r>
              <a:rPr lang="en-GB" sz="2800" b="1" baseline="30000" dirty="0">
                <a:solidFill>
                  <a:schemeClr val="accent2">
                    <a:lumMod val="60000"/>
                    <a:lumOff val="40000"/>
                  </a:schemeClr>
                </a:solidFill>
                <a:latin typeface="Century Gothic" panose="020B0502020202020204" pitchFamily="34" charset="0"/>
              </a:rPr>
              <a:t>2+</a:t>
            </a:r>
            <a:r>
              <a:rPr lang="en-GB" sz="2800" b="1" baseline="-25000" dirty="0">
                <a:solidFill>
                  <a:schemeClr val="accent2">
                    <a:lumMod val="60000"/>
                    <a:lumOff val="40000"/>
                  </a:schemeClr>
                </a:solidFill>
                <a:latin typeface="Century Gothic" panose="020B0502020202020204" pitchFamily="34" charset="0"/>
              </a:rPr>
              <a:t>(aq)</a:t>
            </a:r>
            <a:endParaRPr lang="en-US" sz="2800" b="1" dirty="0">
              <a:solidFill>
                <a:schemeClr val="accent2">
                  <a:lumMod val="60000"/>
                  <a:lumOff val="40000"/>
                </a:schemeClr>
              </a:solidFill>
              <a:latin typeface="Century Gothic" panose="020B0502020202020204" pitchFamily="34" charset="0"/>
            </a:endParaRPr>
          </a:p>
        </p:txBody>
      </p:sp>
      <p:sp>
        <p:nvSpPr>
          <p:cNvPr id="7" name="TextBox 6">
            <a:extLst>
              <a:ext uri="{FF2B5EF4-FFF2-40B4-BE49-F238E27FC236}">
                <a16:creationId xmlns:a16="http://schemas.microsoft.com/office/drawing/2014/main" id="{1C94BCE0-123F-03F4-BF14-821F6E404C67}"/>
              </a:ext>
            </a:extLst>
          </p:cNvPr>
          <p:cNvSpPr txBox="1"/>
          <p:nvPr/>
        </p:nvSpPr>
        <p:spPr>
          <a:xfrm>
            <a:off x="471377" y="5324133"/>
            <a:ext cx="10620374" cy="523220"/>
          </a:xfrm>
          <a:prstGeom prst="rect">
            <a:avLst/>
          </a:prstGeom>
          <a:noFill/>
        </p:spPr>
        <p:txBody>
          <a:bodyPr wrap="square">
            <a:spAutoFit/>
          </a:bodyPr>
          <a:lstStyle/>
          <a:p>
            <a:r>
              <a:rPr lang="en-US" sz="2800" b="1" dirty="0">
                <a:solidFill>
                  <a:schemeClr val="accent2">
                    <a:lumMod val="60000"/>
                    <a:lumOff val="40000"/>
                  </a:schemeClr>
                </a:solidFill>
                <a:latin typeface="Century Gothic" panose="020B0502020202020204" pitchFamily="34" charset="0"/>
              </a:rPr>
              <a:t>Copper is oxidised because it loses electrons</a:t>
            </a:r>
          </a:p>
        </p:txBody>
      </p:sp>
    </p:spTree>
    <p:extLst>
      <p:ext uri="{BB962C8B-B14F-4D97-AF65-F5344CB8AC3E}">
        <p14:creationId xmlns:p14="http://schemas.microsoft.com/office/powerpoint/2010/main" val="362973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4B74C-D6E9-8C47-B64D-4A7EA3FB90D0}"/>
              </a:ext>
            </a:extLst>
          </p:cNvPr>
          <p:cNvSpPr>
            <a:spLocks noGrp="1"/>
          </p:cNvSpPr>
          <p:nvPr>
            <p:ph type="title" idx="4294967295"/>
          </p:nvPr>
        </p:nvSpPr>
        <p:spPr>
          <a:xfrm>
            <a:off x="0" y="198438"/>
            <a:ext cx="10620375" cy="720725"/>
          </a:xfrm>
        </p:spPr>
        <p:txBody>
          <a:bodyPr/>
          <a:lstStyle/>
          <a:p>
            <a:r>
              <a:rPr lang="en-US" sz="2600" b="1" dirty="0">
                <a:latin typeface="Century Gothic" panose="020B0502020202020204" pitchFamily="34" charset="0"/>
              </a:rPr>
              <a:t>You: Writing ionic equations</a:t>
            </a:r>
          </a:p>
        </p:txBody>
      </p:sp>
      <p:sp>
        <p:nvSpPr>
          <p:cNvPr id="3" name="Title 1">
            <a:extLst>
              <a:ext uri="{FF2B5EF4-FFF2-40B4-BE49-F238E27FC236}">
                <a16:creationId xmlns:a16="http://schemas.microsoft.com/office/drawing/2014/main" id="{BE1071E1-0EF2-5A3B-AED6-174B9D512EF5}"/>
              </a:ext>
            </a:extLst>
          </p:cNvPr>
          <p:cNvSpPr txBox="1">
            <a:spLocks/>
          </p:cNvSpPr>
          <p:nvPr/>
        </p:nvSpPr>
        <p:spPr>
          <a:xfrm>
            <a:off x="145382" y="919178"/>
            <a:ext cx="10620375" cy="184528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1800" kern="1200">
                <a:solidFill>
                  <a:schemeClr val="tx1"/>
                </a:solidFill>
                <a:latin typeface="Arial" panose="020B0604020202020204" pitchFamily="34" charset="0"/>
                <a:ea typeface="+mj-ea"/>
                <a:cs typeface="Arial" panose="020B0604020202020204" pitchFamily="34" charset="0"/>
              </a:defRPr>
            </a:lvl1pPr>
          </a:lstStyle>
          <a:p>
            <a:r>
              <a:rPr lang="en-US" sz="2800" dirty="0">
                <a:latin typeface="Century Gothic" panose="020B0502020202020204" pitchFamily="34" charset="0"/>
              </a:rPr>
              <a:t>The equation for the displacement reaction between potassium and copper nitrate is as follows:</a:t>
            </a:r>
          </a:p>
          <a:p>
            <a:endParaRPr lang="en-US" sz="2800" dirty="0">
              <a:latin typeface="Century Gothic" panose="020B0502020202020204" pitchFamily="34" charset="0"/>
            </a:endParaRPr>
          </a:p>
          <a:p>
            <a:pPr algn="ctr"/>
            <a:r>
              <a:rPr lang="en-US" sz="2800" dirty="0">
                <a:latin typeface="Century Gothic" panose="020B0502020202020204" pitchFamily="34" charset="0"/>
              </a:rPr>
              <a:t>2K</a:t>
            </a:r>
            <a:r>
              <a:rPr lang="en-US" sz="2800" baseline="-25000" dirty="0">
                <a:latin typeface="Century Gothic" panose="020B0502020202020204" pitchFamily="34" charset="0"/>
              </a:rPr>
              <a:t>(s) </a:t>
            </a:r>
            <a:r>
              <a:rPr lang="en-US" sz="2800" dirty="0">
                <a:latin typeface="Century Gothic" panose="020B0502020202020204" pitchFamily="34" charset="0"/>
              </a:rPr>
              <a:t>+ Cu(NO</a:t>
            </a:r>
            <a:r>
              <a:rPr lang="en-US" sz="2800" baseline="-25000" dirty="0">
                <a:latin typeface="Century Gothic" panose="020B0502020202020204" pitchFamily="34" charset="0"/>
              </a:rPr>
              <a:t>3</a:t>
            </a:r>
            <a:r>
              <a:rPr lang="en-US" sz="2800" dirty="0">
                <a:latin typeface="Century Gothic" panose="020B0502020202020204" pitchFamily="34" charset="0"/>
              </a:rPr>
              <a:t>)</a:t>
            </a:r>
            <a:r>
              <a:rPr lang="en-US" sz="2800" baseline="-25000" dirty="0">
                <a:latin typeface="Century Gothic" panose="020B0502020202020204" pitchFamily="34" charset="0"/>
              </a:rPr>
              <a:t>2(aq)</a:t>
            </a:r>
            <a:r>
              <a:rPr lang="en-US" sz="2800" dirty="0">
                <a:latin typeface="Century Gothic" panose="020B0502020202020204" pitchFamily="34" charset="0"/>
              </a:rPr>
              <a:t> </a:t>
            </a:r>
            <a:r>
              <a:rPr lang="en-GB" sz="2800" dirty="0">
                <a:latin typeface="Century Gothic" panose="020B0502020202020204" pitchFamily="34" charset="0"/>
              </a:rPr>
              <a:t>→ 2KNO</a:t>
            </a:r>
            <a:r>
              <a:rPr lang="en-GB" sz="2800" baseline="-25000" dirty="0">
                <a:latin typeface="Century Gothic" panose="020B0502020202020204" pitchFamily="34" charset="0"/>
              </a:rPr>
              <a:t>3(aq)</a:t>
            </a:r>
            <a:r>
              <a:rPr lang="en-GB" sz="2800" dirty="0">
                <a:latin typeface="Century Gothic" panose="020B0502020202020204" pitchFamily="34" charset="0"/>
              </a:rPr>
              <a:t> + Cu</a:t>
            </a:r>
            <a:r>
              <a:rPr lang="en-GB" sz="2800" baseline="-25000" dirty="0">
                <a:latin typeface="Century Gothic" panose="020B0502020202020204" pitchFamily="34" charset="0"/>
              </a:rPr>
              <a:t>(s)</a:t>
            </a:r>
            <a:endParaRPr lang="en-US" sz="2800" dirty="0">
              <a:latin typeface="Century Gothic" panose="020B0502020202020204" pitchFamily="34" charset="0"/>
            </a:endParaRPr>
          </a:p>
        </p:txBody>
      </p:sp>
      <p:sp>
        <p:nvSpPr>
          <p:cNvPr id="4" name="TextBox 3">
            <a:extLst>
              <a:ext uri="{FF2B5EF4-FFF2-40B4-BE49-F238E27FC236}">
                <a16:creationId xmlns:a16="http://schemas.microsoft.com/office/drawing/2014/main" id="{F166F49C-BC08-CB92-3816-F743E849E65B}"/>
              </a:ext>
            </a:extLst>
          </p:cNvPr>
          <p:cNvSpPr txBox="1"/>
          <p:nvPr/>
        </p:nvSpPr>
        <p:spPr>
          <a:xfrm>
            <a:off x="318977" y="3059668"/>
            <a:ext cx="6378669" cy="461665"/>
          </a:xfrm>
          <a:prstGeom prst="rect">
            <a:avLst/>
          </a:prstGeom>
          <a:noFill/>
        </p:spPr>
        <p:txBody>
          <a:bodyPr wrap="none" rtlCol="0">
            <a:spAutoFit/>
          </a:bodyPr>
          <a:lstStyle/>
          <a:p>
            <a:r>
              <a:rPr lang="en-GB" sz="2400" b="1" dirty="0">
                <a:latin typeface="Century Gothic" panose="020B0502020202020204" pitchFamily="34" charset="0"/>
              </a:rPr>
              <a:t>1. Write an ionic equation for this reaction</a:t>
            </a:r>
          </a:p>
        </p:txBody>
      </p:sp>
      <p:sp>
        <p:nvSpPr>
          <p:cNvPr id="5" name="TextBox 4">
            <a:extLst>
              <a:ext uri="{FF2B5EF4-FFF2-40B4-BE49-F238E27FC236}">
                <a16:creationId xmlns:a16="http://schemas.microsoft.com/office/drawing/2014/main" id="{6D6EE328-813A-F4C7-3AA8-2BF117877ADD}"/>
              </a:ext>
            </a:extLst>
          </p:cNvPr>
          <p:cNvSpPr txBox="1"/>
          <p:nvPr/>
        </p:nvSpPr>
        <p:spPr>
          <a:xfrm>
            <a:off x="318977" y="4700626"/>
            <a:ext cx="7773282" cy="461665"/>
          </a:xfrm>
          <a:prstGeom prst="rect">
            <a:avLst/>
          </a:prstGeom>
          <a:noFill/>
        </p:spPr>
        <p:txBody>
          <a:bodyPr wrap="none" rtlCol="0">
            <a:spAutoFit/>
          </a:bodyPr>
          <a:lstStyle/>
          <a:p>
            <a:r>
              <a:rPr lang="en-GB" sz="2400" b="1" dirty="0">
                <a:latin typeface="Century Gothic" panose="020B0502020202020204" pitchFamily="34" charset="0"/>
              </a:rPr>
              <a:t>2. Explain which species is oxidised in this reaction.</a:t>
            </a:r>
          </a:p>
        </p:txBody>
      </p:sp>
      <p:sp>
        <p:nvSpPr>
          <p:cNvPr id="6" name="TextBox 5">
            <a:extLst>
              <a:ext uri="{FF2B5EF4-FFF2-40B4-BE49-F238E27FC236}">
                <a16:creationId xmlns:a16="http://schemas.microsoft.com/office/drawing/2014/main" id="{26EDCD14-D5CB-04D1-BCF1-2A37ADAFB466}"/>
              </a:ext>
            </a:extLst>
          </p:cNvPr>
          <p:cNvSpPr txBox="1"/>
          <p:nvPr/>
        </p:nvSpPr>
        <p:spPr>
          <a:xfrm>
            <a:off x="318977" y="3782689"/>
            <a:ext cx="10620374" cy="523220"/>
          </a:xfrm>
          <a:prstGeom prst="rect">
            <a:avLst/>
          </a:prstGeom>
          <a:noFill/>
        </p:spPr>
        <p:txBody>
          <a:bodyPr wrap="square">
            <a:spAutoFit/>
          </a:bodyPr>
          <a:lstStyle/>
          <a:p>
            <a:pPr algn="ctr"/>
            <a:r>
              <a:rPr lang="en-US" sz="2800" b="1" dirty="0">
                <a:solidFill>
                  <a:schemeClr val="accent2">
                    <a:lumMod val="60000"/>
                    <a:lumOff val="40000"/>
                  </a:schemeClr>
                </a:solidFill>
                <a:latin typeface="Century Gothic" panose="020B0502020202020204" pitchFamily="34" charset="0"/>
              </a:rPr>
              <a:t>2K</a:t>
            </a:r>
            <a:r>
              <a:rPr lang="en-US" sz="2800" b="1" baseline="-25000" dirty="0">
                <a:solidFill>
                  <a:schemeClr val="accent2">
                    <a:lumMod val="60000"/>
                    <a:lumOff val="40000"/>
                  </a:schemeClr>
                </a:solidFill>
                <a:latin typeface="Century Gothic" panose="020B0502020202020204" pitchFamily="34" charset="0"/>
              </a:rPr>
              <a:t>(s) </a:t>
            </a:r>
            <a:r>
              <a:rPr lang="en-US" sz="2800" b="1" dirty="0">
                <a:solidFill>
                  <a:schemeClr val="accent2">
                    <a:lumMod val="60000"/>
                    <a:lumOff val="40000"/>
                  </a:schemeClr>
                </a:solidFill>
                <a:latin typeface="Century Gothic" panose="020B0502020202020204" pitchFamily="34" charset="0"/>
              </a:rPr>
              <a:t>+ Cu</a:t>
            </a:r>
            <a:r>
              <a:rPr lang="en-US" sz="2800" b="1" baseline="30000" dirty="0">
                <a:solidFill>
                  <a:schemeClr val="accent2">
                    <a:lumMod val="60000"/>
                    <a:lumOff val="40000"/>
                  </a:schemeClr>
                </a:solidFill>
                <a:latin typeface="Century Gothic" panose="020B0502020202020204" pitchFamily="34" charset="0"/>
              </a:rPr>
              <a:t>2+</a:t>
            </a:r>
            <a:r>
              <a:rPr lang="en-US" sz="2800" b="1" baseline="-25000" dirty="0">
                <a:solidFill>
                  <a:schemeClr val="accent2">
                    <a:lumMod val="60000"/>
                    <a:lumOff val="40000"/>
                  </a:schemeClr>
                </a:solidFill>
                <a:latin typeface="Century Gothic" panose="020B0502020202020204" pitchFamily="34" charset="0"/>
              </a:rPr>
              <a:t>(aq) </a:t>
            </a:r>
            <a:r>
              <a:rPr lang="en-GB" sz="2800" b="1" dirty="0">
                <a:solidFill>
                  <a:schemeClr val="accent2">
                    <a:lumMod val="60000"/>
                    <a:lumOff val="40000"/>
                  </a:schemeClr>
                </a:solidFill>
                <a:latin typeface="Century Gothic" panose="020B0502020202020204" pitchFamily="34" charset="0"/>
              </a:rPr>
              <a:t>→ 2K</a:t>
            </a:r>
            <a:r>
              <a:rPr lang="en-GB" sz="2800" b="1" baseline="30000" dirty="0">
                <a:solidFill>
                  <a:schemeClr val="accent2">
                    <a:lumMod val="60000"/>
                    <a:lumOff val="40000"/>
                  </a:schemeClr>
                </a:solidFill>
                <a:latin typeface="Century Gothic" panose="020B0502020202020204" pitchFamily="34" charset="0"/>
              </a:rPr>
              <a:t>+</a:t>
            </a:r>
            <a:r>
              <a:rPr lang="en-GB" sz="2800" b="1" baseline="-25000" dirty="0">
                <a:solidFill>
                  <a:schemeClr val="accent2">
                    <a:lumMod val="60000"/>
                    <a:lumOff val="40000"/>
                  </a:schemeClr>
                </a:solidFill>
                <a:latin typeface="Century Gothic" panose="020B0502020202020204" pitchFamily="34" charset="0"/>
              </a:rPr>
              <a:t>(aq)</a:t>
            </a:r>
            <a:r>
              <a:rPr lang="en-GB" sz="2800" b="1" dirty="0">
                <a:solidFill>
                  <a:schemeClr val="accent2">
                    <a:lumMod val="60000"/>
                    <a:lumOff val="40000"/>
                  </a:schemeClr>
                </a:solidFill>
                <a:latin typeface="Century Gothic" panose="020B0502020202020204" pitchFamily="34" charset="0"/>
              </a:rPr>
              <a:t> + Cu</a:t>
            </a:r>
            <a:r>
              <a:rPr lang="en-GB" sz="2800" b="1" baseline="-25000" dirty="0">
                <a:solidFill>
                  <a:schemeClr val="accent2">
                    <a:lumMod val="60000"/>
                    <a:lumOff val="40000"/>
                  </a:schemeClr>
                </a:solidFill>
                <a:latin typeface="Century Gothic" panose="020B0502020202020204" pitchFamily="34" charset="0"/>
              </a:rPr>
              <a:t>(s)</a:t>
            </a:r>
            <a:endParaRPr lang="en-US" sz="2800" b="1" dirty="0">
              <a:solidFill>
                <a:schemeClr val="accent2">
                  <a:lumMod val="60000"/>
                  <a:lumOff val="40000"/>
                </a:schemeClr>
              </a:solidFill>
              <a:latin typeface="Century Gothic" panose="020B0502020202020204" pitchFamily="34" charset="0"/>
            </a:endParaRPr>
          </a:p>
        </p:txBody>
      </p:sp>
      <p:sp>
        <p:nvSpPr>
          <p:cNvPr id="7" name="TextBox 6">
            <a:extLst>
              <a:ext uri="{FF2B5EF4-FFF2-40B4-BE49-F238E27FC236}">
                <a16:creationId xmlns:a16="http://schemas.microsoft.com/office/drawing/2014/main" id="{528C1D99-7DCF-E41C-FA53-2F4727EC4991}"/>
              </a:ext>
            </a:extLst>
          </p:cNvPr>
          <p:cNvSpPr txBox="1"/>
          <p:nvPr/>
        </p:nvSpPr>
        <p:spPr>
          <a:xfrm>
            <a:off x="471377" y="5324133"/>
            <a:ext cx="10620374" cy="523220"/>
          </a:xfrm>
          <a:prstGeom prst="rect">
            <a:avLst/>
          </a:prstGeom>
          <a:noFill/>
        </p:spPr>
        <p:txBody>
          <a:bodyPr wrap="square">
            <a:spAutoFit/>
          </a:bodyPr>
          <a:lstStyle/>
          <a:p>
            <a:r>
              <a:rPr lang="en-US" sz="2800" b="1" dirty="0">
                <a:solidFill>
                  <a:schemeClr val="accent2">
                    <a:lumMod val="60000"/>
                    <a:lumOff val="40000"/>
                  </a:schemeClr>
                </a:solidFill>
                <a:latin typeface="Century Gothic" panose="020B0502020202020204" pitchFamily="34" charset="0"/>
              </a:rPr>
              <a:t>Potassium is oxidised because it loses electrons </a:t>
            </a:r>
          </a:p>
        </p:txBody>
      </p:sp>
    </p:spTree>
    <p:extLst>
      <p:ext uri="{BB962C8B-B14F-4D97-AF65-F5344CB8AC3E}">
        <p14:creationId xmlns:p14="http://schemas.microsoft.com/office/powerpoint/2010/main" val="490175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7B9F055-7E68-9617-6C39-A5C75E258BDD}"/>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853BCBC-8B9F-4C92-016E-793E6CFE7F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11" name="Rectangle 10">
            <a:extLst>
              <a:ext uri="{FF2B5EF4-FFF2-40B4-BE49-F238E27FC236}">
                <a16:creationId xmlns:a16="http://schemas.microsoft.com/office/drawing/2014/main" id="{07668207-4403-0234-9F00-49C16C97A5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90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13" name="Rectangle 12">
            <a:extLst>
              <a:ext uri="{FF2B5EF4-FFF2-40B4-BE49-F238E27FC236}">
                <a16:creationId xmlns:a16="http://schemas.microsoft.com/office/drawing/2014/main" id="{E9AE5BB5-4DB3-E7D7-4D69-68C9B1FA97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50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 name="TextBox 6">
            <a:extLst>
              <a:ext uri="{FF2B5EF4-FFF2-40B4-BE49-F238E27FC236}">
                <a16:creationId xmlns:a16="http://schemas.microsoft.com/office/drawing/2014/main" id="{77586A44-21DA-C981-AE0B-D65A2E892604}"/>
              </a:ext>
            </a:extLst>
          </p:cNvPr>
          <p:cNvSpPr txBox="1"/>
          <p:nvPr/>
        </p:nvSpPr>
        <p:spPr>
          <a:xfrm>
            <a:off x="4038598" y="6443200"/>
            <a:ext cx="6788728" cy="369332"/>
          </a:xfrm>
          <a:prstGeom prst="rect">
            <a:avLst/>
          </a:prstGeom>
          <a:noFill/>
        </p:spPr>
        <p:txBody>
          <a:bodyPr wrap="square" rtlCol="0">
            <a:spAutoFit/>
          </a:bodyPr>
          <a:lstStyle/>
          <a:p>
            <a:r>
              <a:rPr lang="en-US">
                <a:solidFill>
                  <a:schemeClr val="bg1"/>
                </a:solidFill>
              </a:rPr>
              <a:t>Aim High | Work Together | Be Kind | Lead the Way</a:t>
            </a:r>
          </a:p>
        </p:txBody>
      </p:sp>
      <p:sp>
        <p:nvSpPr>
          <p:cNvPr id="17" name="TextBox 16">
            <a:extLst>
              <a:ext uri="{FF2B5EF4-FFF2-40B4-BE49-F238E27FC236}">
                <a16:creationId xmlns:a16="http://schemas.microsoft.com/office/drawing/2014/main" id="{E758B281-1B4B-DD60-5778-DDD667776F62}"/>
              </a:ext>
            </a:extLst>
          </p:cNvPr>
          <p:cNvSpPr txBox="1"/>
          <p:nvPr/>
        </p:nvSpPr>
        <p:spPr>
          <a:xfrm>
            <a:off x="-101546" y="45468"/>
            <a:ext cx="923330" cy="6767064"/>
          </a:xfrm>
          <a:prstGeom prst="rect">
            <a:avLst/>
          </a:prstGeom>
          <a:solidFill>
            <a:schemeClr val="accent4">
              <a:lumMod val="50000"/>
            </a:schemeClr>
          </a:solidFill>
        </p:spPr>
        <p:txBody>
          <a:bodyPr vert="vert270" wrap="square" rtlCol="0">
            <a:spAutoFit/>
          </a:bodyPr>
          <a:lstStyle/>
          <a:p>
            <a:pPr algn="ctr"/>
            <a:r>
              <a:rPr lang="en-GB" sz="4800">
                <a:solidFill>
                  <a:schemeClr val="bg1"/>
                </a:solidFill>
              </a:rPr>
              <a:t>Deliberate Practice</a:t>
            </a:r>
          </a:p>
        </p:txBody>
      </p:sp>
      <p:sp>
        <p:nvSpPr>
          <p:cNvPr id="2" name="TextBox 1">
            <a:extLst>
              <a:ext uri="{FF2B5EF4-FFF2-40B4-BE49-F238E27FC236}">
                <a16:creationId xmlns:a16="http://schemas.microsoft.com/office/drawing/2014/main" id="{94BD0B4D-8415-F605-E864-BFB7DB3B8DCC}"/>
              </a:ext>
            </a:extLst>
          </p:cNvPr>
          <p:cNvSpPr txBox="1"/>
          <p:nvPr/>
        </p:nvSpPr>
        <p:spPr>
          <a:xfrm>
            <a:off x="1226480" y="201613"/>
            <a:ext cx="10618293" cy="9240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pic>
        <p:nvPicPr>
          <p:cNvPr id="7170" name="Picture 2">
            <a:extLst>
              <a:ext uri="{FF2B5EF4-FFF2-40B4-BE49-F238E27FC236}">
                <a16:creationId xmlns:a16="http://schemas.microsoft.com/office/drawing/2014/main" id="{75276E1B-B95E-B85E-61FB-93CE9B9881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59740" y="-2757"/>
            <a:ext cx="1632176" cy="1628475"/>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4" descr="Silent Solo">
            <a:extLst>
              <a:ext uri="{FF2B5EF4-FFF2-40B4-BE49-F238E27FC236}">
                <a16:creationId xmlns:a16="http://schemas.microsoft.com/office/drawing/2014/main" id="{4E537FD3-8694-A5B6-0FAD-44FC1F54FCE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16982" y="-3108"/>
            <a:ext cx="1609298" cy="1609298"/>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59232637-063B-05D0-F252-B9A6EFB3019B}"/>
              </a:ext>
            </a:extLst>
          </p:cNvPr>
          <p:cNvGrpSpPr/>
          <p:nvPr/>
        </p:nvGrpSpPr>
        <p:grpSpPr>
          <a:xfrm>
            <a:off x="9614796" y="6387318"/>
            <a:ext cx="1994299" cy="478636"/>
            <a:chOff x="9614803" y="6387318"/>
            <a:chExt cx="1341657" cy="447712"/>
          </a:xfrm>
        </p:grpSpPr>
        <p:pic>
          <p:nvPicPr>
            <p:cNvPr id="15" name="Picture 14" descr="A picture containing text&#10;&#10;Description automatically generated">
              <a:extLst>
                <a:ext uri="{FF2B5EF4-FFF2-40B4-BE49-F238E27FC236}">
                  <a16:creationId xmlns:a16="http://schemas.microsoft.com/office/drawing/2014/main" id="{4BAF833D-6009-1BED-27AD-5085B6F32AF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614803" y="6395709"/>
              <a:ext cx="330463" cy="429842"/>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5" descr="A picture containing text, sign&#10;&#10;Description automatically generated">
              <a:extLst>
                <a:ext uri="{FF2B5EF4-FFF2-40B4-BE49-F238E27FC236}">
                  <a16:creationId xmlns:a16="http://schemas.microsoft.com/office/drawing/2014/main" id="{F664A9E1-D996-928E-4E1B-79AF7652B95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277411" y="6388853"/>
              <a:ext cx="323977" cy="446177"/>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descr="A picture containing text&#10;&#10;Description automatically generated">
              <a:extLst>
                <a:ext uri="{FF2B5EF4-FFF2-40B4-BE49-F238E27FC236}">
                  <a16:creationId xmlns:a16="http://schemas.microsoft.com/office/drawing/2014/main" id="{49AC9BF8-DDD5-C067-49F9-2844421B743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610702" y="6391698"/>
              <a:ext cx="345758" cy="436820"/>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8">
              <a:extLst>
                <a:ext uri="{FF2B5EF4-FFF2-40B4-BE49-F238E27FC236}">
                  <a16:creationId xmlns:a16="http://schemas.microsoft.com/office/drawing/2014/main" id="{D13820B1-56D7-9BF7-D2A9-CF94AA3EBE9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937194" y="6387318"/>
              <a:ext cx="330582" cy="446427"/>
            </a:xfrm>
            <a:prstGeom prst="rect">
              <a:avLst/>
            </a:prstGeom>
            <a:noFill/>
            <a:extLst>
              <a:ext uri="{909E8E84-426E-40DD-AFC4-6F175D3DCCD1}">
                <a14:hiddenFill xmlns:a14="http://schemas.microsoft.com/office/drawing/2010/main">
                  <a:solidFill>
                    <a:srgbClr val="FFFFFF"/>
                  </a:solidFill>
                </a14:hiddenFill>
              </a:ext>
            </a:extLst>
          </p:spPr>
        </p:pic>
      </p:grpSp>
      <p:pic>
        <p:nvPicPr>
          <p:cNvPr id="4" name="Picture 3">
            <a:extLst>
              <a:ext uri="{FF2B5EF4-FFF2-40B4-BE49-F238E27FC236}">
                <a16:creationId xmlns:a16="http://schemas.microsoft.com/office/drawing/2014/main" id="{F44BD0E4-C21E-BB15-6869-769AF460E861}"/>
              </a:ext>
            </a:extLst>
          </p:cNvPr>
          <p:cNvPicPr>
            <a:picLocks noChangeAspect="1"/>
          </p:cNvPicPr>
          <p:nvPr/>
        </p:nvPicPr>
        <p:blipFill>
          <a:blip r:embed="rId9"/>
          <a:stretch>
            <a:fillRect/>
          </a:stretch>
        </p:blipFill>
        <p:spPr>
          <a:xfrm>
            <a:off x="4357753" y="1040808"/>
            <a:ext cx="3771900" cy="5314950"/>
          </a:xfrm>
          <a:prstGeom prst="rect">
            <a:avLst/>
          </a:prstGeom>
          <a:ln>
            <a:solidFill>
              <a:schemeClr val="tx1"/>
            </a:solidFill>
          </a:ln>
        </p:spPr>
      </p:pic>
      <p:pic>
        <p:nvPicPr>
          <p:cNvPr id="6" name="Picture 5">
            <a:extLst>
              <a:ext uri="{FF2B5EF4-FFF2-40B4-BE49-F238E27FC236}">
                <a16:creationId xmlns:a16="http://schemas.microsoft.com/office/drawing/2014/main" id="{7C2E1C5D-288C-BBDE-A766-CDED29CD9E77}"/>
              </a:ext>
            </a:extLst>
          </p:cNvPr>
          <p:cNvPicPr>
            <a:picLocks noChangeAspect="1"/>
          </p:cNvPicPr>
          <p:nvPr/>
        </p:nvPicPr>
        <p:blipFill>
          <a:blip r:embed="rId10"/>
          <a:stretch>
            <a:fillRect/>
          </a:stretch>
        </p:blipFill>
        <p:spPr>
          <a:xfrm>
            <a:off x="1509113" y="1021758"/>
            <a:ext cx="3781425" cy="5334000"/>
          </a:xfrm>
          <a:prstGeom prst="rect">
            <a:avLst/>
          </a:prstGeom>
          <a:ln>
            <a:solidFill>
              <a:schemeClr val="tx1"/>
            </a:solidFill>
          </a:ln>
        </p:spPr>
      </p:pic>
      <p:sp>
        <p:nvSpPr>
          <p:cNvPr id="8" name="Title 1">
            <a:extLst>
              <a:ext uri="{FF2B5EF4-FFF2-40B4-BE49-F238E27FC236}">
                <a16:creationId xmlns:a16="http://schemas.microsoft.com/office/drawing/2014/main" id="{4DF473EC-92B4-555C-50F6-2C9D96D9428D}"/>
              </a:ext>
            </a:extLst>
          </p:cNvPr>
          <p:cNvSpPr>
            <a:spLocks noGrp="1"/>
          </p:cNvSpPr>
          <p:nvPr>
            <p:ph type="title"/>
          </p:nvPr>
        </p:nvSpPr>
        <p:spPr>
          <a:xfrm>
            <a:off x="1196892" y="180763"/>
            <a:ext cx="10620000" cy="720000"/>
          </a:xfrm>
        </p:spPr>
        <p:txBody>
          <a:bodyPr/>
          <a:lstStyle/>
          <a:p>
            <a:r>
              <a:rPr lang="en-US" dirty="0">
                <a:latin typeface="Century Gothic" panose="020B0502020202020204" pitchFamily="34" charset="0"/>
              </a:rPr>
              <a:t>Activity</a:t>
            </a:r>
          </a:p>
        </p:txBody>
      </p:sp>
    </p:spTree>
    <p:extLst>
      <p:ext uri="{BB962C8B-B14F-4D97-AF65-F5344CB8AC3E}">
        <p14:creationId xmlns:p14="http://schemas.microsoft.com/office/powerpoint/2010/main" val="1282157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BA0365E-C7C3-811B-37CA-F75F37153722}"/>
              </a:ext>
            </a:extLst>
          </p:cNvPr>
          <p:cNvPicPr>
            <a:picLocks noChangeAspect="1"/>
          </p:cNvPicPr>
          <p:nvPr/>
        </p:nvPicPr>
        <p:blipFill>
          <a:blip r:embed="rId3"/>
          <a:stretch>
            <a:fillRect/>
          </a:stretch>
        </p:blipFill>
        <p:spPr>
          <a:xfrm>
            <a:off x="540000" y="719998"/>
            <a:ext cx="8356865" cy="6018861"/>
          </a:xfrm>
          <a:prstGeom prst="rect">
            <a:avLst/>
          </a:prstGeom>
        </p:spPr>
      </p:pic>
      <p:sp>
        <p:nvSpPr>
          <p:cNvPr id="2" name="Title 1">
            <a:extLst>
              <a:ext uri="{FF2B5EF4-FFF2-40B4-BE49-F238E27FC236}">
                <a16:creationId xmlns:a16="http://schemas.microsoft.com/office/drawing/2014/main" id="{E494B74C-D6E9-8C47-B64D-4A7EA3FB90D0}"/>
              </a:ext>
            </a:extLst>
          </p:cNvPr>
          <p:cNvSpPr>
            <a:spLocks noGrp="1"/>
          </p:cNvSpPr>
          <p:nvPr>
            <p:ph type="title"/>
          </p:nvPr>
        </p:nvSpPr>
        <p:spPr/>
        <p:txBody>
          <a:bodyPr/>
          <a:lstStyle/>
          <a:p>
            <a:r>
              <a:rPr lang="en-US" dirty="0">
                <a:latin typeface="Century Gothic" panose="020B0502020202020204" pitchFamily="34" charset="0"/>
              </a:rPr>
              <a:t>Answers – Section A</a:t>
            </a:r>
          </a:p>
        </p:txBody>
      </p:sp>
      <p:sp>
        <p:nvSpPr>
          <p:cNvPr id="3" name="TextBox 2">
            <a:extLst>
              <a:ext uri="{FF2B5EF4-FFF2-40B4-BE49-F238E27FC236}">
                <a16:creationId xmlns:a16="http://schemas.microsoft.com/office/drawing/2014/main" id="{4C6AE249-7959-C2EA-70DC-79D585E437FB}"/>
              </a:ext>
            </a:extLst>
          </p:cNvPr>
          <p:cNvSpPr txBox="1"/>
          <p:nvPr/>
        </p:nvSpPr>
        <p:spPr>
          <a:xfrm>
            <a:off x="1738673" y="1100025"/>
            <a:ext cx="7142693" cy="461665"/>
          </a:xfrm>
          <a:prstGeom prst="rect">
            <a:avLst/>
          </a:prstGeom>
          <a:solidFill>
            <a:schemeClr val="bg1"/>
          </a:solidFill>
        </p:spPr>
        <p:txBody>
          <a:bodyPr wrap="square" rtlCol="0">
            <a:spAutoFit/>
          </a:bodyPr>
          <a:lstStyle/>
          <a:p>
            <a:r>
              <a:rPr lang="en-GB" sz="2400" b="1" dirty="0">
                <a:solidFill>
                  <a:schemeClr val="accent1"/>
                </a:solidFill>
                <a:latin typeface="Century Gothic" panose="020B0502020202020204" pitchFamily="34" charset="0"/>
              </a:rPr>
              <a:t>is the loss of electrons.</a:t>
            </a:r>
          </a:p>
        </p:txBody>
      </p:sp>
      <p:sp>
        <p:nvSpPr>
          <p:cNvPr id="9" name="TextBox 8">
            <a:extLst>
              <a:ext uri="{FF2B5EF4-FFF2-40B4-BE49-F238E27FC236}">
                <a16:creationId xmlns:a16="http://schemas.microsoft.com/office/drawing/2014/main" id="{0C746DAA-857D-FE28-9FA2-7FD80A1B7755}"/>
              </a:ext>
            </a:extLst>
          </p:cNvPr>
          <p:cNvSpPr txBox="1"/>
          <p:nvPr/>
        </p:nvSpPr>
        <p:spPr>
          <a:xfrm>
            <a:off x="1761921" y="1555468"/>
            <a:ext cx="7142693" cy="461665"/>
          </a:xfrm>
          <a:prstGeom prst="rect">
            <a:avLst/>
          </a:prstGeom>
          <a:solidFill>
            <a:schemeClr val="bg1"/>
          </a:solidFill>
        </p:spPr>
        <p:txBody>
          <a:bodyPr wrap="square" rtlCol="0">
            <a:spAutoFit/>
          </a:bodyPr>
          <a:lstStyle/>
          <a:p>
            <a:r>
              <a:rPr lang="en-GB" sz="2400" b="1" dirty="0">
                <a:solidFill>
                  <a:schemeClr val="accent1"/>
                </a:solidFill>
                <a:latin typeface="Century Gothic" panose="020B0502020202020204" pitchFamily="34" charset="0"/>
              </a:rPr>
              <a:t>is the gain of electrons.</a:t>
            </a:r>
          </a:p>
        </p:txBody>
      </p:sp>
      <p:sp>
        <p:nvSpPr>
          <p:cNvPr id="13" name="TextBox 12">
            <a:extLst>
              <a:ext uri="{FF2B5EF4-FFF2-40B4-BE49-F238E27FC236}">
                <a16:creationId xmlns:a16="http://schemas.microsoft.com/office/drawing/2014/main" id="{99C6DA09-0EFC-23E6-8D2D-8E235A15CD93}"/>
              </a:ext>
            </a:extLst>
          </p:cNvPr>
          <p:cNvSpPr txBox="1"/>
          <p:nvPr/>
        </p:nvSpPr>
        <p:spPr>
          <a:xfrm>
            <a:off x="4732307" y="3378476"/>
            <a:ext cx="2629388" cy="461665"/>
          </a:xfrm>
          <a:prstGeom prst="rect">
            <a:avLst/>
          </a:prstGeom>
          <a:noFill/>
        </p:spPr>
        <p:txBody>
          <a:bodyPr wrap="square" rtlCol="0">
            <a:spAutoFit/>
          </a:bodyPr>
          <a:lstStyle/>
          <a:p>
            <a:r>
              <a:rPr lang="en-GB" sz="2400" b="1" dirty="0">
                <a:solidFill>
                  <a:schemeClr val="accent1"/>
                </a:solidFill>
                <a:latin typeface="Century Gothic" panose="020B0502020202020204" pitchFamily="34" charset="0"/>
              </a:rPr>
              <a:t>Ag</a:t>
            </a:r>
            <a:r>
              <a:rPr lang="en-GB" sz="2400" b="1" baseline="30000" dirty="0">
                <a:solidFill>
                  <a:schemeClr val="accent1"/>
                </a:solidFill>
                <a:latin typeface="Century Gothic" panose="020B0502020202020204" pitchFamily="34" charset="0"/>
              </a:rPr>
              <a:t>+</a:t>
            </a:r>
            <a:r>
              <a:rPr lang="en-GB" sz="2400" b="1" dirty="0">
                <a:solidFill>
                  <a:schemeClr val="accent1"/>
                </a:solidFill>
                <a:latin typeface="Century Gothic" panose="020B0502020202020204" pitchFamily="34" charset="0"/>
              </a:rPr>
              <a:t> and NO</a:t>
            </a:r>
            <a:r>
              <a:rPr lang="en-GB" sz="2400" b="1" baseline="-25000" dirty="0">
                <a:solidFill>
                  <a:schemeClr val="accent1"/>
                </a:solidFill>
                <a:latin typeface="Century Gothic" panose="020B0502020202020204" pitchFamily="34" charset="0"/>
              </a:rPr>
              <a:t>3</a:t>
            </a:r>
            <a:r>
              <a:rPr lang="en-GB" sz="3200" b="1" baseline="30000" dirty="0">
                <a:solidFill>
                  <a:schemeClr val="accent1"/>
                </a:solidFill>
                <a:latin typeface="Century Gothic" panose="020B0502020202020204" pitchFamily="34" charset="0"/>
              </a:rPr>
              <a:t>-</a:t>
            </a:r>
            <a:endParaRPr lang="en-GB" sz="2400" b="1" baseline="30000" dirty="0">
              <a:solidFill>
                <a:schemeClr val="accent1"/>
              </a:solidFill>
              <a:latin typeface="Century Gothic" panose="020B0502020202020204" pitchFamily="34" charset="0"/>
            </a:endParaRPr>
          </a:p>
        </p:txBody>
      </p:sp>
      <p:sp>
        <p:nvSpPr>
          <p:cNvPr id="14" name="TextBox 13">
            <a:extLst>
              <a:ext uri="{FF2B5EF4-FFF2-40B4-BE49-F238E27FC236}">
                <a16:creationId xmlns:a16="http://schemas.microsoft.com/office/drawing/2014/main" id="{71791633-EDF3-030F-3AE6-24834EDA5591}"/>
              </a:ext>
            </a:extLst>
          </p:cNvPr>
          <p:cNvSpPr txBox="1"/>
          <p:nvPr/>
        </p:nvSpPr>
        <p:spPr>
          <a:xfrm>
            <a:off x="4956658" y="3760424"/>
            <a:ext cx="2629388" cy="461665"/>
          </a:xfrm>
          <a:prstGeom prst="rect">
            <a:avLst/>
          </a:prstGeom>
          <a:noFill/>
        </p:spPr>
        <p:txBody>
          <a:bodyPr wrap="square" rtlCol="0">
            <a:spAutoFit/>
          </a:bodyPr>
          <a:lstStyle/>
          <a:p>
            <a:r>
              <a:rPr lang="en-GB" sz="2400" b="1" dirty="0">
                <a:solidFill>
                  <a:schemeClr val="accent1"/>
                </a:solidFill>
                <a:latin typeface="Century Gothic" panose="020B0502020202020204" pitchFamily="34" charset="0"/>
              </a:rPr>
              <a:t>H</a:t>
            </a:r>
            <a:r>
              <a:rPr lang="en-GB" sz="2400" b="1" baseline="30000" dirty="0">
                <a:solidFill>
                  <a:schemeClr val="accent1"/>
                </a:solidFill>
                <a:latin typeface="Century Gothic" panose="020B0502020202020204" pitchFamily="34" charset="0"/>
              </a:rPr>
              <a:t>+</a:t>
            </a:r>
            <a:r>
              <a:rPr lang="en-GB" sz="2400" b="1" dirty="0">
                <a:solidFill>
                  <a:schemeClr val="accent1"/>
                </a:solidFill>
                <a:latin typeface="Century Gothic" panose="020B0502020202020204" pitchFamily="34" charset="0"/>
              </a:rPr>
              <a:t> and Cl</a:t>
            </a:r>
            <a:r>
              <a:rPr lang="en-GB" sz="3200" b="1" baseline="30000" dirty="0">
                <a:solidFill>
                  <a:schemeClr val="accent1"/>
                </a:solidFill>
                <a:latin typeface="Century Gothic" panose="020B0502020202020204" pitchFamily="34" charset="0"/>
              </a:rPr>
              <a:t>-</a:t>
            </a:r>
            <a:endParaRPr lang="en-GB" sz="2400" b="1" baseline="30000" dirty="0">
              <a:solidFill>
                <a:schemeClr val="accent1"/>
              </a:solidFill>
              <a:latin typeface="Century Gothic" panose="020B0502020202020204" pitchFamily="34" charset="0"/>
            </a:endParaRPr>
          </a:p>
        </p:txBody>
      </p:sp>
      <p:sp>
        <p:nvSpPr>
          <p:cNvPr id="15" name="TextBox 14">
            <a:extLst>
              <a:ext uri="{FF2B5EF4-FFF2-40B4-BE49-F238E27FC236}">
                <a16:creationId xmlns:a16="http://schemas.microsoft.com/office/drawing/2014/main" id="{87158195-6158-ADE4-28AF-4DA3464F70FB}"/>
              </a:ext>
            </a:extLst>
          </p:cNvPr>
          <p:cNvSpPr txBox="1"/>
          <p:nvPr/>
        </p:nvSpPr>
        <p:spPr>
          <a:xfrm>
            <a:off x="4483353" y="4142372"/>
            <a:ext cx="2629388" cy="461665"/>
          </a:xfrm>
          <a:prstGeom prst="rect">
            <a:avLst/>
          </a:prstGeom>
          <a:noFill/>
        </p:spPr>
        <p:txBody>
          <a:bodyPr wrap="square" rtlCol="0">
            <a:spAutoFit/>
          </a:bodyPr>
          <a:lstStyle/>
          <a:p>
            <a:r>
              <a:rPr lang="en-GB" sz="2400" b="1" dirty="0">
                <a:solidFill>
                  <a:schemeClr val="accent1"/>
                </a:solidFill>
                <a:latin typeface="Century Gothic" panose="020B0502020202020204" pitchFamily="34" charset="0"/>
              </a:rPr>
              <a:t>2 Na</a:t>
            </a:r>
            <a:r>
              <a:rPr lang="en-GB" sz="2400" b="1" baseline="30000" dirty="0">
                <a:solidFill>
                  <a:schemeClr val="accent1"/>
                </a:solidFill>
                <a:latin typeface="Century Gothic" panose="020B0502020202020204" pitchFamily="34" charset="0"/>
              </a:rPr>
              <a:t>+</a:t>
            </a:r>
            <a:r>
              <a:rPr lang="en-GB" sz="2400" b="1" dirty="0">
                <a:solidFill>
                  <a:schemeClr val="accent1"/>
                </a:solidFill>
                <a:latin typeface="Century Gothic" panose="020B0502020202020204" pitchFamily="34" charset="0"/>
              </a:rPr>
              <a:t> and O</a:t>
            </a:r>
            <a:r>
              <a:rPr lang="en-GB" sz="2400" b="1" baseline="30000" dirty="0">
                <a:solidFill>
                  <a:schemeClr val="accent1"/>
                </a:solidFill>
                <a:latin typeface="Century Gothic" panose="020B0502020202020204" pitchFamily="34" charset="0"/>
              </a:rPr>
              <a:t>2</a:t>
            </a:r>
            <a:r>
              <a:rPr lang="en-GB" sz="3200" b="1" baseline="30000" dirty="0">
                <a:solidFill>
                  <a:schemeClr val="accent1"/>
                </a:solidFill>
                <a:latin typeface="Century Gothic" panose="020B0502020202020204" pitchFamily="34" charset="0"/>
              </a:rPr>
              <a:t>-</a:t>
            </a:r>
            <a:endParaRPr lang="en-GB" sz="2400" b="1" baseline="30000" dirty="0">
              <a:solidFill>
                <a:schemeClr val="accent1"/>
              </a:solidFill>
              <a:latin typeface="Century Gothic" panose="020B0502020202020204" pitchFamily="34" charset="0"/>
            </a:endParaRPr>
          </a:p>
        </p:txBody>
      </p:sp>
      <p:sp>
        <p:nvSpPr>
          <p:cNvPr id="16" name="TextBox 15">
            <a:extLst>
              <a:ext uri="{FF2B5EF4-FFF2-40B4-BE49-F238E27FC236}">
                <a16:creationId xmlns:a16="http://schemas.microsoft.com/office/drawing/2014/main" id="{D1171198-6D50-4520-10EA-DE8AC10FFB30}"/>
              </a:ext>
            </a:extLst>
          </p:cNvPr>
          <p:cNvSpPr txBox="1"/>
          <p:nvPr/>
        </p:nvSpPr>
        <p:spPr>
          <a:xfrm>
            <a:off x="4751002" y="4508822"/>
            <a:ext cx="2629388" cy="461665"/>
          </a:xfrm>
          <a:prstGeom prst="rect">
            <a:avLst/>
          </a:prstGeom>
          <a:noFill/>
        </p:spPr>
        <p:txBody>
          <a:bodyPr wrap="square" rtlCol="0">
            <a:spAutoFit/>
          </a:bodyPr>
          <a:lstStyle/>
          <a:p>
            <a:r>
              <a:rPr lang="en-GB" sz="2400" b="1" dirty="0">
                <a:solidFill>
                  <a:schemeClr val="accent1"/>
                </a:solidFill>
                <a:latin typeface="Century Gothic" panose="020B0502020202020204" pitchFamily="34" charset="0"/>
              </a:rPr>
              <a:t>Cu</a:t>
            </a:r>
            <a:r>
              <a:rPr lang="en-GB" sz="2400" b="1" baseline="30000" dirty="0">
                <a:solidFill>
                  <a:schemeClr val="accent1"/>
                </a:solidFill>
                <a:latin typeface="Century Gothic" panose="020B0502020202020204" pitchFamily="34" charset="0"/>
              </a:rPr>
              <a:t>2+</a:t>
            </a:r>
            <a:r>
              <a:rPr lang="en-GB" sz="2400" b="1" dirty="0">
                <a:solidFill>
                  <a:schemeClr val="accent1"/>
                </a:solidFill>
                <a:latin typeface="Century Gothic" panose="020B0502020202020204" pitchFamily="34" charset="0"/>
              </a:rPr>
              <a:t> and 2 Cl</a:t>
            </a:r>
            <a:r>
              <a:rPr lang="en-GB" sz="3200" b="1" baseline="30000" dirty="0">
                <a:solidFill>
                  <a:schemeClr val="accent1"/>
                </a:solidFill>
                <a:latin typeface="Century Gothic" panose="020B0502020202020204" pitchFamily="34" charset="0"/>
              </a:rPr>
              <a:t>-</a:t>
            </a:r>
            <a:endParaRPr lang="en-GB" sz="2400" b="1" baseline="30000" dirty="0">
              <a:solidFill>
                <a:schemeClr val="accent1"/>
              </a:solidFill>
              <a:latin typeface="Century Gothic" panose="020B0502020202020204" pitchFamily="34" charset="0"/>
            </a:endParaRPr>
          </a:p>
        </p:txBody>
      </p:sp>
      <p:sp>
        <p:nvSpPr>
          <p:cNvPr id="17" name="TextBox 16">
            <a:extLst>
              <a:ext uri="{FF2B5EF4-FFF2-40B4-BE49-F238E27FC236}">
                <a16:creationId xmlns:a16="http://schemas.microsoft.com/office/drawing/2014/main" id="{EE2E2F5D-92F1-70FF-2938-F641A05381FE}"/>
              </a:ext>
            </a:extLst>
          </p:cNvPr>
          <p:cNvSpPr txBox="1"/>
          <p:nvPr/>
        </p:nvSpPr>
        <p:spPr>
          <a:xfrm>
            <a:off x="4956658" y="4865917"/>
            <a:ext cx="2629388" cy="461665"/>
          </a:xfrm>
          <a:prstGeom prst="rect">
            <a:avLst/>
          </a:prstGeom>
          <a:noFill/>
        </p:spPr>
        <p:txBody>
          <a:bodyPr wrap="square" rtlCol="0">
            <a:spAutoFit/>
          </a:bodyPr>
          <a:lstStyle/>
          <a:p>
            <a:r>
              <a:rPr lang="en-GB" sz="2400" b="1" dirty="0">
                <a:solidFill>
                  <a:schemeClr val="accent1"/>
                </a:solidFill>
                <a:latin typeface="Century Gothic" panose="020B0502020202020204" pitchFamily="34" charset="0"/>
              </a:rPr>
              <a:t>Li</a:t>
            </a:r>
            <a:r>
              <a:rPr lang="en-GB" sz="2400" b="1" baseline="30000" dirty="0">
                <a:solidFill>
                  <a:schemeClr val="accent1"/>
                </a:solidFill>
                <a:latin typeface="Century Gothic" panose="020B0502020202020204" pitchFamily="34" charset="0"/>
              </a:rPr>
              <a:t>+</a:t>
            </a:r>
            <a:r>
              <a:rPr lang="en-GB" sz="2400" b="1" dirty="0">
                <a:solidFill>
                  <a:schemeClr val="accent1"/>
                </a:solidFill>
                <a:latin typeface="Century Gothic" panose="020B0502020202020204" pitchFamily="34" charset="0"/>
              </a:rPr>
              <a:t> and OH</a:t>
            </a:r>
            <a:r>
              <a:rPr lang="en-GB" sz="3200" b="1" baseline="30000" dirty="0">
                <a:solidFill>
                  <a:schemeClr val="accent1"/>
                </a:solidFill>
                <a:latin typeface="Century Gothic" panose="020B0502020202020204" pitchFamily="34" charset="0"/>
              </a:rPr>
              <a:t>-</a:t>
            </a:r>
            <a:endParaRPr lang="en-GB" sz="2400" b="1" baseline="30000" dirty="0">
              <a:solidFill>
                <a:schemeClr val="accent1"/>
              </a:solidFill>
              <a:latin typeface="Century Gothic" panose="020B0502020202020204" pitchFamily="34" charset="0"/>
            </a:endParaRPr>
          </a:p>
        </p:txBody>
      </p:sp>
      <p:sp>
        <p:nvSpPr>
          <p:cNvPr id="18" name="TextBox 17">
            <a:extLst>
              <a:ext uri="{FF2B5EF4-FFF2-40B4-BE49-F238E27FC236}">
                <a16:creationId xmlns:a16="http://schemas.microsoft.com/office/drawing/2014/main" id="{860B72EB-DD7E-29E8-1622-918D34462312}"/>
              </a:ext>
            </a:extLst>
          </p:cNvPr>
          <p:cNvSpPr txBox="1"/>
          <p:nvPr/>
        </p:nvSpPr>
        <p:spPr>
          <a:xfrm>
            <a:off x="4643793" y="5201275"/>
            <a:ext cx="2629388" cy="461665"/>
          </a:xfrm>
          <a:prstGeom prst="rect">
            <a:avLst/>
          </a:prstGeom>
          <a:noFill/>
        </p:spPr>
        <p:txBody>
          <a:bodyPr wrap="square" rtlCol="0">
            <a:spAutoFit/>
          </a:bodyPr>
          <a:lstStyle/>
          <a:p>
            <a:r>
              <a:rPr lang="en-GB" sz="2400" b="1" dirty="0">
                <a:solidFill>
                  <a:schemeClr val="accent1"/>
                </a:solidFill>
                <a:latin typeface="Century Gothic" panose="020B0502020202020204" pitchFamily="34" charset="0"/>
              </a:rPr>
              <a:t>Cu</a:t>
            </a:r>
            <a:r>
              <a:rPr lang="en-GB" sz="2400" b="1" baseline="30000" dirty="0">
                <a:solidFill>
                  <a:schemeClr val="accent1"/>
                </a:solidFill>
                <a:latin typeface="Century Gothic" panose="020B0502020202020204" pitchFamily="34" charset="0"/>
              </a:rPr>
              <a:t>2+</a:t>
            </a:r>
            <a:r>
              <a:rPr lang="en-GB" sz="2400" b="1" dirty="0">
                <a:solidFill>
                  <a:schemeClr val="accent1"/>
                </a:solidFill>
                <a:latin typeface="Century Gothic" panose="020B0502020202020204" pitchFamily="34" charset="0"/>
              </a:rPr>
              <a:t> and SO</a:t>
            </a:r>
            <a:r>
              <a:rPr lang="en-GB" sz="2400" b="1" baseline="-25000" dirty="0">
                <a:solidFill>
                  <a:schemeClr val="accent1"/>
                </a:solidFill>
                <a:latin typeface="Century Gothic" panose="020B0502020202020204" pitchFamily="34" charset="0"/>
              </a:rPr>
              <a:t>4</a:t>
            </a:r>
            <a:r>
              <a:rPr lang="en-GB" sz="2400" b="1" baseline="30000" dirty="0">
                <a:solidFill>
                  <a:schemeClr val="accent1"/>
                </a:solidFill>
                <a:latin typeface="Century Gothic" panose="020B0502020202020204" pitchFamily="34" charset="0"/>
              </a:rPr>
              <a:t>2</a:t>
            </a:r>
            <a:r>
              <a:rPr lang="en-GB" sz="3200" b="1" baseline="30000" dirty="0">
                <a:solidFill>
                  <a:schemeClr val="accent1"/>
                </a:solidFill>
                <a:latin typeface="Century Gothic" panose="020B0502020202020204" pitchFamily="34" charset="0"/>
              </a:rPr>
              <a:t>-</a:t>
            </a:r>
            <a:endParaRPr lang="en-GB" sz="2400" b="1" baseline="30000" dirty="0">
              <a:solidFill>
                <a:schemeClr val="accent1"/>
              </a:solidFill>
              <a:latin typeface="Century Gothic" panose="020B0502020202020204" pitchFamily="34" charset="0"/>
            </a:endParaRPr>
          </a:p>
        </p:txBody>
      </p:sp>
      <p:sp>
        <p:nvSpPr>
          <p:cNvPr id="19" name="TextBox 18">
            <a:extLst>
              <a:ext uri="{FF2B5EF4-FFF2-40B4-BE49-F238E27FC236}">
                <a16:creationId xmlns:a16="http://schemas.microsoft.com/office/drawing/2014/main" id="{17F91221-C3CD-9794-2FCC-965731072339}"/>
              </a:ext>
            </a:extLst>
          </p:cNvPr>
          <p:cNvSpPr txBox="1"/>
          <p:nvPr/>
        </p:nvSpPr>
        <p:spPr>
          <a:xfrm>
            <a:off x="4718432" y="5558370"/>
            <a:ext cx="2629388" cy="461665"/>
          </a:xfrm>
          <a:prstGeom prst="rect">
            <a:avLst/>
          </a:prstGeom>
          <a:noFill/>
        </p:spPr>
        <p:txBody>
          <a:bodyPr wrap="square" rtlCol="0">
            <a:spAutoFit/>
          </a:bodyPr>
          <a:lstStyle/>
          <a:p>
            <a:r>
              <a:rPr lang="en-GB" sz="2400" b="1" dirty="0">
                <a:solidFill>
                  <a:schemeClr val="accent1"/>
                </a:solidFill>
                <a:latin typeface="Century Gothic" panose="020B0502020202020204" pitchFamily="34" charset="0"/>
              </a:rPr>
              <a:t>2 H</a:t>
            </a:r>
            <a:r>
              <a:rPr lang="en-GB" sz="2400" b="1" baseline="30000" dirty="0">
                <a:solidFill>
                  <a:schemeClr val="accent1"/>
                </a:solidFill>
                <a:latin typeface="Century Gothic" panose="020B0502020202020204" pitchFamily="34" charset="0"/>
              </a:rPr>
              <a:t>+</a:t>
            </a:r>
            <a:r>
              <a:rPr lang="en-GB" sz="2400" b="1" dirty="0">
                <a:solidFill>
                  <a:schemeClr val="accent1"/>
                </a:solidFill>
                <a:latin typeface="Century Gothic" panose="020B0502020202020204" pitchFamily="34" charset="0"/>
              </a:rPr>
              <a:t> and CO</a:t>
            </a:r>
            <a:r>
              <a:rPr lang="en-GB" sz="2400" b="1" baseline="-25000" dirty="0">
                <a:solidFill>
                  <a:schemeClr val="accent1"/>
                </a:solidFill>
                <a:latin typeface="Century Gothic" panose="020B0502020202020204" pitchFamily="34" charset="0"/>
              </a:rPr>
              <a:t>3</a:t>
            </a:r>
            <a:r>
              <a:rPr lang="en-GB" sz="2400" b="1" baseline="30000" dirty="0">
                <a:solidFill>
                  <a:schemeClr val="accent1"/>
                </a:solidFill>
                <a:latin typeface="Century Gothic" panose="020B0502020202020204" pitchFamily="34" charset="0"/>
              </a:rPr>
              <a:t>2</a:t>
            </a:r>
            <a:r>
              <a:rPr lang="en-GB" sz="3200" b="1" baseline="30000" dirty="0">
                <a:solidFill>
                  <a:schemeClr val="accent1"/>
                </a:solidFill>
                <a:latin typeface="Century Gothic" panose="020B0502020202020204" pitchFamily="34" charset="0"/>
              </a:rPr>
              <a:t>-</a:t>
            </a:r>
            <a:endParaRPr lang="en-GB" sz="2400" b="1" baseline="30000" dirty="0">
              <a:solidFill>
                <a:schemeClr val="accent1"/>
              </a:solidFill>
              <a:latin typeface="Century Gothic" panose="020B0502020202020204" pitchFamily="34" charset="0"/>
            </a:endParaRPr>
          </a:p>
        </p:txBody>
      </p:sp>
      <p:sp>
        <p:nvSpPr>
          <p:cNvPr id="20" name="TextBox 19">
            <a:extLst>
              <a:ext uri="{FF2B5EF4-FFF2-40B4-BE49-F238E27FC236}">
                <a16:creationId xmlns:a16="http://schemas.microsoft.com/office/drawing/2014/main" id="{F089495F-C500-16FE-649E-B4A65359E166}"/>
              </a:ext>
            </a:extLst>
          </p:cNvPr>
          <p:cNvSpPr txBox="1"/>
          <p:nvPr/>
        </p:nvSpPr>
        <p:spPr>
          <a:xfrm>
            <a:off x="4643793" y="5932147"/>
            <a:ext cx="2629388" cy="461665"/>
          </a:xfrm>
          <a:prstGeom prst="rect">
            <a:avLst/>
          </a:prstGeom>
          <a:noFill/>
        </p:spPr>
        <p:txBody>
          <a:bodyPr wrap="square" rtlCol="0">
            <a:spAutoFit/>
          </a:bodyPr>
          <a:lstStyle/>
          <a:p>
            <a:r>
              <a:rPr lang="en-GB" sz="2400" b="1" dirty="0">
                <a:solidFill>
                  <a:schemeClr val="accent1"/>
                </a:solidFill>
                <a:latin typeface="Century Gothic" panose="020B0502020202020204" pitchFamily="34" charset="0"/>
              </a:rPr>
              <a:t>Ca</a:t>
            </a:r>
            <a:r>
              <a:rPr lang="en-GB" sz="2400" b="1" baseline="30000" dirty="0">
                <a:solidFill>
                  <a:schemeClr val="accent1"/>
                </a:solidFill>
                <a:latin typeface="Century Gothic" panose="020B0502020202020204" pitchFamily="34" charset="0"/>
              </a:rPr>
              <a:t>2+</a:t>
            </a:r>
            <a:r>
              <a:rPr lang="en-GB" sz="2400" b="1" dirty="0">
                <a:solidFill>
                  <a:schemeClr val="accent1"/>
                </a:solidFill>
                <a:latin typeface="Century Gothic" panose="020B0502020202020204" pitchFamily="34" charset="0"/>
              </a:rPr>
              <a:t> and 2 OH</a:t>
            </a:r>
            <a:r>
              <a:rPr lang="en-GB" sz="3200" b="1" baseline="30000" dirty="0">
                <a:solidFill>
                  <a:schemeClr val="accent1"/>
                </a:solidFill>
                <a:latin typeface="Century Gothic" panose="020B0502020202020204" pitchFamily="34" charset="0"/>
              </a:rPr>
              <a:t>-</a:t>
            </a:r>
            <a:endParaRPr lang="en-GB" sz="2400" b="1" baseline="30000" dirty="0">
              <a:solidFill>
                <a:schemeClr val="accent1"/>
              </a:solidFill>
              <a:latin typeface="Century Gothic" panose="020B0502020202020204" pitchFamily="34" charset="0"/>
            </a:endParaRPr>
          </a:p>
        </p:txBody>
      </p:sp>
      <p:sp>
        <p:nvSpPr>
          <p:cNvPr id="21" name="TextBox 20">
            <a:extLst>
              <a:ext uri="{FF2B5EF4-FFF2-40B4-BE49-F238E27FC236}">
                <a16:creationId xmlns:a16="http://schemas.microsoft.com/office/drawing/2014/main" id="{73C020E6-C988-5F2D-CFD9-D263DFA507E0}"/>
              </a:ext>
            </a:extLst>
          </p:cNvPr>
          <p:cNvSpPr txBox="1"/>
          <p:nvPr/>
        </p:nvSpPr>
        <p:spPr>
          <a:xfrm>
            <a:off x="4781306" y="6289242"/>
            <a:ext cx="2629388" cy="461665"/>
          </a:xfrm>
          <a:prstGeom prst="rect">
            <a:avLst/>
          </a:prstGeom>
          <a:noFill/>
        </p:spPr>
        <p:txBody>
          <a:bodyPr wrap="square" rtlCol="0">
            <a:spAutoFit/>
          </a:bodyPr>
          <a:lstStyle/>
          <a:p>
            <a:r>
              <a:rPr lang="en-GB" sz="2400" b="1" dirty="0">
                <a:solidFill>
                  <a:schemeClr val="accent1"/>
                </a:solidFill>
                <a:latin typeface="Century Gothic" panose="020B0502020202020204" pitchFamily="34" charset="0"/>
              </a:rPr>
              <a:t>Al</a:t>
            </a:r>
            <a:r>
              <a:rPr lang="en-GB" sz="2400" b="1" baseline="30000" dirty="0">
                <a:solidFill>
                  <a:schemeClr val="accent1"/>
                </a:solidFill>
                <a:latin typeface="Century Gothic" panose="020B0502020202020204" pitchFamily="34" charset="0"/>
              </a:rPr>
              <a:t>3+</a:t>
            </a:r>
            <a:r>
              <a:rPr lang="en-GB" sz="2400" b="1" dirty="0">
                <a:solidFill>
                  <a:schemeClr val="accent1"/>
                </a:solidFill>
                <a:latin typeface="Century Gothic" panose="020B0502020202020204" pitchFamily="34" charset="0"/>
              </a:rPr>
              <a:t> and 3 OH</a:t>
            </a:r>
            <a:r>
              <a:rPr lang="en-GB" sz="3200" b="1" baseline="30000" dirty="0">
                <a:solidFill>
                  <a:schemeClr val="accent1"/>
                </a:solidFill>
                <a:latin typeface="Century Gothic" panose="020B0502020202020204" pitchFamily="34" charset="0"/>
              </a:rPr>
              <a:t>-</a:t>
            </a:r>
            <a:endParaRPr lang="en-GB" sz="2400" b="1" baseline="30000" dirty="0">
              <a:solidFill>
                <a:schemeClr val="accent1"/>
              </a:solidFill>
              <a:latin typeface="Century Gothic" panose="020B0502020202020204" pitchFamily="34" charset="0"/>
            </a:endParaRPr>
          </a:p>
        </p:txBody>
      </p:sp>
    </p:spTree>
    <p:extLst>
      <p:ext uri="{BB962C8B-B14F-4D97-AF65-F5344CB8AC3E}">
        <p14:creationId xmlns:p14="http://schemas.microsoft.com/office/powerpoint/2010/main" val="2026821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500"/>
                                        <p:tgtEl>
                                          <p:spTgt spid="16"/>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500"/>
                                        <p:tgtEl>
                                          <p:spTgt spid="17"/>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fade">
                                      <p:cBhvr>
                                        <p:cTn id="42" dur="500"/>
                                        <p:tgtEl>
                                          <p:spTgt spid="18"/>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50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fade">
                                      <p:cBhvr>
                                        <p:cTn id="52" dur="500"/>
                                        <p:tgtEl>
                                          <p:spTgt spid="20"/>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21"/>
                                        </p:tgtEl>
                                        <p:attrNameLst>
                                          <p:attrName>style.visibility</p:attrName>
                                        </p:attrNameLst>
                                      </p:cBhvr>
                                      <p:to>
                                        <p:strVal val="visible"/>
                                      </p:to>
                                    </p:set>
                                    <p:animEffect transition="in" filter="fade">
                                      <p:cBhvr>
                                        <p:cTn id="5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9" grpId="0" animBg="1"/>
      <p:bldP spid="13" grpId="0"/>
      <p:bldP spid="14" grpId="0"/>
      <p:bldP spid="15" grpId="0"/>
      <p:bldP spid="16" grpId="0"/>
      <p:bldP spid="17" grpId="0"/>
      <p:bldP spid="18" grpId="0"/>
      <p:bldP spid="19" grpId="0"/>
      <p:bldP spid="20" grpId="0"/>
      <p:bldP spid="21" grpId="0"/>
    </p:bldLst>
  </p:timing>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7" name="Picture 26">
            <a:extLst>
              <a:ext uri="{FF2B5EF4-FFF2-40B4-BE49-F238E27FC236}">
                <a16:creationId xmlns:a16="http://schemas.microsoft.com/office/drawing/2014/main" id="{4CBD07AA-BF57-0F3F-31D9-A3A71017E4C2}"/>
              </a:ext>
            </a:extLst>
          </p:cNvPr>
          <p:cNvPicPr>
            <a:picLocks noChangeAspect="1"/>
          </p:cNvPicPr>
          <p:nvPr/>
        </p:nvPicPr>
        <p:blipFill>
          <a:blip r:embed="rId3"/>
          <a:stretch>
            <a:fillRect/>
          </a:stretch>
        </p:blipFill>
        <p:spPr>
          <a:xfrm>
            <a:off x="540000" y="861001"/>
            <a:ext cx="10431862" cy="5586293"/>
          </a:xfrm>
          <a:prstGeom prst="rect">
            <a:avLst/>
          </a:prstGeom>
        </p:spPr>
      </p:pic>
      <p:sp>
        <p:nvSpPr>
          <p:cNvPr id="2" name="Title 1">
            <a:extLst>
              <a:ext uri="{FF2B5EF4-FFF2-40B4-BE49-F238E27FC236}">
                <a16:creationId xmlns:a16="http://schemas.microsoft.com/office/drawing/2014/main" id="{E494B74C-D6E9-8C47-B64D-4A7EA3FB90D0}"/>
              </a:ext>
            </a:extLst>
          </p:cNvPr>
          <p:cNvSpPr>
            <a:spLocks noGrp="1"/>
          </p:cNvSpPr>
          <p:nvPr>
            <p:ph type="title"/>
          </p:nvPr>
        </p:nvSpPr>
        <p:spPr/>
        <p:txBody>
          <a:bodyPr/>
          <a:lstStyle/>
          <a:p>
            <a:r>
              <a:rPr lang="en-US" dirty="0">
                <a:latin typeface="Century Gothic" panose="020B0502020202020204" pitchFamily="34" charset="0"/>
              </a:rPr>
              <a:t>Answers – Section A</a:t>
            </a:r>
          </a:p>
        </p:txBody>
      </p:sp>
      <p:sp>
        <p:nvSpPr>
          <p:cNvPr id="7" name="TextBox 6">
            <a:extLst>
              <a:ext uri="{FF2B5EF4-FFF2-40B4-BE49-F238E27FC236}">
                <a16:creationId xmlns:a16="http://schemas.microsoft.com/office/drawing/2014/main" id="{009845C4-D641-60BB-B6A0-FCF0604E2C74}"/>
              </a:ext>
            </a:extLst>
          </p:cNvPr>
          <p:cNvSpPr txBox="1"/>
          <p:nvPr/>
        </p:nvSpPr>
        <p:spPr>
          <a:xfrm>
            <a:off x="5377912" y="1942899"/>
            <a:ext cx="1786782" cy="461665"/>
          </a:xfrm>
          <a:prstGeom prst="rect">
            <a:avLst/>
          </a:prstGeom>
          <a:noFill/>
        </p:spPr>
        <p:txBody>
          <a:bodyPr wrap="square" rtlCol="0">
            <a:spAutoFit/>
          </a:bodyPr>
          <a:lstStyle/>
          <a:p>
            <a:r>
              <a:rPr lang="en-GB" sz="2400" b="1" dirty="0">
                <a:solidFill>
                  <a:schemeClr val="accent1"/>
                </a:solidFill>
                <a:latin typeface="Century Gothic" panose="020B0502020202020204" pitchFamily="34" charset="0"/>
              </a:rPr>
              <a:t>Lose</a:t>
            </a:r>
            <a:endParaRPr lang="en-GB" sz="2400" b="1" baseline="30000" dirty="0">
              <a:solidFill>
                <a:schemeClr val="accent1"/>
              </a:solidFill>
              <a:latin typeface="Century Gothic" panose="020B0502020202020204" pitchFamily="34" charset="0"/>
            </a:endParaRPr>
          </a:p>
        </p:txBody>
      </p:sp>
      <p:sp>
        <p:nvSpPr>
          <p:cNvPr id="9" name="TextBox 8">
            <a:extLst>
              <a:ext uri="{FF2B5EF4-FFF2-40B4-BE49-F238E27FC236}">
                <a16:creationId xmlns:a16="http://schemas.microsoft.com/office/drawing/2014/main" id="{92B850D3-3DA6-144E-0D89-0908269C9A56}"/>
              </a:ext>
            </a:extLst>
          </p:cNvPr>
          <p:cNvSpPr txBox="1"/>
          <p:nvPr/>
        </p:nvSpPr>
        <p:spPr>
          <a:xfrm>
            <a:off x="9177595" y="1942899"/>
            <a:ext cx="586337" cy="461665"/>
          </a:xfrm>
          <a:prstGeom prst="rect">
            <a:avLst/>
          </a:prstGeom>
          <a:noFill/>
        </p:spPr>
        <p:txBody>
          <a:bodyPr wrap="square" rtlCol="0">
            <a:spAutoFit/>
          </a:bodyPr>
          <a:lstStyle/>
          <a:p>
            <a:r>
              <a:rPr lang="en-GB" sz="2400" b="1" dirty="0">
                <a:solidFill>
                  <a:schemeClr val="accent1"/>
                </a:solidFill>
                <a:latin typeface="Century Gothic" panose="020B0502020202020204" pitchFamily="34" charset="0"/>
              </a:rPr>
              <a:t>1</a:t>
            </a:r>
            <a:endParaRPr lang="en-GB" sz="2400" b="1" baseline="30000" dirty="0">
              <a:solidFill>
                <a:schemeClr val="accent1"/>
              </a:solidFill>
              <a:latin typeface="Century Gothic" panose="020B0502020202020204" pitchFamily="34" charset="0"/>
            </a:endParaRPr>
          </a:p>
        </p:txBody>
      </p:sp>
      <p:sp>
        <p:nvSpPr>
          <p:cNvPr id="10" name="TextBox 9">
            <a:extLst>
              <a:ext uri="{FF2B5EF4-FFF2-40B4-BE49-F238E27FC236}">
                <a16:creationId xmlns:a16="http://schemas.microsoft.com/office/drawing/2014/main" id="{8B785B2C-8AF3-ABBC-7151-19A337516794}"/>
              </a:ext>
            </a:extLst>
          </p:cNvPr>
          <p:cNvSpPr txBox="1"/>
          <p:nvPr/>
        </p:nvSpPr>
        <p:spPr>
          <a:xfrm>
            <a:off x="5377912" y="2484097"/>
            <a:ext cx="1786782" cy="461665"/>
          </a:xfrm>
          <a:prstGeom prst="rect">
            <a:avLst/>
          </a:prstGeom>
          <a:noFill/>
        </p:spPr>
        <p:txBody>
          <a:bodyPr wrap="square" rtlCol="0">
            <a:spAutoFit/>
          </a:bodyPr>
          <a:lstStyle/>
          <a:p>
            <a:r>
              <a:rPr lang="en-GB" sz="2400" b="1" dirty="0">
                <a:solidFill>
                  <a:schemeClr val="accent1"/>
                </a:solidFill>
                <a:latin typeface="Century Gothic" panose="020B0502020202020204" pitchFamily="34" charset="0"/>
              </a:rPr>
              <a:t>Gain</a:t>
            </a:r>
            <a:endParaRPr lang="en-GB" sz="2400" b="1" baseline="30000" dirty="0">
              <a:solidFill>
                <a:schemeClr val="accent1"/>
              </a:solidFill>
              <a:latin typeface="Century Gothic" panose="020B0502020202020204" pitchFamily="34" charset="0"/>
            </a:endParaRPr>
          </a:p>
        </p:txBody>
      </p:sp>
      <p:sp>
        <p:nvSpPr>
          <p:cNvPr id="13" name="TextBox 12">
            <a:extLst>
              <a:ext uri="{FF2B5EF4-FFF2-40B4-BE49-F238E27FC236}">
                <a16:creationId xmlns:a16="http://schemas.microsoft.com/office/drawing/2014/main" id="{5249F9B5-B97D-CD4A-C600-CE1AE7E0597E}"/>
              </a:ext>
            </a:extLst>
          </p:cNvPr>
          <p:cNvSpPr txBox="1"/>
          <p:nvPr/>
        </p:nvSpPr>
        <p:spPr>
          <a:xfrm>
            <a:off x="9177594" y="2420062"/>
            <a:ext cx="586337" cy="461665"/>
          </a:xfrm>
          <a:prstGeom prst="rect">
            <a:avLst/>
          </a:prstGeom>
          <a:noFill/>
        </p:spPr>
        <p:txBody>
          <a:bodyPr wrap="square" rtlCol="0">
            <a:spAutoFit/>
          </a:bodyPr>
          <a:lstStyle/>
          <a:p>
            <a:r>
              <a:rPr lang="en-GB" sz="2400" b="1" dirty="0">
                <a:solidFill>
                  <a:schemeClr val="accent1"/>
                </a:solidFill>
                <a:latin typeface="Century Gothic" panose="020B0502020202020204" pitchFamily="34" charset="0"/>
              </a:rPr>
              <a:t>1</a:t>
            </a:r>
            <a:endParaRPr lang="en-GB" sz="2400" b="1" baseline="30000" dirty="0">
              <a:solidFill>
                <a:schemeClr val="accent1"/>
              </a:solidFill>
              <a:latin typeface="Century Gothic" panose="020B0502020202020204" pitchFamily="34" charset="0"/>
            </a:endParaRPr>
          </a:p>
        </p:txBody>
      </p:sp>
      <p:sp>
        <p:nvSpPr>
          <p:cNvPr id="14" name="TextBox 13">
            <a:extLst>
              <a:ext uri="{FF2B5EF4-FFF2-40B4-BE49-F238E27FC236}">
                <a16:creationId xmlns:a16="http://schemas.microsoft.com/office/drawing/2014/main" id="{E73053C2-060D-A07E-11D2-CFD2CE0E27D4}"/>
              </a:ext>
            </a:extLst>
          </p:cNvPr>
          <p:cNvSpPr txBox="1"/>
          <p:nvPr/>
        </p:nvSpPr>
        <p:spPr>
          <a:xfrm>
            <a:off x="5377912" y="2971210"/>
            <a:ext cx="1786782" cy="461665"/>
          </a:xfrm>
          <a:prstGeom prst="rect">
            <a:avLst/>
          </a:prstGeom>
          <a:noFill/>
        </p:spPr>
        <p:txBody>
          <a:bodyPr wrap="square" rtlCol="0">
            <a:spAutoFit/>
          </a:bodyPr>
          <a:lstStyle/>
          <a:p>
            <a:r>
              <a:rPr lang="en-GB" sz="2400" b="1" dirty="0">
                <a:solidFill>
                  <a:schemeClr val="accent1"/>
                </a:solidFill>
                <a:latin typeface="Century Gothic" panose="020B0502020202020204" pitchFamily="34" charset="0"/>
              </a:rPr>
              <a:t>Gain</a:t>
            </a:r>
            <a:endParaRPr lang="en-GB" sz="2400" b="1" baseline="30000" dirty="0">
              <a:solidFill>
                <a:schemeClr val="accent1"/>
              </a:solidFill>
              <a:latin typeface="Century Gothic" panose="020B0502020202020204" pitchFamily="34" charset="0"/>
            </a:endParaRPr>
          </a:p>
        </p:txBody>
      </p:sp>
      <p:sp>
        <p:nvSpPr>
          <p:cNvPr id="15" name="TextBox 14">
            <a:extLst>
              <a:ext uri="{FF2B5EF4-FFF2-40B4-BE49-F238E27FC236}">
                <a16:creationId xmlns:a16="http://schemas.microsoft.com/office/drawing/2014/main" id="{0B36824C-951E-7C0B-64D6-0FF1424BC4B0}"/>
              </a:ext>
            </a:extLst>
          </p:cNvPr>
          <p:cNvSpPr txBox="1"/>
          <p:nvPr/>
        </p:nvSpPr>
        <p:spPr>
          <a:xfrm>
            <a:off x="9177594" y="2945762"/>
            <a:ext cx="586337" cy="461665"/>
          </a:xfrm>
          <a:prstGeom prst="rect">
            <a:avLst/>
          </a:prstGeom>
          <a:noFill/>
        </p:spPr>
        <p:txBody>
          <a:bodyPr wrap="square" rtlCol="0">
            <a:spAutoFit/>
          </a:bodyPr>
          <a:lstStyle/>
          <a:p>
            <a:r>
              <a:rPr lang="en-GB" sz="2400" b="1" dirty="0">
                <a:solidFill>
                  <a:schemeClr val="accent1"/>
                </a:solidFill>
                <a:latin typeface="Century Gothic" panose="020B0502020202020204" pitchFamily="34" charset="0"/>
              </a:rPr>
              <a:t>2</a:t>
            </a:r>
            <a:endParaRPr lang="en-GB" sz="2400" b="1" baseline="30000" dirty="0">
              <a:solidFill>
                <a:schemeClr val="accent1"/>
              </a:solidFill>
              <a:latin typeface="Century Gothic" panose="020B0502020202020204" pitchFamily="34" charset="0"/>
            </a:endParaRPr>
          </a:p>
        </p:txBody>
      </p:sp>
      <p:sp>
        <p:nvSpPr>
          <p:cNvPr id="16" name="TextBox 15">
            <a:extLst>
              <a:ext uri="{FF2B5EF4-FFF2-40B4-BE49-F238E27FC236}">
                <a16:creationId xmlns:a16="http://schemas.microsoft.com/office/drawing/2014/main" id="{7E741174-A4AD-0680-FC02-265D8AE652BE}"/>
              </a:ext>
            </a:extLst>
          </p:cNvPr>
          <p:cNvSpPr txBox="1"/>
          <p:nvPr/>
        </p:nvSpPr>
        <p:spPr>
          <a:xfrm>
            <a:off x="5377912" y="3468761"/>
            <a:ext cx="1786782" cy="461665"/>
          </a:xfrm>
          <a:prstGeom prst="rect">
            <a:avLst/>
          </a:prstGeom>
          <a:noFill/>
        </p:spPr>
        <p:txBody>
          <a:bodyPr wrap="square" rtlCol="0">
            <a:spAutoFit/>
          </a:bodyPr>
          <a:lstStyle/>
          <a:p>
            <a:r>
              <a:rPr lang="en-GB" sz="2400" b="1" dirty="0">
                <a:solidFill>
                  <a:schemeClr val="accent1"/>
                </a:solidFill>
                <a:latin typeface="Century Gothic" panose="020B0502020202020204" pitchFamily="34" charset="0"/>
              </a:rPr>
              <a:t>Lose</a:t>
            </a:r>
            <a:endParaRPr lang="en-GB" sz="2400" b="1" baseline="30000" dirty="0">
              <a:solidFill>
                <a:schemeClr val="accent1"/>
              </a:solidFill>
              <a:latin typeface="Century Gothic" panose="020B0502020202020204" pitchFamily="34" charset="0"/>
            </a:endParaRPr>
          </a:p>
        </p:txBody>
      </p:sp>
      <p:sp>
        <p:nvSpPr>
          <p:cNvPr id="17" name="TextBox 16">
            <a:extLst>
              <a:ext uri="{FF2B5EF4-FFF2-40B4-BE49-F238E27FC236}">
                <a16:creationId xmlns:a16="http://schemas.microsoft.com/office/drawing/2014/main" id="{71645768-3753-4DAB-A8D7-CCA9036A2502}"/>
              </a:ext>
            </a:extLst>
          </p:cNvPr>
          <p:cNvSpPr txBox="1"/>
          <p:nvPr/>
        </p:nvSpPr>
        <p:spPr>
          <a:xfrm>
            <a:off x="9177593" y="3454180"/>
            <a:ext cx="586337" cy="461665"/>
          </a:xfrm>
          <a:prstGeom prst="rect">
            <a:avLst/>
          </a:prstGeom>
          <a:noFill/>
        </p:spPr>
        <p:txBody>
          <a:bodyPr wrap="square" rtlCol="0">
            <a:spAutoFit/>
          </a:bodyPr>
          <a:lstStyle/>
          <a:p>
            <a:r>
              <a:rPr lang="en-GB" sz="2400" b="1" dirty="0">
                <a:solidFill>
                  <a:schemeClr val="accent1"/>
                </a:solidFill>
                <a:latin typeface="Century Gothic" panose="020B0502020202020204" pitchFamily="34" charset="0"/>
              </a:rPr>
              <a:t>2</a:t>
            </a:r>
            <a:endParaRPr lang="en-GB" sz="2400" b="1" baseline="30000" dirty="0">
              <a:solidFill>
                <a:schemeClr val="accent1"/>
              </a:solidFill>
              <a:latin typeface="Century Gothic" panose="020B0502020202020204" pitchFamily="34" charset="0"/>
            </a:endParaRPr>
          </a:p>
        </p:txBody>
      </p:sp>
      <p:sp>
        <p:nvSpPr>
          <p:cNvPr id="20" name="TextBox 19">
            <a:extLst>
              <a:ext uri="{FF2B5EF4-FFF2-40B4-BE49-F238E27FC236}">
                <a16:creationId xmlns:a16="http://schemas.microsoft.com/office/drawing/2014/main" id="{DA019D6D-2906-98E3-86B9-EB1F05ECF870}"/>
              </a:ext>
            </a:extLst>
          </p:cNvPr>
          <p:cNvSpPr txBox="1"/>
          <p:nvPr/>
        </p:nvSpPr>
        <p:spPr>
          <a:xfrm>
            <a:off x="5377912" y="3986020"/>
            <a:ext cx="1786782" cy="461665"/>
          </a:xfrm>
          <a:prstGeom prst="rect">
            <a:avLst/>
          </a:prstGeom>
          <a:noFill/>
        </p:spPr>
        <p:txBody>
          <a:bodyPr wrap="square" rtlCol="0">
            <a:spAutoFit/>
          </a:bodyPr>
          <a:lstStyle/>
          <a:p>
            <a:r>
              <a:rPr lang="en-GB" sz="2400" b="1" dirty="0">
                <a:solidFill>
                  <a:schemeClr val="accent1"/>
                </a:solidFill>
                <a:latin typeface="Century Gothic" panose="020B0502020202020204" pitchFamily="34" charset="0"/>
              </a:rPr>
              <a:t>Lose</a:t>
            </a:r>
            <a:endParaRPr lang="en-GB" sz="2400" b="1" baseline="30000" dirty="0">
              <a:solidFill>
                <a:schemeClr val="accent1"/>
              </a:solidFill>
              <a:latin typeface="Century Gothic" panose="020B0502020202020204" pitchFamily="34" charset="0"/>
            </a:endParaRPr>
          </a:p>
        </p:txBody>
      </p:sp>
      <p:sp>
        <p:nvSpPr>
          <p:cNvPr id="21" name="TextBox 20">
            <a:extLst>
              <a:ext uri="{FF2B5EF4-FFF2-40B4-BE49-F238E27FC236}">
                <a16:creationId xmlns:a16="http://schemas.microsoft.com/office/drawing/2014/main" id="{9BB87F61-C76E-6690-94CF-B0601E968F61}"/>
              </a:ext>
            </a:extLst>
          </p:cNvPr>
          <p:cNvSpPr txBox="1"/>
          <p:nvPr/>
        </p:nvSpPr>
        <p:spPr>
          <a:xfrm>
            <a:off x="9177593" y="3962598"/>
            <a:ext cx="586337" cy="461665"/>
          </a:xfrm>
          <a:prstGeom prst="rect">
            <a:avLst/>
          </a:prstGeom>
          <a:noFill/>
        </p:spPr>
        <p:txBody>
          <a:bodyPr wrap="square" rtlCol="0">
            <a:spAutoFit/>
          </a:bodyPr>
          <a:lstStyle/>
          <a:p>
            <a:r>
              <a:rPr lang="en-GB" sz="2400" b="1" dirty="0">
                <a:solidFill>
                  <a:schemeClr val="accent1"/>
                </a:solidFill>
                <a:latin typeface="Century Gothic" panose="020B0502020202020204" pitchFamily="34" charset="0"/>
              </a:rPr>
              <a:t>2</a:t>
            </a:r>
            <a:endParaRPr lang="en-GB" sz="2400" b="1" baseline="30000" dirty="0">
              <a:solidFill>
                <a:schemeClr val="accent1"/>
              </a:solidFill>
              <a:latin typeface="Century Gothic" panose="020B0502020202020204" pitchFamily="34" charset="0"/>
            </a:endParaRPr>
          </a:p>
        </p:txBody>
      </p:sp>
      <p:sp>
        <p:nvSpPr>
          <p:cNvPr id="22" name="TextBox 21">
            <a:extLst>
              <a:ext uri="{FF2B5EF4-FFF2-40B4-BE49-F238E27FC236}">
                <a16:creationId xmlns:a16="http://schemas.microsoft.com/office/drawing/2014/main" id="{3AEC75E6-99EB-AA66-AC0D-2A7765146E33}"/>
              </a:ext>
            </a:extLst>
          </p:cNvPr>
          <p:cNvSpPr txBox="1"/>
          <p:nvPr/>
        </p:nvSpPr>
        <p:spPr>
          <a:xfrm>
            <a:off x="5377912" y="4450055"/>
            <a:ext cx="1786782" cy="461665"/>
          </a:xfrm>
          <a:prstGeom prst="rect">
            <a:avLst/>
          </a:prstGeom>
          <a:noFill/>
        </p:spPr>
        <p:txBody>
          <a:bodyPr wrap="square" rtlCol="0">
            <a:spAutoFit/>
          </a:bodyPr>
          <a:lstStyle/>
          <a:p>
            <a:r>
              <a:rPr lang="en-GB" sz="2400" b="1" dirty="0">
                <a:solidFill>
                  <a:schemeClr val="accent1"/>
                </a:solidFill>
                <a:latin typeface="Century Gothic" panose="020B0502020202020204" pitchFamily="34" charset="0"/>
              </a:rPr>
              <a:t>Lose</a:t>
            </a:r>
            <a:endParaRPr lang="en-GB" sz="2400" b="1" baseline="30000" dirty="0">
              <a:solidFill>
                <a:schemeClr val="accent1"/>
              </a:solidFill>
              <a:latin typeface="Century Gothic" panose="020B0502020202020204" pitchFamily="34" charset="0"/>
            </a:endParaRPr>
          </a:p>
        </p:txBody>
      </p:sp>
      <p:sp>
        <p:nvSpPr>
          <p:cNvPr id="23" name="TextBox 22">
            <a:extLst>
              <a:ext uri="{FF2B5EF4-FFF2-40B4-BE49-F238E27FC236}">
                <a16:creationId xmlns:a16="http://schemas.microsoft.com/office/drawing/2014/main" id="{AB919DFC-DB87-1046-CF6D-0186F0B52CBD}"/>
              </a:ext>
            </a:extLst>
          </p:cNvPr>
          <p:cNvSpPr txBox="1"/>
          <p:nvPr/>
        </p:nvSpPr>
        <p:spPr>
          <a:xfrm>
            <a:off x="9177592" y="4457043"/>
            <a:ext cx="586337" cy="461665"/>
          </a:xfrm>
          <a:prstGeom prst="rect">
            <a:avLst/>
          </a:prstGeom>
          <a:noFill/>
        </p:spPr>
        <p:txBody>
          <a:bodyPr wrap="square" rtlCol="0">
            <a:spAutoFit/>
          </a:bodyPr>
          <a:lstStyle/>
          <a:p>
            <a:r>
              <a:rPr lang="en-GB" sz="2400" b="1" dirty="0">
                <a:solidFill>
                  <a:schemeClr val="accent1"/>
                </a:solidFill>
                <a:latin typeface="Century Gothic" panose="020B0502020202020204" pitchFamily="34" charset="0"/>
              </a:rPr>
              <a:t>2</a:t>
            </a:r>
            <a:endParaRPr lang="en-GB" sz="2400" b="1" baseline="30000" dirty="0">
              <a:solidFill>
                <a:schemeClr val="accent1"/>
              </a:solidFill>
              <a:latin typeface="Century Gothic" panose="020B0502020202020204" pitchFamily="34" charset="0"/>
            </a:endParaRPr>
          </a:p>
        </p:txBody>
      </p:sp>
      <p:sp>
        <p:nvSpPr>
          <p:cNvPr id="24" name="TextBox 23">
            <a:extLst>
              <a:ext uri="{FF2B5EF4-FFF2-40B4-BE49-F238E27FC236}">
                <a16:creationId xmlns:a16="http://schemas.microsoft.com/office/drawing/2014/main" id="{85879004-2737-EE4B-F271-AB3FC1F908A3}"/>
              </a:ext>
            </a:extLst>
          </p:cNvPr>
          <p:cNvSpPr txBox="1"/>
          <p:nvPr/>
        </p:nvSpPr>
        <p:spPr>
          <a:xfrm>
            <a:off x="2032870" y="4906164"/>
            <a:ext cx="790401" cy="461665"/>
          </a:xfrm>
          <a:prstGeom prst="rect">
            <a:avLst/>
          </a:prstGeom>
          <a:noFill/>
        </p:spPr>
        <p:txBody>
          <a:bodyPr wrap="square" rtlCol="0">
            <a:spAutoFit/>
          </a:bodyPr>
          <a:lstStyle/>
          <a:p>
            <a:r>
              <a:rPr lang="en-GB" sz="2400" b="1" dirty="0">
                <a:solidFill>
                  <a:schemeClr val="accent1"/>
                </a:solidFill>
                <a:latin typeface="Century Gothic" panose="020B0502020202020204" pitchFamily="34" charset="0"/>
              </a:rPr>
              <a:t>S</a:t>
            </a:r>
            <a:r>
              <a:rPr lang="en-GB" sz="2400" b="1" baseline="-25000" dirty="0">
                <a:solidFill>
                  <a:schemeClr val="accent1"/>
                </a:solidFill>
                <a:latin typeface="Century Gothic" panose="020B0502020202020204" pitchFamily="34" charset="0"/>
              </a:rPr>
              <a:t>(s)</a:t>
            </a:r>
          </a:p>
        </p:txBody>
      </p:sp>
      <p:sp>
        <p:nvSpPr>
          <p:cNvPr id="25" name="TextBox 24">
            <a:extLst>
              <a:ext uri="{FF2B5EF4-FFF2-40B4-BE49-F238E27FC236}">
                <a16:creationId xmlns:a16="http://schemas.microsoft.com/office/drawing/2014/main" id="{9FAD05CA-16A1-6A14-78AC-6183A2FF530B}"/>
              </a:ext>
            </a:extLst>
          </p:cNvPr>
          <p:cNvSpPr txBox="1"/>
          <p:nvPr/>
        </p:nvSpPr>
        <p:spPr>
          <a:xfrm>
            <a:off x="586495" y="5367829"/>
            <a:ext cx="1446376" cy="461665"/>
          </a:xfrm>
          <a:prstGeom prst="rect">
            <a:avLst/>
          </a:prstGeom>
          <a:noFill/>
        </p:spPr>
        <p:txBody>
          <a:bodyPr wrap="square" rtlCol="0">
            <a:spAutoFit/>
          </a:bodyPr>
          <a:lstStyle/>
          <a:p>
            <a:r>
              <a:rPr lang="en-GB" sz="2400" b="1">
                <a:solidFill>
                  <a:schemeClr val="accent1"/>
                </a:solidFill>
                <a:latin typeface="Century Gothic" panose="020B0502020202020204" pitchFamily="34" charset="0"/>
              </a:rPr>
              <a:t>Mg</a:t>
            </a:r>
            <a:r>
              <a:rPr lang="en-GB" sz="2400" b="1" baseline="30000">
                <a:solidFill>
                  <a:schemeClr val="accent1"/>
                </a:solidFill>
                <a:latin typeface="Century Gothic" panose="020B0502020202020204" pitchFamily="34" charset="0"/>
              </a:rPr>
              <a:t>2+</a:t>
            </a:r>
            <a:r>
              <a:rPr lang="en-GB" sz="2400" b="1" baseline="-25000">
                <a:solidFill>
                  <a:schemeClr val="accent1"/>
                </a:solidFill>
                <a:latin typeface="Century Gothic" panose="020B0502020202020204" pitchFamily="34" charset="0"/>
              </a:rPr>
              <a:t>(</a:t>
            </a:r>
            <a:r>
              <a:rPr lang="en-GB" sz="2400" b="1" baseline="-25000" dirty="0">
                <a:solidFill>
                  <a:schemeClr val="accent1"/>
                </a:solidFill>
                <a:latin typeface="Century Gothic" panose="020B0502020202020204" pitchFamily="34" charset="0"/>
              </a:rPr>
              <a:t>aq)</a:t>
            </a:r>
          </a:p>
        </p:txBody>
      </p:sp>
      <p:sp>
        <p:nvSpPr>
          <p:cNvPr id="28" name="TextBox 27">
            <a:extLst>
              <a:ext uri="{FF2B5EF4-FFF2-40B4-BE49-F238E27FC236}">
                <a16:creationId xmlns:a16="http://schemas.microsoft.com/office/drawing/2014/main" id="{2F8507D7-A3AC-3C49-F39A-AA8349FB4114}"/>
              </a:ext>
            </a:extLst>
          </p:cNvPr>
          <p:cNvSpPr txBox="1"/>
          <p:nvPr/>
        </p:nvSpPr>
        <p:spPr>
          <a:xfrm>
            <a:off x="2032869" y="5829494"/>
            <a:ext cx="790401" cy="461665"/>
          </a:xfrm>
          <a:prstGeom prst="rect">
            <a:avLst/>
          </a:prstGeom>
          <a:noFill/>
        </p:spPr>
        <p:txBody>
          <a:bodyPr wrap="square" rtlCol="0">
            <a:spAutoFit/>
          </a:bodyPr>
          <a:lstStyle/>
          <a:p>
            <a:r>
              <a:rPr lang="en-GB" sz="2400" b="1" dirty="0">
                <a:solidFill>
                  <a:schemeClr val="accent1"/>
                </a:solidFill>
                <a:latin typeface="Century Gothic" panose="020B0502020202020204" pitchFamily="34" charset="0"/>
              </a:rPr>
              <a:t>Al</a:t>
            </a:r>
            <a:r>
              <a:rPr lang="en-GB" sz="2400" b="1" baseline="-25000" dirty="0">
                <a:solidFill>
                  <a:schemeClr val="accent1"/>
                </a:solidFill>
                <a:latin typeface="Century Gothic" panose="020B0502020202020204" pitchFamily="34" charset="0"/>
              </a:rPr>
              <a:t>(s)</a:t>
            </a:r>
          </a:p>
        </p:txBody>
      </p:sp>
      <p:sp>
        <p:nvSpPr>
          <p:cNvPr id="29" name="TextBox 28">
            <a:extLst>
              <a:ext uri="{FF2B5EF4-FFF2-40B4-BE49-F238E27FC236}">
                <a16:creationId xmlns:a16="http://schemas.microsoft.com/office/drawing/2014/main" id="{874CD31A-908D-9617-A050-2FB1BF8BF231}"/>
              </a:ext>
            </a:extLst>
          </p:cNvPr>
          <p:cNvSpPr txBox="1"/>
          <p:nvPr/>
        </p:nvSpPr>
        <p:spPr>
          <a:xfrm>
            <a:off x="9224089" y="5844992"/>
            <a:ext cx="586337" cy="461665"/>
          </a:xfrm>
          <a:prstGeom prst="rect">
            <a:avLst/>
          </a:prstGeom>
          <a:noFill/>
        </p:spPr>
        <p:txBody>
          <a:bodyPr wrap="square" rtlCol="0">
            <a:spAutoFit/>
          </a:bodyPr>
          <a:lstStyle/>
          <a:p>
            <a:r>
              <a:rPr lang="en-GB" sz="2400" b="1" dirty="0">
                <a:solidFill>
                  <a:schemeClr val="accent1"/>
                </a:solidFill>
                <a:latin typeface="Century Gothic" panose="020B0502020202020204" pitchFamily="34" charset="0"/>
              </a:rPr>
              <a:t>3</a:t>
            </a:r>
            <a:endParaRPr lang="en-GB" sz="2400" b="1" baseline="30000" dirty="0">
              <a:solidFill>
                <a:schemeClr val="accent1"/>
              </a:solidFill>
              <a:latin typeface="Century Gothic" panose="020B0502020202020204" pitchFamily="34" charset="0"/>
            </a:endParaRPr>
          </a:p>
        </p:txBody>
      </p:sp>
    </p:spTree>
    <p:extLst>
      <p:ext uri="{BB962C8B-B14F-4D97-AF65-F5344CB8AC3E}">
        <p14:creationId xmlns:p14="http://schemas.microsoft.com/office/powerpoint/2010/main" val="1771256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500"/>
                                        <p:tgtEl>
                                          <p:spTgt spid="1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500"/>
                                        <p:tgtEl>
                                          <p:spTgt spid="15"/>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500"/>
                                        <p:tgtEl>
                                          <p:spTgt spid="16"/>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500"/>
                                        <p:tgtEl>
                                          <p:spTgt spid="17"/>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500"/>
                                        <p:tgtEl>
                                          <p:spTgt spid="20"/>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500"/>
                                        <p:tgtEl>
                                          <p:spTgt spid="21"/>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fade">
                                      <p:cBhvr>
                                        <p:cTn id="57" dur="500"/>
                                        <p:tgtEl>
                                          <p:spTgt spid="22"/>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23"/>
                                        </p:tgtEl>
                                        <p:attrNameLst>
                                          <p:attrName>style.visibility</p:attrName>
                                        </p:attrNameLst>
                                      </p:cBhvr>
                                      <p:to>
                                        <p:strVal val="visible"/>
                                      </p:to>
                                    </p:set>
                                    <p:animEffect transition="in" filter="fade">
                                      <p:cBhvr>
                                        <p:cTn id="62" dur="500"/>
                                        <p:tgtEl>
                                          <p:spTgt spid="23"/>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24"/>
                                        </p:tgtEl>
                                        <p:attrNameLst>
                                          <p:attrName>style.visibility</p:attrName>
                                        </p:attrNameLst>
                                      </p:cBhvr>
                                      <p:to>
                                        <p:strVal val="visible"/>
                                      </p:to>
                                    </p:set>
                                    <p:animEffect transition="in" filter="fade">
                                      <p:cBhvr>
                                        <p:cTn id="67" dur="500"/>
                                        <p:tgtEl>
                                          <p:spTgt spid="24"/>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25"/>
                                        </p:tgtEl>
                                        <p:attrNameLst>
                                          <p:attrName>style.visibility</p:attrName>
                                        </p:attrNameLst>
                                      </p:cBhvr>
                                      <p:to>
                                        <p:strVal val="visible"/>
                                      </p:to>
                                    </p:set>
                                    <p:animEffect transition="in" filter="fade">
                                      <p:cBhvr>
                                        <p:cTn id="72" dur="500"/>
                                        <p:tgtEl>
                                          <p:spTgt spid="25"/>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28"/>
                                        </p:tgtEl>
                                        <p:attrNameLst>
                                          <p:attrName>style.visibility</p:attrName>
                                        </p:attrNameLst>
                                      </p:cBhvr>
                                      <p:to>
                                        <p:strVal val="visible"/>
                                      </p:to>
                                    </p:set>
                                    <p:animEffect transition="in" filter="fade">
                                      <p:cBhvr>
                                        <p:cTn id="77" dur="500"/>
                                        <p:tgtEl>
                                          <p:spTgt spid="28"/>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29"/>
                                        </p:tgtEl>
                                        <p:attrNameLst>
                                          <p:attrName>style.visibility</p:attrName>
                                        </p:attrNameLst>
                                      </p:cBhvr>
                                      <p:to>
                                        <p:strVal val="visible"/>
                                      </p:to>
                                    </p:set>
                                    <p:animEffect transition="in" filter="fade">
                                      <p:cBhvr>
                                        <p:cTn id="82"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0" grpId="0"/>
      <p:bldP spid="13" grpId="0"/>
      <p:bldP spid="14" grpId="0"/>
      <p:bldP spid="15" grpId="0"/>
      <p:bldP spid="16" grpId="0"/>
      <p:bldP spid="17" grpId="0"/>
      <p:bldP spid="20" grpId="0"/>
      <p:bldP spid="21" grpId="0"/>
      <p:bldP spid="22" grpId="0"/>
      <p:bldP spid="23" grpId="0"/>
      <p:bldP spid="24" grpId="0"/>
      <p:bldP spid="25" grpId="0"/>
      <p:bldP spid="28" grpId="0"/>
      <p:bldP spid="29" grpId="0"/>
    </p:bldLst>
  </p:timing>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74EE8D04-334D-2431-0027-14E5CCC5EEA7}"/>
              </a:ext>
            </a:extLst>
          </p:cNvPr>
          <p:cNvPicPr>
            <a:picLocks noChangeAspect="1"/>
          </p:cNvPicPr>
          <p:nvPr/>
        </p:nvPicPr>
        <p:blipFill>
          <a:blip r:embed="rId3"/>
          <a:stretch>
            <a:fillRect/>
          </a:stretch>
        </p:blipFill>
        <p:spPr>
          <a:xfrm>
            <a:off x="539999" y="802586"/>
            <a:ext cx="10856959" cy="5443231"/>
          </a:xfrm>
          <a:prstGeom prst="rect">
            <a:avLst/>
          </a:prstGeom>
        </p:spPr>
      </p:pic>
      <p:sp>
        <p:nvSpPr>
          <p:cNvPr id="2" name="Title 1">
            <a:extLst>
              <a:ext uri="{FF2B5EF4-FFF2-40B4-BE49-F238E27FC236}">
                <a16:creationId xmlns:a16="http://schemas.microsoft.com/office/drawing/2014/main" id="{E494B74C-D6E9-8C47-B64D-4A7EA3FB90D0}"/>
              </a:ext>
            </a:extLst>
          </p:cNvPr>
          <p:cNvSpPr>
            <a:spLocks noGrp="1"/>
          </p:cNvSpPr>
          <p:nvPr>
            <p:ph type="title"/>
          </p:nvPr>
        </p:nvSpPr>
        <p:spPr/>
        <p:txBody>
          <a:bodyPr/>
          <a:lstStyle/>
          <a:p>
            <a:r>
              <a:rPr lang="en-US" dirty="0">
                <a:latin typeface="Century Gothic" panose="020B0502020202020204" pitchFamily="34" charset="0"/>
              </a:rPr>
              <a:t>Answers – Section B</a:t>
            </a:r>
          </a:p>
        </p:txBody>
      </p:sp>
      <p:sp>
        <p:nvSpPr>
          <p:cNvPr id="3" name="TextBox 2">
            <a:extLst>
              <a:ext uri="{FF2B5EF4-FFF2-40B4-BE49-F238E27FC236}">
                <a16:creationId xmlns:a16="http://schemas.microsoft.com/office/drawing/2014/main" id="{4C6AE249-7959-C2EA-70DC-79D585E437FB}"/>
              </a:ext>
            </a:extLst>
          </p:cNvPr>
          <p:cNvSpPr txBox="1"/>
          <p:nvPr/>
        </p:nvSpPr>
        <p:spPr>
          <a:xfrm>
            <a:off x="1034000" y="1165064"/>
            <a:ext cx="9954298" cy="707886"/>
          </a:xfrm>
          <a:prstGeom prst="rect">
            <a:avLst/>
          </a:prstGeom>
          <a:solidFill>
            <a:schemeClr val="bg1"/>
          </a:solidFill>
        </p:spPr>
        <p:txBody>
          <a:bodyPr wrap="square" rtlCol="0">
            <a:spAutoFit/>
          </a:bodyPr>
          <a:lstStyle/>
          <a:p>
            <a:r>
              <a:rPr lang="en-GB" sz="2000" b="1" dirty="0">
                <a:solidFill>
                  <a:schemeClr val="accent1"/>
                </a:solidFill>
                <a:latin typeface="Century Gothic" panose="020B0502020202020204" pitchFamily="34" charset="0"/>
              </a:rPr>
              <a:t>Spectator ions are removed in ionic equations but not in chemical equations. Charges on ions are shown in ionic equations but not in chemical equations.</a:t>
            </a:r>
          </a:p>
        </p:txBody>
      </p:sp>
      <p:sp>
        <p:nvSpPr>
          <p:cNvPr id="6" name="TextBox 5">
            <a:extLst>
              <a:ext uri="{FF2B5EF4-FFF2-40B4-BE49-F238E27FC236}">
                <a16:creationId xmlns:a16="http://schemas.microsoft.com/office/drawing/2014/main" id="{E8419F9A-C796-7570-93A9-B75F98182189}"/>
              </a:ext>
            </a:extLst>
          </p:cNvPr>
          <p:cNvSpPr txBox="1"/>
          <p:nvPr/>
        </p:nvSpPr>
        <p:spPr>
          <a:xfrm>
            <a:off x="1018502" y="2460264"/>
            <a:ext cx="9969796" cy="461665"/>
          </a:xfrm>
          <a:prstGeom prst="rect">
            <a:avLst/>
          </a:prstGeom>
          <a:solidFill>
            <a:schemeClr val="bg1"/>
          </a:solidFill>
        </p:spPr>
        <p:txBody>
          <a:bodyPr wrap="square" rtlCol="0">
            <a:spAutoFit/>
          </a:bodyPr>
          <a:lstStyle/>
          <a:p>
            <a:r>
              <a:rPr lang="en-GB" sz="2400" b="1" dirty="0">
                <a:solidFill>
                  <a:schemeClr val="accent1"/>
                </a:solidFill>
                <a:latin typeface="Century Gothic" panose="020B0502020202020204" pitchFamily="34" charset="0"/>
              </a:rPr>
              <a:t>Ions that are the same in the reactants and the products.</a:t>
            </a:r>
          </a:p>
        </p:txBody>
      </p:sp>
      <p:sp>
        <p:nvSpPr>
          <p:cNvPr id="11" name="TextBox 10">
            <a:extLst>
              <a:ext uri="{FF2B5EF4-FFF2-40B4-BE49-F238E27FC236}">
                <a16:creationId xmlns:a16="http://schemas.microsoft.com/office/drawing/2014/main" id="{D3A035C8-D762-16FF-4156-01968412A751}"/>
              </a:ext>
            </a:extLst>
          </p:cNvPr>
          <p:cNvSpPr txBox="1"/>
          <p:nvPr/>
        </p:nvSpPr>
        <p:spPr>
          <a:xfrm>
            <a:off x="2259585" y="4044716"/>
            <a:ext cx="1119043" cy="461665"/>
          </a:xfrm>
          <a:prstGeom prst="rect">
            <a:avLst/>
          </a:prstGeom>
          <a:solidFill>
            <a:schemeClr val="bg1"/>
          </a:solidFill>
        </p:spPr>
        <p:txBody>
          <a:bodyPr wrap="square" rtlCol="0">
            <a:spAutoFit/>
          </a:bodyPr>
          <a:lstStyle/>
          <a:p>
            <a:r>
              <a:rPr lang="en-GB" sz="2400" b="1" dirty="0">
                <a:solidFill>
                  <a:schemeClr val="accent1"/>
                </a:solidFill>
                <a:latin typeface="Century Gothic" panose="020B0502020202020204" pitchFamily="34" charset="0"/>
              </a:rPr>
              <a:t>atoms</a:t>
            </a:r>
          </a:p>
        </p:txBody>
      </p:sp>
      <p:sp>
        <p:nvSpPr>
          <p:cNvPr id="12" name="TextBox 11">
            <a:extLst>
              <a:ext uri="{FF2B5EF4-FFF2-40B4-BE49-F238E27FC236}">
                <a16:creationId xmlns:a16="http://schemas.microsoft.com/office/drawing/2014/main" id="{8132777C-1A69-7099-EBE6-89F859FBF11E}"/>
              </a:ext>
            </a:extLst>
          </p:cNvPr>
          <p:cNvSpPr txBox="1"/>
          <p:nvPr/>
        </p:nvSpPr>
        <p:spPr>
          <a:xfrm>
            <a:off x="7200960" y="4074299"/>
            <a:ext cx="2160015" cy="461665"/>
          </a:xfrm>
          <a:prstGeom prst="rect">
            <a:avLst/>
          </a:prstGeom>
          <a:solidFill>
            <a:schemeClr val="bg1"/>
          </a:solidFill>
        </p:spPr>
        <p:txBody>
          <a:bodyPr wrap="square" rtlCol="0">
            <a:spAutoFit/>
          </a:bodyPr>
          <a:lstStyle/>
          <a:p>
            <a:r>
              <a:rPr lang="en-GB" sz="2400" b="1" dirty="0">
                <a:solidFill>
                  <a:schemeClr val="accent1"/>
                </a:solidFill>
                <a:latin typeface="Century Gothic" panose="020B0502020202020204" pitchFamily="34" charset="0"/>
              </a:rPr>
              <a:t>   positively     </a:t>
            </a:r>
          </a:p>
        </p:txBody>
      </p:sp>
      <p:sp>
        <p:nvSpPr>
          <p:cNvPr id="13" name="TextBox 12">
            <a:extLst>
              <a:ext uri="{FF2B5EF4-FFF2-40B4-BE49-F238E27FC236}">
                <a16:creationId xmlns:a16="http://schemas.microsoft.com/office/drawing/2014/main" id="{36C74AFC-446C-055C-5FAB-02C9C61EA18D}"/>
              </a:ext>
            </a:extLst>
          </p:cNvPr>
          <p:cNvSpPr txBox="1"/>
          <p:nvPr/>
        </p:nvSpPr>
        <p:spPr>
          <a:xfrm>
            <a:off x="6803757" y="4589906"/>
            <a:ext cx="2082524" cy="461665"/>
          </a:xfrm>
          <a:prstGeom prst="rect">
            <a:avLst/>
          </a:prstGeom>
          <a:solidFill>
            <a:schemeClr val="bg1"/>
          </a:solidFill>
        </p:spPr>
        <p:txBody>
          <a:bodyPr wrap="square" rtlCol="0">
            <a:spAutoFit/>
          </a:bodyPr>
          <a:lstStyle/>
          <a:p>
            <a:r>
              <a:rPr lang="en-GB" sz="2400" b="1" dirty="0">
                <a:solidFill>
                  <a:schemeClr val="accent1"/>
                </a:solidFill>
                <a:latin typeface="Century Gothic" panose="020B0502020202020204" pitchFamily="34" charset="0"/>
              </a:rPr>
              <a:t>   oxidised</a:t>
            </a:r>
          </a:p>
        </p:txBody>
      </p:sp>
      <p:sp>
        <p:nvSpPr>
          <p:cNvPr id="14" name="TextBox 13">
            <a:extLst>
              <a:ext uri="{FF2B5EF4-FFF2-40B4-BE49-F238E27FC236}">
                <a16:creationId xmlns:a16="http://schemas.microsoft.com/office/drawing/2014/main" id="{8F15F1ED-9B40-2104-B3A1-902F482609A8}"/>
              </a:ext>
            </a:extLst>
          </p:cNvPr>
          <p:cNvSpPr txBox="1"/>
          <p:nvPr/>
        </p:nvSpPr>
        <p:spPr>
          <a:xfrm>
            <a:off x="2083426" y="5145266"/>
            <a:ext cx="1295202" cy="461665"/>
          </a:xfrm>
          <a:prstGeom prst="rect">
            <a:avLst/>
          </a:prstGeom>
          <a:solidFill>
            <a:schemeClr val="bg1"/>
          </a:solidFill>
        </p:spPr>
        <p:txBody>
          <a:bodyPr wrap="square" rtlCol="0">
            <a:spAutoFit/>
          </a:bodyPr>
          <a:lstStyle/>
          <a:p>
            <a:r>
              <a:rPr lang="en-GB" sz="2400" b="1" dirty="0">
                <a:solidFill>
                  <a:schemeClr val="accent1"/>
                </a:solidFill>
                <a:latin typeface="Century Gothic" panose="020B0502020202020204" pitchFamily="34" charset="0"/>
              </a:rPr>
              <a:t>   ions</a:t>
            </a:r>
          </a:p>
        </p:txBody>
      </p:sp>
      <p:sp>
        <p:nvSpPr>
          <p:cNvPr id="15" name="TextBox 14">
            <a:extLst>
              <a:ext uri="{FF2B5EF4-FFF2-40B4-BE49-F238E27FC236}">
                <a16:creationId xmlns:a16="http://schemas.microsoft.com/office/drawing/2014/main" id="{FCE8CD8C-B6A3-8350-4C57-5165E1C3C732}"/>
              </a:ext>
            </a:extLst>
          </p:cNvPr>
          <p:cNvSpPr txBox="1"/>
          <p:nvPr/>
        </p:nvSpPr>
        <p:spPr>
          <a:xfrm>
            <a:off x="7200960" y="5135096"/>
            <a:ext cx="2237507" cy="461665"/>
          </a:xfrm>
          <a:prstGeom prst="rect">
            <a:avLst/>
          </a:prstGeom>
          <a:solidFill>
            <a:schemeClr val="bg1"/>
          </a:solidFill>
        </p:spPr>
        <p:txBody>
          <a:bodyPr wrap="square" rtlCol="0">
            <a:spAutoFit/>
          </a:bodyPr>
          <a:lstStyle/>
          <a:p>
            <a:r>
              <a:rPr lang="en-GB" sz="2400" b="1" dirty="0">
                <a:solidFill>
                  <a:schemeClr val="accent1"/>
                </a:solidFill>
                <a:latin typeface="Century Gothic" panose="020B0502020202020204" pitchFamily="34" charset="0"/>
              </a:rPr>
              <a:t>     neutral     </a:t>
            </a:r>
          </a:p>
        </p:txBody>
      </p:sp>
      <p:sp>
        <p:nvSpPr>
          <p:cNvPr id="16" name="TextBox 15">
            <a:extLst>
              <a:ext uri="{FF2B5EF4-FFF2-40B4-BE49-F238E27FC236}">
                <a16:creationId xmlns:a16="http://schemas.microsoft.com/office/drawing/2014/main" id="{403F84F4-0224-54D5-D1D4-1601E852D9D9}"/>
              </a:ext>
            </a:extLst>
          </p:cNvPr>
          <p:cNvSpPr txBox="1"/>
          <p:nvPr/>
        </p:nvSpPr>
        <p:spPr>
          <a:xfrm>
            <a:off x="6834753" y="5688513"/>
            <a:ext cx="2237506" cy="461665"/>
          </a:xfrm>
          <a:prstGeom prst="rect">
            <a:avLst/>
          </a:prstGeom>
          <a:solidFill>
            <a:schemeClr val="bg1"/>
          </a:solidFill>
        </p:spPr>
        <p:txBody>
          <a:bodyPr wrap="square" rtlCol="0">
            <a:spAutoFit/>
          </a:bodyPr>
          <a:lstStyle/>
          <a:p>
            <a:r>
              <a:rPr lang="en-GB" sz="2400" b="1" dirty="0">
                <a:solidFill>
                  <a:schemeClr val="accent1"/>
                </a:solidFill>
                <a:latin typeface="Century Gothic" panose="020B0502020202020204" pitchFamily="34" charset="0"/>
              </a:rPr>
              <a:t>     reduced</a:t>
            </a:r>
          </a:p>
        </p:txBody>
      </p:sp>
    </p:spTree>
    <p:extLst>
      <p:ext uri="{BB962C8B-B14F-4D97-AF65-F5344CB8AC3E}">
        <p14:creationId xmlns:p14="http://schemas.microsoft.com/office/powerpoint/2010/main" val="3998633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500"/>
                                        <p:tgtEl>
                                          <p:spTgt spid="1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500"/>
                                        <p:tgtEl>
                                          <p:spTgt spid="15"/>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11" grpId="0" animBg="1"/>
      <p:bldP spid="12" grpId="0" animBg="1"/>
      <p:bldP spid="13" grpId="0" animBg="1"/>
      <p:bldP spid="14" grpId="0" animBg="1"/>
      <p:bldP spid="15" grpId="0" animBg="1"/>
      <p:bldP spid="16" grpId="0" animBg="1"/>
    </p:bldLst>
  </p:timing>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A25F4331-48AC-1F68-90E5-B3C0AD33C216}"/>
              </a:ext>
            </a:extLst>
          </p:cNvPr>
          <p:cNvPicPr>
            <a:picLocks noChangeAspect="1"/>
          </p:cNvPicPr>
          <p:nvPr/>
        </p:nvPicPr>
        <p:blipFill>
          <a:blip r:embed="rId3"/>
          <a:stretch>
            <a:fillRect/>
          </a:stretch>
        </p:blipFill>
        <p:spPr>
          <a:xfrm>
            <a:off x="539626" y="825758"/>
            <a:ext cx="10985470" cy="5187583"/>
          </a:xfrm>
          <a:prstGeom prst="rect">
            <a:avLst/>
          </a:prstGeom>
        </p:spPr>
      </p:pic>
      <p:sp>
        <p:nvSpPr>
          <p:cNvPr id="2" name="Title 1">
            <a:extLst>
              <a:ext uri="{FF2B5EF4-FFF2-40B4-BE49-F238E27FC236}">
                <a16:creationId xmlns:a16="http://schemas.microsoft.com/office/drawing/2014/main" id="{E494B74C-D6E9-8C47-B64D-4A7EA3FB90D0}"/>
              </a:ext>
            </a:extLst>
          </p:cNvPr>
          <p:cNvSpPr>
            <a:spLocks noGrp="1"/>
          </p:cNvSpPr>
          <p:nvPr>
            <p:ph type="title"/>
          </p:nvPr>
        </p:nvSpPr>
        <p:spPr/>
        <p:txBody>
          <a:bodyPr/>
          <a:lstStyle/>
          <a:p>
            <a:r>
              <a:rPr lang="en-US" dirty="0">
                <a:latin typeface="Century Gothic" panose="020B0502020202020204" pitchFamily="34" charset="0"/>
              </a:rPr>
              <a:t>Answers – Section B</a:t>
            </a:r>
          </a:p>
        </p:txBody>
      </p:sp>
      <p:sp>
        <p:nvSpPr>
          <p:cNvPr id="7" name="TextBox 6">
            <a:extLst>
              <a:ext uri="{FF2B5EF4-FFF2-40B4-BE49-F238E27FC236}">
                <a16:creationId xmlns:a16="http://schemas.microsoft.com/office/drawing/2014/main" id="{59BA08E5-AD74-B7EC-DEAA-F602EAFD993D}"/>
              </a:ext>
            </a:extLst>
          </p:cNvPr>
          <p:cNvSpPr txBox="1"/>
          <p:nvPr/>
        </p:nvSpPr>
        <p:spPr>
          <a:xfrm>
            <a:off x="539626" y="1921789"/>
            <a:ext cx="10620374" cy="523220"/>
          </a:xfrm>
          <a:prstGeom prst="rect">
            <a:avLst/>
          </a:prstGeom>
          <a:noFill/>
        </p:spPr>
        <p:txBody>
          <a:bodyPr wrap="square">
            <a:spAutoFit/>
          </a:bodyPr>
          <a:lstStyle/>
          <a:p>
            <a:pPr algn="ctr"/>
            <a:r>
              <a:rPr lang="en-GB" sz="2800" b="1" dirty="0">
                <a:solidFill>
                  <a:schemeClr val="accent2">
                    <a:lumMod val="60000"/>
                    <a:lumOff val="40000"/>
                  </a:schemeClr>
                </a:solidFill>
                <a:latin typeface="Century Gothic" panose="020B0502020202020204" pitchFamily="34" charset="0"/>
              </a:rPr>
              <a:t>Copper + hydrochloric acid → copper chloride + hydrogen </a:t>
            </a:r>
            <a:endParaRPr lang="en-US" sz="2800" b="1" dirty="0">
              <a:solidFill>
                <a:schemeClr val="accent2">
                  <a:lumMod val="60000"/>
                  <a:lumOff val="40000"/>
                </a:schemeClr>
              </a:solidFill>
              <a:latin typeface="Century Gothic" panose="020B0502020202020204" pitchFamily="34" charset="0"/>
            </a:endParaRPr>
          </a:p>
        </p:txBody>
      </p:sp>
      <p:sp>
        <p:nvSpPr>
          <p:cNvPr id="8" name="TextBox 7">
            <a:extLst>
              <a:ext uri="{FF2B5EF4-FFF2-40B4-BE49-F238E27FC236}">
                <a16:creationId xmlns:a16="http://schemas.microsoft.com/office/drawing/2014/main" id="{6646F464-3221-2801-BB16-0BA8055E9374}"/>
              </a:ext>
            </a:extLst>
          </p:cNvPr>
          <p:cNvSpPr txBox="1"/>
          <p:nvPr/>
        </p:nvSpPr>
        <p:spPr>
          <a:xfrm>
            <a:off x="539626" y="3292201"/>
            <a:ext cx="10620374" cy="523220"/>
          </a:xfrm>
          <a:prstGeom prst="rect">
            <a:avLst/>
          </a:prstGeom>
          <a:noFill/>
        </p:spPr>
        <p:txBody>
          <a:bodyPr wrap="square">
            <a:spAutoFit/>
          </a:bodyPr>
          <a:lstStyle/>
          <a:p>
            <a:pPr algn="ctr"/>
            <a:r>
              <a:rPr lang="en-US" sz="2800" b="1" dirty="0">
                <a:solidFill>
                  <a:schemeClr val="accent2">
                    <a:lumMod val="60000"/>
                    <a:lumOff val="40000"/>
                  </a:schemeClr>
                </a:solidFill>
                <a:latin typeface="Century Gothic" panose="020B0502020202020204" pitchFamily="34" charset="0"/>
              </a:rPr>
              <a:t>Cu</a:t>
            </a:r>
            <a:r>
              <a:rPr lang="en-US" sz="2800" b="1" baseline="-25000" dirty="0">
                <a:solidFill>
                  <a:schemeClr val="accent2">
                    <a:lumMod val="60000"/>
                    <a:lumOff val="40000"/>
                  </a:schemeClr>
                </a:solidFill>
                <a:latin typeface="Century Gothic" panose="020B0502020202020204" pitchFamily="34" charset="0"/>
              </a:rPr>
              <a:t>(s) </a:t>
            </a:r>
            <a:r>
              <a:rPr lang="en-US" sz="2800" b="1" dirty="0">
                <a:solidFill>
                  <a:schemeClr val="accent2">
                    <a:lumMod val="60000"/>
                    <a:lumOff val="40000"/>
                  </a:schemeClr>
                </a:solidFill>
                <a:latin typeface="Century Gothic" panose="020B0502020202020204" pitchFamily="34" charset="0"/>
              </a:rPr>
              <a:t>+ 2HCl</a:t>
            </a:r>
            <a:r>
              <a:rPr lang="en-US" sz="2800" b="1" baseline="-25000" dirty="0">
                <a:solidFill>
                  <a:schemeClr val="accent2">
                    <a:lumMod val="60000"/>
                    <a:lumOff val="40000"/>
                  </a:schemeClr>
                </a:solidFill>
                <a:latin typeface="Century Gothic" panose="020B0502020202020204" pitchFamily="34" charset="0"/>
              </a:rPr>
              <a:t>(aq) </a:t>
            </a:r>
            <a:r>
              <a:rPr lang="en-GB" sz="2800" b="1" dirty="0">
                <a:solidFill>
                  <a:schemeClr val="accent2">
                    <a:lumMod val="60000"/>
                    <a:lumOff val="40000"/>
                  </a:schemeClr>
                </a:solidFill>
                <a:latin typeface="Century Gothic" panose="020B0502020202020204" pitchFamily="34" charset="0"/>
              </a:rPr>
              <a:t>→ CuCl</a:t>
            </a:r>
            <a:r>
              <a:rPr lang="en-GB" sz="2800" b="1" baseline="-25000" dirty="0">
                <a:solidFill>
                  <a:schemeClr val="accent2">
                    <a:lumMod val="60000"/>
                    <a:lumOff val="40000"/>
                  </a:schemeClr>
                </a:solidFill>
                <a:latin typeface="Century Gothic" panose="020B0502020202020204" pitchFamily="34" charset="0"/>
              </a:rPr>
              <a:t>2 (aq)</a:t>
            </a:r>
            <a:r>
              <a:rPr lang="en-GB" sz="2800" b="1" dirty="0">
                <a:solidFill>
                  <a:schemeClr val="accent2">
                    <a:lumMod val="60000"/>
                    <a:lumOff val="40000"/>
                  </a:schemeClr>
                </a:solidFill>
                <a:latin typeface="Century Gothic" panose="020B0502020202020204" pitchFamily="34" charset="0"/>
              </a:rPr>
              <a:t> + H</a:t>
            </a:r>
            <a:r>
              <a:rPr lang="en-GB" sz="2800" b="1" baseline="-25000" dirty="0">
                <a:solidFill>
                  <a:schemeClr val="accent2">
                    <a:lumMod val="60000"/>
                    <a:lumOff val="40000"/>
                  </a:schemeClr>
                </a:solidFill>
                <a:latin typeface="Century Gothic" panose="020B0502020202020204" pitchFamily="34" charset="0"/>
              </a:rPr>
              <a:t>2(g)</a:t>
            </a:r>
            <a:endParaRPr lang="en-US" sz="2800" b="1" dirty="0">
              <a:solidFill>
                <a:schemeClr val="accent2">
                  <a:lumMod val="60000"/>
                  <a:lumOff val="40000"/>
                </a:schemeClr>
              </a:solidFill>
              <a:latin typeface="Century Gothic" panose="020B0502020202020204" pitchFamily="34" charset="0"/>
            </a:endParaRPr>
          </a:p>
        </p:txBody>
      </p:sp>
      <p:sp>
        <p:nvSpPr>
          <p:cNvPr id="13" name="TextBox 12">
            <a:extLst>
              <a:ext uri="{FF2B5EF4-FFF2-40B4-BE49-F238E27FC236}">
                <a16:creationId xmlns:a16="http://schemas.microsoft.com/office/drawing/2014/main" id="{9ACD7CD2-4E4D-9773-C2A5-BEEF15F9F5F8}"/>
              </a:ext>
            </a:extLst>
          </p:cNvPr>
          <p:cNvSpPr txBox="1"/>
          <p:nvPr/>
        </p:nvSpPr>
        <p:spPr>
          <a:xfrm>
            <a:off x="539626" y="5255027"/>
            <a:ext cx="10620374" cy="523220"/>
          </a:xfrm>
          <a:prstGeom prst="rect">
            <a:avLst/>
          </a:prstGeom>
          <a:noFill/>
        </p:spPr>
        <p:txBody>
          <a:bodyPr wrap="square">
            <a:spAutoFit/>
          </a:bodyPr>
          <a:lstStyle/>
          <a:p>
            <a:pPr algn="ctr"/>
            <a:r>
              <a:rPr lang="en-US" sz="2800" b="1" dirty="0">
                <a:solidFill>
                  <a:schemeClr val="accent2">
                    <a:lumMod val="60000"/>
                    <a:lumOff val="40000"/>
                  </a:schemeClr>
                </a:solidFill>
                <a:latin typeface="Century Gothic" panose="020B0502020202020204" pitchFamily="34" charset="0"/>
              </a:rPr>
              <a:t>Cu</a:t>
            </a:r>
            <a:r>
              <a:rPr lang="en-US" sz="2800" b="1" baseline="-25000" dirty="0">
                <a:solidFill>
                  <a:schemeClr val="accent2">
                    <a:lumMod val="60000"/>
                    <a:lumOff val="40000"/>
                  </a:schemeClr>
                </a:solidFill>
                <a:latin typeface="Century Gothic" panose="020B0502020202020204" pitchFamily="34" charset="0"/>
              </a:rPr>
              <a:t>(s) </a:t>
            </a:r>
            <a:r>
              <a:rPr lang="en-US" sz="2800" b="1" dirty="0">
                <a:solidFill>
                  <a:schemeClr val="accent2">
                    <a:lumMod val="60000"/>
                    <a:lumOff val="40000"/>
                  </a:schemeClr>
                </a:solidFill>
                <a:latin typeface="Century Gothic" panose="020B0502020202020204" pitchFamily="34" charset="0"/>
              </a:rPr>
              <a:t>+ 2H</a:t>
            </a:r>
            <a:r>
              <a:rPr lang="en-US" sz="2800" b="1" baseline="30000" dirty="0">
                <a:solidFill>
                  <a:schemeClr val="accent2">
                    <a:lumMod val="60000"/>
                    <a:lumOff val="40000"/>
                  </a:schemeClr>
                </a:solidFill>
                <a:latin typeface="Century Gothic" panose="020B0502020202020204" pitchFamily="34" charset="0"/>
              </a:rPr>
              <a:t>+</a:t>
            </a:r>
            <a:r>
              <a:rPr lang="en-US" sz="2800" b="1" baseline="-25000" dirty="0">
                <a:solidFill>
                  <a:schemeClr val="accent2">
                    <a:lumMod val="60000"/>
                    <a:lumOff val="40000"/>
                  </a:schemeClr>
                </a:solidFill>
                <a:latin typeface="Century Gothic" panose="020B0502020202020204" pitchFamily="34" charset="0"/>
              </a:rPr>
              <a:t>(aq) </a:t>
            </a:r>
            <a:r>
              <a:rPr lang="en-GB" sz="2800" b="1" dirty="0">
                <a:solidFill>
                  <a:schemeClr val="accent2">
                    <a:lumMod val="60000"/>
                    <a:lumOff val="40000"/>
                  </a:schemeClr>
                </a:solidFill>
                <a:latin typeface="Century Gothic" panose="020B0502020202020204" pitchFamily="34" charset="0"/>
              </a:rPr>
              <a:t>→ Cu</a:t>
            </a:r>
            <a:r>
              <a:rPr lang="en-GB" sz="2800" b="1" baseline="30000" dirty="0">
                <a:solidFill>
                  <a:schemeClr val="accent2">
                    <a:lumMod val="60000"/>
                    <a:lumOff val="40000"/>
                  </a:schemeClr>
                </a:solidFill>
                <a:latin typeface="Century Gothic" panose="020B0502020202020204" pitchFamily="34" charset="0"/>
              </a:rPr>
              <a:t>2+</a:t>
            </a:r>
            <a:r>
              <a:rPr lang="en-GB" sz="2800" b="1" baseline="-25000" dirty="0">
                <a:solidFill>
                  <a:schemeClr val="accent2">
                    <a:lumMod val="60000"/>
                    <a:lumOff val="40000"/>
                  </a:schemeClr>
                </a:solidFill>
                <a:latin typeface="Century Gothic" panose="020B0502020202020204" pitchFamily="34" charset="0"/>
              </a:rPr>
              <a:t>(aq) </a:t>
            </a:r>
            <a:r>
              <a:rPr lang="en-GB" sz="2800" b="1" dirty="0">
                <a:solidFill>
                  <a:schemeClr val="accent2">
                    <a:lumMod val="60000"/>
                    <a:lumOff val="40000"/>
                  </a:schemeClr>
                </a:solidFill>
                <a:latin typeface="Century Gothic" panose="020B0502020202020204" pitchFamily="34" charset="0"/>
              </a:rPr>
              <a:t>+ H</a:t>
            </a:r>
            <a:r>
              <a:rPr lang="en-GB" sz="2800" b="1" baseline="-25000" dirty="0">
                <a:solidFill>
                  <a:schemeClr val="accent2">
                    <a:lumMod val="60000"/>
                    <a:lumOff val="40000"/>
                  </a:schemeClr>
                </a:solidFill>
                <a:latin typeface="Century Gothic" panose="020B0502020202020204" pitchFamily="34" charset="0"/>
              </a:rPr>
              <a:t>2(g)</a:t>
            </a:r>
            <a:r>
              <a:rPr lang="en-GB" sz="2800" b="1" dirty="0">
                <a:solidFill>
                  <a:schemeClr val="accent2">
                    <a:lumMod val="60000"/>
                    <a:lumOff val="40000"/>
                  </a:schemeClr>
                </a:solidFill>
                <a:latin typeface="Century Gothic" panose="020B0502020202020204" pitchFamily="34" charset="0"/>
              </a:rPr>
              <a:t> </a:t>
            </a:r>
            <a:endParaRPr lang="en-US" sz="2800" b="1" dirty="0">
              <a:solidFill>
                <a:schemeClr val="accent2">
                  <a:lumMod val="60000"/>
                  <a:lumOff val="40000"/>
                </a:schemeClr>
              </a:solidFill>
              <a:latin typeface="Century Gothic" panose="020B0502020202020204" pitchFamily="34" charset="0"/>
            </a:endParaRPr>
          </a:p>
        </p:txBody>
      </p:sp>
      <p:sp>
        <p:nvSpPr>
          <p:cNvPr id="16" name="TextBox 15">
            <a:extLst>
              <a:ext uri="{FF2B5EF4-FFF2-40B4-BE49-F238E27FC236}">
                <a16:creationId xmlns:a16="http://schemas.microsoft.com/office/drawing/2014/main" id="{FDCEDF9C-B2DC-182F-90B0-365A88DCCBE1}"/>
              </a:ext>
            </a:extLst>
          </p:cNvPr>
          <p:cNvSpPr txBox="1"/>
          <p:nvPr/>
        </p:nvSpPr>
        <p:spPr>
          <a:xfrm>
            <a:off x="4458115" y="3222786"/>
            <a:ext cx="702821" cy="646331"/>
          </a:xfrm>
          <a:prstGeom prst="rect">
            <a:avLst/>
          </a:prstGeom>
          <a:noFill/>
        </p:spPr>
        <p:txBody>
          <a:bodyPr wrap="square">
            <a:spAutoFit/>
          </a:bodyPr>
          <a:lstStyle/>
          <a:p>
            <a:pPr algn="ctr"/>
            <a:r>
              <a:rPr lang="en-GB" sz="3600" b="1" dirty="0">
                <a:latin typeface="Century Gothic" panose="020B0502020202020204" pitchFamily="34" charset="0"/>
              </a:rPr>
              <a:t>X</a:t>
            </a:r>
            <a:endParaRPr lang="en-US" sz="3600" b="1" dirty="0">
              <a:latin typeface="Century Gothic" panose="020B0502020202020204" pitchFamily="34" charset="0"/>
            </a:endParaRPr>
          </a:p>
        </p:txBody>
      </p:sp>
      <p:sp>
        <p:nvSpPr>
          <p:cNvPr id="17" name="TextBox 16">
            <a:extLst>
              <a:ext uri="{FF2B5EF4-FFF2-40B4-BE49-F238E27FC236}">
                <a16:creationId xmlns:a16="http://schemas.microsoft.com/office/drawing/2014/main" id="{BEEAB092-24E1-6230-5F20-BADC068797ED}"/>
              </a:ext>
            </a:extLst>
          </p:cNvPr>
          <p:cNvSpPr txBox="1"/>
          <p:nvPr/>
        </p:nvSpPr>
        <p:spPr>
          <a:xfrm>
            <a:off x="6328244" y="3230242"/>
            <a:ext cx="702822" cy="646331"/>
          </a:xfrm>
          <a:prstGeom prst="rect">
            <a:avLst/>
          </a:prstGeom>
          <a:noFill/>
        </p:spPr>
        <p:txBody>
          <a:bodyPr wrap="square">
            <a:spAutoFit/>
          </a:bodyPr>
          <a:lstStyle/>
          <a:p>
            <a:pPr algn="ctr"/>
            <a:r>
              <a:rPr lang="en-GB" sz="3600" b="1" dirty="0">
                <a:latin typeface="Century Gothic" panose="020B0502020202020204" pitchFamily="34" charset="0"/>
              </a:rPr>
              <a:t>X</a:t>
            </a:r>
            <a:endParaRPr lang="en-US" sz="3600" b="1" dirty="0">
              <a:latin typeface="Century Gothic" panose="020B0502020202020204" pitchFamily="34" charset="0"/>
            </a:endParaRPr>
          </a:p>
        </p:txBody>
      </p:sp>
    </p:spTree>
    <p:extLst>
      <p:ext uri="{BB962C8B-B14F-4D97-AF65-F5344CB8AC3E}">
        <p14:creationId xmlns:p14="http://schemas.microsoft.com/office/powerpoint/2010/main" val="2510174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5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3" grpId="0"/>
      <p:bldP spid="16" grpId="0"/>
      <p:bldP spid="17" grpId="0"/>
    </p:bldLst>
  </p:timing>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4484563-69D2-A9F4-C03E-75F0CADF2695}"/>
              </a:ext>
            </a:extLst>
          </p:cNvPr>
          <p:cNvPicPr>
            <a:picLocks noChangeAspect="1"/>
          </p:cNvPicPr>
          <p:nvPr/>
        </p:nvPicPr>
        <p:blipFill>
          <a:blip r:embed="rId3"/>
          <a:stretch>
            <a:fillRect/>
          </a:stretch>
        </p:blipFill>
        <p:spPr>
          <a:xfrm>
            <a:off x="539999" y="808800"/>
            <a:ext cx="10884661" cy="3329247"/>
          </a:xfrm>
          <a:prstGeom prst="rect">
            <a:avLst/>
          </a:prstGeom>
        </p:spPr>
      </p:pic>
      <p:sp>
        <p:nvSpPr>
          <p:cNvPr id="2" name="Title 1">
            <a:extLst>
              <a:ext uri="{FF2B5EF4-FFF2-40B4-BE49-F238E27FC236}">
                <a16:creationId xmlns:a16="http://schemas.microsoft.com/office/drawing/2014/main" id="{E494B74C-D6E9-8C47-B64D-4A7EA3FB90D0}"/>
              </a:ext>
            </a:extLst>
          </p:cNvPr>
          <p:cNvSpPr>
            <a:spLocks noGrp="1"/>
          </p:cNvSpPr>
          <p:nvPr>
            <p:ph type="title"/>
          </p:nvPr>
        </p:nvSpPr>
        <p:spPr/>
        <p:txBody>
          <a:bodyPr/>
          <a:lstStyle/>
          <a:p>
            <a:r>
              <a:rPr lang="en-US" dirty="0">
                <a:latin typeface="Century Gothic" panose="020B0502020202020204" pitchFamily="34" charset="0"/>
              </a:rPr>
              <a:t>Answers – Section B</a:t>
            </a:r>
          </a:p>
        </p:txBody>
      </p:sp>
      <p:sp>
        <p:nvSpPr>
          <p:cNvPr id="8" name="TextBox 7">
            <a:extLst>
              <a:ext uri="{FF2B5EF4-FFF2-40B4-BE49-F238E27FC236}">
                <a16:creationId xmlns:a16="http://schemas.microsoft.com/office/drawing/2014/main" id="{6646F464-3221-2801-BB16-0BA8055E9374}"/>
              </a:ext>
            </a:extLst>
          </p:cNvPr>
          <p:cNvSpPr txBox="1"/>
          <p:nvPr/>
        </p:nvSpPr>
        <p:spPr>
          <a:xfrm>
            <a:off x="326732" y="1913747"/>
            <a:ext cx="10620374" cy="523220"/>
          </a:xfrm>
          <a:prstGeom prst="rect">
            <a:avLst/>
          </a:prstGeom>
          <a:noFill/>
        </p:spPr>
        <p:txBody>
          <a:bodyPr wrap="square">
            <a:spAutoFit/>
          </a:bodyPr>
          <a:lstStyle/>
          <a:p>
            <a:pPr algn="ctr"/>
            <a:r>
              <a:rPr lang="en-US" sz="2800" b="1" dirty="0">
                <a:solidFill>
                  <a:schemeClr val="accent2">
                    <a:lumMod val="60000"/>
                    <a:lumOff val="40000"/>
                  </a:schemeClr>
                </a:solidFill>
                <a:latin typeface="Century Gothic" panose="020B0502020202020204" pitchFamily="34" charset="0"/>
              </a:rPr>
              <a:t>2K</a:t>
            </a:r>
            <a:r>
              <a:rPr lang="en-US" sz="2800" b="1" baseline="-25000" dirty="0">
                <a:solidFill>
                  <a:schemeClr val="accent2">
                    <a:lumMod val="60000"/>
                    <a:lumOff val="40000"/>
                  </a:schemeClr>
                </a:solidFill>
                <a:latin typeface="Century Gothic" panose="020B0502020202020204" pitchFamily="34" charset="0"/>
              </a:rPr>
              <a:t>(s) </a:t>
            </a:r>
            <a:r>
              <a:rPr lang="en-US" sz="2800" b="1" dirty="0">
                <a:solidFill>
                  <a:schemeClr val="accent2">
                    <a:lumMod val="60000"/>
                    <a:lumOff val="40000"/>
                  </a:schemeClr>
                </a:solidFill>
                <a:latin typeface="Century Gothic" panose="020B0502020202020204" pitchFamily="34" charset="0"/>
              </a:rPr>
              <a:t>+ MgSO</a:t>
            </a:r>
            <a:r>
              <a:rPr lang="en-US" sz="2800" b="1" baseline="-25000" dirty="0">
                <a:solidFill>
                  <a:schemeClr val="accent2">
                    <a:lumMod val="60000"/>
                    <a:lumOff val="40000"/>
                  </a:schemeClr>
                </a:solidFill>
                <a:latin typeface="Century Gothic" panose="020B0502020202020204" pitchFamily="34" charset="0"/>
              </a:rPr>
              <a:t>4(aq) </a:t>
            </a:r>
            <a:r>
              <a:rPr lang="en-GB" sz="2800" b="1" dirty="0">
                <a:solidFill>
                  <a:schemeClr val="accent2">
                    <a:lumMod val="60000"/>
                    <a:lumOff val="40000"/>
                  </a:schemeClr>
                </a:solidFill>
                <a:latin typeface="Century Gothic" panose="020B0502020202020204" pitchFamily="34" charset="0"/>
              </a:rPr>
              <a:t>→ </a:t>
            </a:r>
            <a:r>
              <a:rPr lang="en-US" sz="2800" b="1" dirty="0">
                <a:solidFill>
                  <a:schemeClr val="accent2">
                    <a:lumMod val="60000"/>
                    <a:lumOff val="40000"/>
                  </a:schemeClr>
                </a:solidFill>
                <a:latin typeface="Century Gothic" panose="020B0502020202020204" pitchFamily="34" charset="0"/>
              </a:rPr>
              <a:t>K</a:t>
            </a:r>
            <a:r>
              <a:rPr lang="en-US" sz="2800" b="1" baseline="-25000" dirty="0">
                <a:solidFill>
                  <a:schemeClr val="accent2">
                    <a:lumMod val="60000"/>
                    <a:lumOff val="40000"/>
                  </a:schemeClr>
                </a:solidFill>
                <a:latin typeface="Century Gothic" panose="020B0502020202020204" pitchFamily="34" charset="0"/>
              </a:rPr>
              <a:t>2</a:t>
            </a:r>
            <a:r>
              <a:rPr lang="en-US" sz="2800" b="1" dirty="0">
                <a:solidFill>
                  <a:schemeClr val="accent2">
                    <a:lumMod val="60000"/>
                    <a:lumOff val="40000"/>
                  </a:schemeClr>
                </a:solidFill>
                <a:latin typeface="Century Gothic" panose="020B0502020202020204" pitchFamily="34" charset="0"/>
              </a:rPr>
              <a:t>SO</a:t>
            </a:r>
            <a:r>
              <a:rPr lang="en-US" sz="2800" b="1" baseline="-25000" dirty="0">
                <a:solidFill>
                  <a:schemeClr val="accent2">
                    <a:lumMod val="60000"/>
                    <a:lumOff val="40000"/>
                  </a:schemeClr>
                </a:solidFill>
                <a:latin typeface="Century Gothic" panose="020B0502020202020204" pitchFamily="34" charset="0"/>
              </a:rPr>
              <a:t>4(aq)</a:t>
            </a:r>
            <a:r>
              <a:rPr lang="en-GB" sz="2800" b="1" dirty="0">
                <a:solidFill>
                  <a:schemeClr val="accent2">
                    <a:lumMod val="60000"/>
                    <a:lumOff val="40000"/>
                  </a:schemeClr>
                </a:solidFill>
                <a:latin typeface="Century Gothic" panose="020B0502020202020204" pitchFamily="34" charset="0"/>
              </a:rPr>
              <a:t> + Mg</a:t>
            </a:r>
            <a:r>
              <a:rPr lang="en-GB" sz="2800" b="1" baseline="-25000" dirty="0">
                <a:solidFill>
                  <a:schemeClr val="accent2">
                    <a:lumMod val="60000"/>
                    <a:lumOff val="40000"/>
                  </a:schemeClr>
                </a:solidFill>
                <a:latin typeface="Century Gothic" panose="020B0502020202020204" pitchFamily="34" charset="0"/>
              </a:rPr>
              <a:t>(s)</a:t>
            </a:r>
            <a:endParaRPr lang="en-US" sz="2800" b="1" dirty="0">
              <a:solidFill>
                <a:schemeClr val="accent2">
                  <a:lumMod val="60000"/>
                  <a:lumOff val="40000"/>
                </a:schemeClr>
              </a:solidFill>
              <a:latin typeface="Century Gothic" panose="020B0502020202020204" pitchFamily="34" charset="0"/>
            </a:endParaRPr>
          </a:p>
        </p:txBody>
      </p:sp>
      <p:sp>
        <p:nvSpPr>
          <p:cNvPr id="13" name="TextBox 12">
            <a:extLst>
              <a:ext uri="{FF2B5EF4-FFF2-40B4-BE49-F238E27FC236}">
                <a16:creationId xmlns:a16="http://schemas.microsoft.com/office/drawing/2014/main" id="{9ACD7CD2-4E4D-9773-C2A5-BEEF15F9F5F8}"/>
              </a:ext>
            </a:extLst>
          </p:cNvPr>
          <p:cNvSpPr txBox="1"/>
          <p:nvPr/>
        </p:nvSpPr>
        <p:spPr>
          <a:xfrm>
            <a:off x="279155" y="3229468"/>
            <a:ext cx="10620374" cy="523220"/>
          </a:xfrm>
          <a:prstGeom prst="rect">
            <a:avLst/>
          </a:prstGeom>
          <a:noFill/>
        </p:spPr>
        <p:txBody>
          <a:bodyPr wrap="square">
            <a:spAutoFit/>
          </a:bodyPr>
          <a:lstStyle/>
          <a:p>
            <a:pPr algn="ctr"/>
            <a:r>
              <a:rPr lang="en-US" sz="2800" b="1" dirty="0">
                <a:solidFill>
                  <a:schemeClr val="accent2">
                    <a:lumMod val="60000"/>
                    <a:lumOff val="40000"/>
                  </a:schemeClr>
                </a:solidFill>
                <a:latin typeface="Century Gothic" panose="020B0502020202020204" pitchFamily="34" charset="0"/>
              </a:rPr>
              <a:t>2K</a:t>
            </a:r>
            <a:r>
              <a:rPr lang="en-US" sz="2800" b="1" baseline="-25000" dirty="0">
                <a:solidFill>
                  <a:schemeClr val="accent2">
                    <a:lumMod val="60000"/>
                    <a:lumOff val="40000"/>
                  </a:schemeClr>
                </a:solidFill>
                <a:latin typeface="Century Gothic" panose="020B0502020202020204" pitchFamily="34" charset="0"/>
              </a:rPr>
              <a:t>(s) </a:t>
            </a:r>
            <a:r>
              <a:rPr lang="en-US" sz="2800" b="1" dirty="0">
                <a:solidFill>
                  <a:schemeClr val="accent2">
                    <a:lumMod val="60000"/>
                    <a:lumOff val="40000"/>
                  </a:schemeClr>
                </a:solidFill>
                <a:latin typeface="Century Gothic" panose="020B0502020202020204" pitchFamily="34" charset="0"/>
              </a:rPr>
              <a:t>+ Mg</a:t>
            </a:r>
            <a:r>
              <a:rPr lang="en-US" sz="2800" b="1" baseline="30000" dirty="0">
                <a:solidFill>
                  <a:schemeClr val="accent2">
                    <a:lumMod val="60000"/>
                    <a:lumOff val="40000"/>
                  </a:schemeClr>
                </a:solidFill>
                <a:latin typeface="Century Gothic" panose="020B0502020202020204" pitchFamily="34" charset="0"/>
              </a:rPr>
              <a:t>2+</a:t>
            </a:r>
            <a:r>
              <a:rPr lang="en-US" sz="2800" b="1" baseline="-25000" dirty="0">
                <a:solidFill>
                  <a:schemeClr val="accent2">
                    <a:lumMod val="60000"/>
                    <a:lumOff val="40000"/>
                  </a:schemeClr>
                </a:solidFill>
                <a:latin typeface="Century Gothic" panose="020B0502020202020204" pitchFamily="34" charset="0"/>
              </a:rPr>
              <a:t>(aq) </a:t>
            </a:r>
            <a:r>
              <a:rPr lang="en-GB" sz="2800" b="1" dirty="0">
                <a:solidFill>
                  <a:schemeClr val="accent2">
                    <a:lumMod val="60000"/>
                    <a:lumOff val="40000"/>
                  </a:schemeClr>
                </a:solidFill>
                <a:latin typeface="Century Gothic" panose="020B0502020202020204" pitchFamily="34" charset="0"/>
              </a:rPr>
              <a:t>→ </a:t>
            </a:r>
            <a:r>
              <a:rPr lang="en-US" sz="2800" b="1" dirty="0">
                <a:solidFill>
                  <a:schemeClr val="accent2">
                    <a:lumMod val="60000"/>
                    <a:lumOff val="40000"/>
                  </a:schemeClr>
                </a:solidFill>
                <a:latin typeface="Century Gothic" panose="020B0502020202020204" pitchFamily="34" charset="0"/>
              </a:rPr>
              <a:t>2K</a:t>
            </a:r>
            <a:r>
              <a:rPr lang="en-GB" sz="2800" b="1" baseline="30000" dirty="0">
                <a:solidFill>
                  <a:schemeClr val="accent2">
                    <a:lumMod val="60000"/>
                    <a:lumOff val="40000"/>
                  </a:schemeClr>
                </a:solidFill>
                <a:latin typeface="Century Gothic" panose="020B0502020202020204" pitchFamily="34" charset="0"/>
              </a:rPr>
              <a:t>+</a:t>
            </a:r>
            <a:r>
              <a:rPr lang="en-GB" sz="2800" b="1" baseline="-25000" dirty="0">
                <a:solidFill>
                  <a:schemeClr val="accent2">
                    <a:lumMod val="60000"/>
                    <a:lumOff val="40000"/>
                  </a:schemeClr>
                </a:solidFill>
                <a:latin typeface="Century Gothic" panose="020B0502020202020204" pitchFamily="34" charset="0"/>
              </a:rPr>
              <a:t>(aq) </a:t>
            </a:r>
            <a:r>
              <a:rPr lang="en-GB" sz="2800" b="1" dirty="0">
                <a:solidFill>
                  <a:schemeClr val="accent2">
                    <a:lumMod val="60000"/>
                    <a:lumOff val="40000"/>
                  </a:schemeClr>
                </a:solidFill>
                <a:latin typeface="Century Gothic" panose="020B0502020202020204" pitchFamily="34" charset="0"/>
              </a:rPr>
              <a:t>+ Mg</a:t>
            </a:r>
            <a:r>
              <a:rPr lang="en-GB" sz="2800" b="1" baseline="-25000" dirty="0">
                <a:solidFill>
                  <a:schemeClr val="accent2">
                    <a:lumMod val="60000"/>
                    <a:lumOff val="40000"/>
                  </a:schemeClr>
                </a:solidFill>
                <a:latin typeface="Century Gothic" panose="020B0502020202020204" pitchFamily="34" charset="0"/>
              </a:rPr>
              <a:t>(s)</a:t>
            </a:r>
            <a:r>
              <a:rPr lang="en-GB" sz="2800" b="1" dirty="0">
                <a:solidFill>
                  <a:schemeClr val="accent2">
                    <a:lumMod val="60000"/>
                    <a:lumOff val="40000"/>
                  </a:schemeClr>
                </a:solidFill>
                <a:latin typeface="Century Gothic" panose="020B0502020202020204" pitchFamily="34" charset="0"/>
              </a:rPr>
              <a:t> </a:t>
            </a:r>
            <a:endParaRPr lang="en-US" sz="2800" b="1" dirty="0">
              <a:solidFill>
                <a:schemeClr val="accent2">
                  <a:lumMod val="60000"/>
                  <a:lumOff val="40000"/>
                </a:schemeClr>
              </a:solidFill>
              <a:latin typeface="Century Gothic" panose="020B0502020202020204" pitchFamily="34" charset="0"/>
            </a:endParaRPr>
          </a:p>
        </p:txBody>
      </p:sp>
      <p:sp>
        <p:nvSpPr>
          <p:cNvPr id="16" name="TextBox 15">
            <a:extLst>
              <a:ext uri="{FF2B5EF4-FFF2-40B4-BE49-F238E27FC236}">
                <a16:creationId xmlns:a16="http://schemas.microsoft.com/office/drawing/2014/main" id="{FDCEDF9C-B2DC-182F-90B0-365A88DCCBE1}"/>
              </a:ext>
            </a:extLst>
          </p:cNvPr>
          <p:cNvSpPr txBox="1"/>
          <p:nvPr/>
        </p:nvSpPr>
        <p:spPr>
          <a:xfrm>
            <a:off x="4179376" y="1864071"/>
            <a:ext cx="702821" cy="646331"/>
          </a:xfrm>
          <a:prstGeom prst="rect">
            <a:avLst/>
          </a:prstGeom>
          <a:noFill/>
        </p:spPr>
        <p:txBody>
          <a:bodyPr wrap="square">
            <a:spAutoFit/>
          </a:bodyPr>
          <a:lstStyle/>
          <a:p>
            <a:pPr algn="ctr"/>
            <a:r>
              <a:rPr lang="en-GB" sz="3600" b="1" dirty="0">
                <a:latin typeface="Century Gothic" panose="020B0502020202020204" pitchFamily="34" charset="0"/>
              </a:rPr>
              <a:t>X</a:t>
            </a:r>
            <a:endParaRPr lang="en-US" sz="3600" b="1" dirty="0">
              <a:latin typeface="Century Gothic" panose="020B0502020202020204" pitchFamily="34" charset="0"/>
            </a:endParaRPr>
          </a:p>
        </p:txBody>
      </p:sp>
      <p:sp>
        <p:nvSpPr>
          <p:cNvPr id="17" name="TextBox 16">
            <a:extLst>
              <a:ext uri="{FF2B5EF4-FFF2-40B4-BE49-F238E27FC236}">
                <a16:creationId xmlns:a16="http://schemas.microsoft.com/office/drawing/2014/main" id="{BEEAB092-24E1-6230-5F20-BADC068797ED}"/>
              </a:ext>
            </a:extLst>
          </p:cNvPr>
          <p:cNvSpPr txBox="1"/>
          <p:nvPr/>
        </p:nvSpPr>
        <p:spPr>
          <a:xfrm>
            <a:off x="6142496" y="1864071"/>
            <a:ext cx="702822" cy="646331"/>
          </a:xfrm>
          <a:prstGeom prst="rect">
            <a:avLst/>
          </a:prstGeom>
          <a:noFill/>
        </p:spPr>
        <p:txBody>
          <a:bodyPr wrap="square">
            <a:spAutoFit/>
          </a:bodyPr>
          <a:lstStyle/>
          <a:p>
            <a:pPr algn="ctr"/>
            <a:r>
              <a:rPr lang="en-GB" sz="3600" b="1" dirty="0">
                <a:latin typeface="Century Gothic" panose="020B0502020202020204" pitchFamily="34" charset="0"/>
              </a:rPr>
              <a:t>X</a:t>
            </a:r>
            <a:endParaRPr lang="en-US" sz="3600" b="1" dirty="0">
              <a:latin typeface="Century Gothic" panose="020B0502020202020204" pitchFamily="34" charset="0"/>
            </a:endParaRPr>
          </a:p>
        </p:txBody>
      </p:sp>
    </p:spTree>
    <p:extLst>
      <p:ext uri="{BB962C8B-B14F-4D97-AF65-F5344CB8AC3E}">
        <p14:creationId xmlns:p14="http://schemas.microsoft.com/office/powerpoint/2010/main" val="3693986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3" grpId="0"/>
      <p:bldP spid="16" grpId="0"/>
      <p:bldP spid="17" grpId="0"/>
    </p:bldLst>
  </p:timing>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B198E19-D06D-03A8-7373-C151F8CCDA5D}"/>
              </a:ext>
            </a:extLst>
          </p:cNvPr>
          <p:cNvPicPr>
            <a:picLocks noChangeAspect="1"/>
          </p:cNvPicPr>
          <p:nvPr/>
        </p:nvPicPr>
        <p:blipFill>
          <a:blip r:embed="rId3"/>
          <a:stretch>
            <a:fillRect/>
          </a:stretch>
        </p:blipFill>
        <p:spPr>
          <a:xfrm>
            <a:off x="540000" y="885385"/>
            <a:ext cx="10351571" cy="5654900"/>
          </a:xfrm>
          <a:prstGeom prst="rect">
            <a:avLst/>
          </a:prstGeom>
        </p:spPr>
      </p:pic>
      <p:sp>
        <p:nvSpPr>
          <p:cNvPr id="2" name="Title 1">
            <a:extLst>
              <a:ext uri="{FF2B5EF4-FFF2-40B4-BE49-F238E27FC236}">
                <a16:creationId xmlns:a16="http://schemas.microsoft.com/office/drawing/2014/main" id="{E494B74C-D6E9-8C47-B64D-4A7EA3FB90D0}"/>
              </a:ext>
            </a:extLst>
          </p:cNvPr>
          <p:cNvSpPr>
            <a:spLocks noGrp="1"/>
          </p:cNvSpPr>
          <p:nvPr>
            <p:ph type="title"/>
          </p:nvPr>
        </p:nvSpPr>
        <p:spPr/>
        <p:txBody>
          <a:bodyPr/>
          <a:lstStyle/>
          <a:p>
            <a:r>
              <a:rPr lang="en-US" dirty="0">
                <a:latin typeface="Century Gothic" panose="020B0502020202020204" pitchFamily="34" charset="0"/>
              </a:rPr>
              <a:t>Answers – Section C</a:t>
            </a:r>
          </a:p>
        </p:txBody>
      </p:sp>
      <p:sp>
        <p:nvSpPr>
          <p:cNvPr id="3" name="TextBox 2">
            <a:extLst>
              <a:ext uri="{FF2B5EF4-FFF2-40B4-BE49-F238E27FC236}">
                <a16:creationId xmlns:a16="http://schemas.microsoft.com/office/drawing/2014/main" id="{4C6AE249-7959-C2EA-70DC-79D585E437FB}"/>
              </a:ext>
            </a:extLst>
          </p:cNvPr>
          <p:cNvSpPr txBox="1"/>
          <p:nvPr/>
        </p:nvSpPr>
        <p:spPr>
          <a:xfrm>
            <a:off x="1300429" y="5393315"/>
            <a:ext cx="7440615" cy="1200329"/>
          </a:xfrm>
          <a:prstGeom prst="rect">
            <a:avLst/>
          </a:prstGeom>
          <a:solidFill>
            <a:schemeClr val="bg1"/>
          </a:solidFill>
        </p:spPr>
        <p:txBody>
          <a:bodyPr wrap="square" rtlCol="0">
            <a:spAutoFit/>
          </a:bodyPr>
          <a:lstStyle/>
          <a:p>
            <a:r>
              <a:rPr lang="en-GB" sz="2400" b="1" dirty="0">
                <a:solidFill>
                  <a:schemeClr val="accent1"/>
                </a:solidFill>
                <a:latin typeface="Century Gothic" panose="020B0502020202020204" pitchFamily="34" charset="0"/>
              </a:rPr>
              <a:t>Harmful. The precautions the student should take is to wear goggles and wash hands immediately if the copper oxide touches skin.</a:t>
            </a:r>
          </a:p>
        </p:txBody>
      </p:sp>
    </p:spTree>
    <p:extLst>
      <p:ext uri="{BB962C8B-B14F-4D97-AF65-F5344CB8AC3E}">
        <p14:creationId xmlns:p14="http://schemas.microsoft.com/office/powerpoint/2010/main" val="23460263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E049751-ACB6-A348-14E2-FA19A4E78723}"/>
              </a:ext>
            </a:extLst>
          </p:cNvPr>
          <p:cNvPicPr>
            <a:picLocks noChangeAspect="1"/>
          </p:cNvPicPr>
          <p:nvPr/>
        </p:nvPicPr>
        <p:blipFill>
          <a:blip r:embed="rId3"/>
          <a:stretch>
            <a:fillRect/>
          </a:stretch>
        </p:blipFill>
        <p:spPr>
          <a:xfrm>
            <a:off x="540000" y="719999"/>
            <a:ext cx="10975088" cy="3433547"/>
          </a:xfrm>
          <a:prstGeom prst="rect">
            <a:avLst/>
          </a:prstGeom>
        </p:spPr>
      </p:pic>
      <p:sp>
        <p:nvSpPr>
          <p:cNvPr id="2" name="Title 1">
            <a:extLst>
              <a:ext uri="{FF2B5EF4-FFF2-40B4-BE49-F238E27FC236}">
                <a16:creationId xmlns:a16="http://schemas.microsoft.com/office/drawing/2014/main" id="{E494B74C-D6E9-8C47-B64D-4A7EA3FB90D0}"/>
              </a:ext>
            </a:extLst>
          </p:cNvPr>
          <p:cNvSpPr>
            <a:spLocks noGrp="1"/>
          </p:cNvSpPr>
          <p:nvPr>
            <p:ph type="title"/>
          </p:nvPr>
        </p:nvSpPr>
        <p:spPr/>
        <p:txBody>
          <a:bodyPr/>
          <a:lstStyle/>
          <a:p>
            <a:r>
              <a:rPr lang="en-US" dirty="0">
                <a:latin typeface="Century Gothic" panose="020B0502020202020204" pitchFamily="34" charset="0"/>
              </a:rPr>
              <a:t>Answers – Section C</a:t>
            </a:r>
          </a:p>
        </p:txBody>
      </p:sp>
      <p:sp>
        <p:nvSpPr>
          <p:cNvPr id="3" name="TextBox 2">
            <a:extLst>
              <a:ext uri="{FF2B5EF4-FFF2-40B4-BE49-F238E27FC236}">
                <a16:creationId xmlns:a16="http://schemas.microsoft.com/office/drawing/2014/main" id="{4C6AE249-7959-C2EA-70DC-79D585E437FB}"/>
              </a:ext>
            </a:extLst>
          </p:cNvPr>
          <p:cNvSpPr txBox="1"/>
          <p:nvPr/>
        </p:nvSpPr>
        <p:spPr>
          <a:xfrm>
            <a:off x="1042512" y="1753363"/>
            <a:ext cx="10348741" cy="1200329"/>
          </a:xfrm>
          <a:prstGeom prst="rect">
            <a:avLst/>
          </a:prstGeom>
          <a:solidFill>
            <a:schemeClr val="bg1"/>
          </a:solidFill>
        </p:spPr>
        <p:txBody>
          <a:bodyPr wrap="square" rtlCol="0">
            <a:spAutoFit/>
          </a:bodyPr>
          <a:lstStyle/>
          <a:p>
            <a:r>
              <a:rPr lang="en-GB" sz="2400" b="1" dirty="0">
                <a:solidFill>
                  <a:schemeClr val="accent1"/>
                </a:solidFill>
                <a:latin typeface="Century Gothic" panose="020B0502020202020204" pitchFamily="34" charset="0"/>
              </a:rPr>
              <a:t>Carbon dioxide is produced. To test for the presence of carbon dioxide, the gas should be bubbled through lime water/calcium hydroxide solution, and it changes colour from clear to cloudy.</a:t>
            </a:r>
          </a:p>
        </p:txBody>
      </p:sp>
      <p:sp>
        <p:nvSpPr>
          <p:cNvPr id="7" name="TextBox 6">
            <a:extLst>
              <a:ext uri="{FF2B5EF4-FFF2-40B4-BE49-F238E27FC236}">
                <a16:creationId xmlns:a16="http://schemas.microsoft.com/office/drawing/2014/main" id="{9D7B6730-2F46-0486-E4F7-0C951C6ED6E6}"/>
              </a:ext>
            </a:extLst>
          </p:cNvPr>
          <p:cNvSpPr txBox="1"/>
          <p:nvPr/>
        </p:nvSpPr>
        <p:spPr>
          <a:xfrm>
            <a:off x="1042511" y="3553144"/>
            <a:ext cx="10348741" cy="830997"/>
          </a:xfrm>
          <a:prstGeom prst="rect">
            <a:avLst/>
          </a:prstGeom>
          <a:solidFill>
            <a:schemeClr val="bg1"/>
          </a:solidFill>
        </p:spPr>
        <p:txBody>
          <a:bodyPr wrap="square" rtlCol="0">
            <a:spAutoFit/>
          </a:bodyPr>
          <a:lstStyle/>
          <a:p>
            <a:r>
              <a:rPr lang="en-GB" sz="2400" b="1" dirty="0">
                <a:solidFill>
                  <a:schemeClr val="accent1"/>
                </a:solidFill>
                <a:latin typeface="Century Gothic" panose="020B0502020202020204" pitchFamily="34" charset="0"/>
              </a:rPr>
              <a:t>Solid copper metal, which is a red-orange shiny colour, would be observed.</a:t>
            </a:r>
          </a:p>
        </p:txBody>
      </p:sp>
    </p:spTree>
    <p:extLst>
      <p:ext uri="{BB962C8B-B14F-4D97-AF65-F5344CB8AC3E}">
        <p14:creationId xmlns:p14="http://schemas.microsoft.com/office/powerpoint/2010/main" val="22201138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 grpId="0" animBg="1"/>
    </p:bldLst>
  </p:timing>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38F4EABD-1F33-F4D3-5963-CE99C3573150}"/>
              </a:ext>
            </a:extLst>
          </p:cNvPr>
          <p:cNvPicPr>
            <a:picLocks noChangeAspect="1"/>
          </p:cNvPicPr>
          <p:nvPr/>
        </p:nvPicPr>
        <p:blipFill>
          <a:blip r:embed="rId3"/>
          <a:stretch>
            <a:fillRect/>
          </a:stretch>
        </p:blipFill>
        <p:spPr>
          <a:xfrm>
            <a:off x="539999" y="868017"/>
            <a:ext cx="10787149" cy="4227205"/>
          </a:xfrm>
          <a:prstGeom prst="rect">
            <a:avLst/>
          </a:prstGeom>
        </p:spPr>
      </p:pic>
      <p:sp>
        <p:nvSpPr>
          <p:cNvPr id="2" name="Title 1">
            <a:extLst>
              <a:ext uri="{FF2B5EF4-FFF2-40B4-BE49-F238E27FC236}">
                <a16:creationId xmlns:a16="http://schemas.microsoft.com/office/drawing/2014/main" id="{E494B74C-D6E9-8C47-B64D-4A7EA3FB90D0}"/>
              </a:ext>
            </a:extLst>
          </p:cNvPr>
          <p:cNvSpPr>
            <a:spLocks noGrp="1"/>
          </p:cNvSpPr>
          <p:nvPr>
            <p:ph type="title"/>
          </p:nvPr>
        </p:nvSpPr>
        <p:spPr/>
        <p:txBody>
          <a:bodyPr/>
          <a:lstStyle/>
          <a:p>
            <a:r>
              <a:rPr lang="en-US" dirty="0">
                <a:latin typeface="Century Gothic" panose="020B0502020202020204" pitchFamily="34" charset="0"/>
              </a:rPr>
              <a:t>Answers – Section C</a:t>
            </a:r>
          </a:p>
        </p:txBody>
      </p:sp>
      <p:sp>
        <p:nvSpPr>
          <p:cNvPr id="3" name="TextBox 2">
            <a:extLst>
              <a:ext uri="{FF2B5EF4-FFF2-40B4-BE49-F238E27FC236}">
                <a16:creationId xmlns:a16="http://schemas.microsoft.com/office/drawing/2014/main" id="{4C6AE249-7959-C2EA-70DC-79D585E437FB}"/>
              </a:ext>
            </a:extLst>
          </p:cNvPr>
          <p:cNvSpPr txBox="1"/>
          <p:nvPr/>
        </p:nvSpPr>
        <p:spPr>
          <a:xfrm>
            <a:off x="972589" y="2598003"/>
            <a:ext cx="9695792" cy="830997"/>
          </a:xfrm>
          <a:prstGeom prst="rect">
            <a:avLst/>
          </a:prstGeom>
          <a:solidFill>
            <a:schemeClr val="bg1"/>
          </a:solidFill>
        </p:spPr>
        <p:txBody>
          <a:bodyPr wrap="square" rtlCol="0">
            <a:spAutoFit/>
          </a:bodyPr>
          <a:lstStyle/>
          <a:p>
            <a:r>
              <a:rPr lang="en-GB" sz="2400" b="1" dirty="0">
                <a:solidFill>
                  <a:schemeClr val="accent1"/>
                </a:solidFill>
                <a:latin typeface="Century Gothic" panose="020B0502020202020204" pitchFamily="34" charset="0"/>
              </a:rPr>
              <a:t>Yes – because carbon is a more reactive element than copper, so it displaces it and reacts with oxygen.</a:t>
            </a:r>
          </a:p>
        </p:txBody>
      </p:sp>
      <p:sp>
        <p:nvSpPr>
          <p:cNvPr id="7" name="TextBox 6">
            <a:extLst>
              <a:ext uri="{FF2B5EF4-FFF2-40B4-BE49-F238E27FC236}">
                <a16:creationId xmlns:a16="http://schemas.microsoft.com/office/drawing/2014/main" id="{E51F0161-45DE-E4E5-6070-AEB7CA476A1D}"/>
              </a:ext>
            </a:extLst>
          </p:cNvPr>
          <p:cNvSpPr txBox="1"/>
          <p:nvPr/>
        </p:nvSpPr>
        <p:spPr>
          <a:xfrm>
            <a:off x="367471" y="1379041"/>
            <a:ext cx="10620374" cy="523220"/>
          </a:xfrm>
          <a:prstGeom prst="rect">
            <a:avLst/>
          </a:prstGeom>
          <a:noFill/>
        </p:spPr>
        <p:txBody>
          <a:bodyPr wrap="square">
            <a:spAutoFit/>
          </a:bodyPr>
          <a:lstStyle/>
          <a:p>
            <a:pPr algn="ctr"/>
            <a:r>
              <a:rPr lang="en-US" sz="2800" b="1" dirty="0">
                <a:solidFill>
                  <a:schemeClr val="accent2">
                    <a:lumMod val="60000"/>
                    <a:lumOff val="40000"/>
                  </a:schemeClr>
                </a:solidFill>
                <a:latin typeface="Century Gothic" panose="020B0502020202020204" pitchFamily="34" charset="0"/>
              </a:rPr>
              <a:t>2CuO</a:t>
            </a:r>
            <a:r>
              <a:rPr lang="en-US" sz="2800" b="1" baseline="-25000" dirty="0">
                <a:solidFill>
                  <a:schemeClr val="accent2">
                    <a:lumMod val="60000"/>
                    <a:lumOff val="40000"/>
                  </a:schemeClr>
                </a:solidFill>
                <a:latin typeface="Century Gothic" panose="020B0502020202020204" pitchFamily="34" charset="0"/>
              </a:rPr>
              <a:t>(s) </a:t>
            </a:r>
            <a:r>
              <a:rPr lang="en-US" sz="2800" b="1" dirty="0">
                <a:solidFill>
                  <a:schemeClr val="accent2">
                    <a:lumMod val="60000"/>
                    <a:lumOff val="40000"/>
                  </a:schemeClr>
                </a:solidFill>
                <a:latin typeface="Century Gothic" panose="020B0502020202020204" pitchFamily="34" charset="0"/>
              </a:rPr>
              <a:t>+ C</a:t>
            </a:r>
            <a:r>
              <a:rPr lang="en-US" sz="2800" b="1" baseline="-25000" dirty="0">
                <a:solidFill>
                  <a:schemeClr val="accent2">
                    <a:lumMod val="60000"/>
                    <a:lumOff val="40000"/>
                  </a:schemeClr>
                </a:solidFill>
                <a:latin typeface="Century Gothic" panose="020B0502020202020204" pitchFamily="34" charset="0"/>
              </a:rPr>
              <a:t>(s) </a:t>
            </a:r>
            <a:r>
              <a:rPr lang="en-GB" sz="2800" b="1" dirty="0">
                <a:solidFill>
                  <a:schemeClr val="accent2">
                    <a:lumMod val="60000"/>
                    <a:lumOff val="40000"/>
                  </a:schemeClr>
                </a:solidFill>
                <a:latin typeface="Century Gothic" panose="020B0502020202020204" pitchFamily="34" charset="0"/>
              </a:rPr>
              <a:t>→ 2Cu</a:t>
            </a:r>
            <a:r>
              <a:rPr lang="en-GB" sz="2800" b="1" baseline="-25000" dirty="0">
                <a:solidFill>
                  <a:schemeClr val="accent2">
                    <a:lumMod val="60000"/>
                    <a:lumOff val="40000"/>
                  </a:schemeClr>
                </a:solidFill>
                <a:latin typeface="Century Gothic" panose="020B0502020202020204" pitchFamily="34" charset="0"/>
              </a:rPr>
              <a:t> (s)</a:t>
            </a:r>
            <a:r>
              <a:rPr lang="en-GB" sz="2800" b="1" dirty="0">
                <a:solidFill>
                  <a:schemeClr val="accent2">
                    <a:lumMod val="60000"/>
                    <a:lumOff val="40000"/>
                  </a:schemeClr>
                </a:solidFill>
                <a:latin typeface="Century Gothic" panose="020B0502020202020204" pitchFamily="34" charset="0"/>
              </a:rPr>
              <a:t> + CO</a:t>
            </a:r>
            <a:r>
              <a:rPr lang="en-GB" sz="2800" b="1" baseline="-25000" dirty="0">
                <a:solidFill>
                  <a:schemeClr val="accent2">
                    <a:lumMod val="60000"/>
                    <a:lumOff val="40000"/>
                  </a:schemeClr>
                </a:solidFill>
                <a:latin typeface="Century Gothic" panose="020B0502020202020204" pitchFamily="34" charset="0"/>
              </a:rPr>
              <a:t>2(g)</a:t>
            </a:r>
            <a:endParaRPr lang="en-US" sz="2800" b="1" dirty="0">
              <a:solidFill>
                <a:schemeClr val="accent2">
                  <a:lumMod val="60000"/>
                  <a:lumOff val="40000"/>
                </a:schemeClr>
              </a:solidFill>
              <a:latin typeface="Century Gothic" panose="020B0502020202020204" pitchFamily="34" charset="0"/>
            </a:endParaRPr>
          </a:p>
        </p:txBody>
      </p:sp>
      <p:sp>
        <p:nvSpPr>
          <p:cNvPr id="8" name="TextBox 7">
            <a:extLst>
              <a:ext uri="{FF2B5EF4-FFF2-40B4-BE49-F238E27FC236}">
                <a16:creationId xmlns:a16="http://schemas.microsoft.com/office/drawing/2014/main" id="{EB28FEC2-A1FA-CFC4-7505-5F50C52C2850}"/>
              </a:ext>
            </a:extLst>
          </p:cNvPr>
          <p:cNvSpPr txBox="1"/>
          <p:nvPr/>
        </p:nvSpPr>
        <p:spPr>
          <a:xfrm>
            <a:off x="1002104" y="3927775"/>
            <a:ext cx="9695792" cy="830997"/>
          </a:xfrm>
          <a:prstGeom prst="rect">
            <a:avLst/>
          </a:prstGeom>
          <a:solidFill>
            <a:schemeClr val="bg1"/>
          </a:solidFill>
        </p:spPr>
        <p:txBody>
          <a:bodyPr wrap="square" rtlCol="0">
            <a:spAutoFit/>
          </a:bodyPr>
          <a:lstStyle/>
          <a:p>
            <a:r>
              <a:rPr lang="en-GB" sz="2400" b="1" dirty="0">
                <a:solidFill>
                  <a:schemeClr val="accent1"/>
                </a:solidFill>
                <a:latin typeface="Century Gothic" panose="020B0502020202020204" pitchFamily="34" charset="0"/>
              </a:rPr>
              <a:t>Copper is reduced because it gains electrons. It starts as Cu</a:t>
            </a:r>
            <a:r>
              <a:rPr lang="en-GB" sz="2400" b="1" baseline="30000" dirty="0">
                <a:solidFill>
                  <a:schemeClr val="accent1"/>
                </a:solidFill>
                <a:latin typeface="Century Gothic" panose="020B0502020202020204" pitchFamily="34" charset="0"/>
              </a:rPr>
              <a:t>2+ </a:t>
            </a:r>
            <a:r>
              <a:rPr lang="en-GB" sz="2400" b="1" dirty="0">
                <a:solidFill>
                  <a:schemeClr val="accent1"/>
                </a:solidFill>
                <a:latin typeface="Century Gothic" panose="020B0502020202020204" pitchFamily="34" charset="0"/>
              </a:rPr>
              <a:t>in copper oxide and then becomes neutral copper atoms.</a:t>
            </a:r>
          </a:p>
        </p:txBody>
      </p:sp>
    </p:spTree>
    <p:extLst>
      <p:ext uri="{BB962C8B-B14F-4D97-AF65-F5344CB8AC3E}">
        <p14:creationId xmlns:p14="http://schemas.microsoft.com/office/powerpoint/2010/main" val="647742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 grpId="0"/>
      <p:bldP spid="8"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312B80-6F91-F846-B16D-491D27C6968A}"/>
              </a:ext>
            </a:extLst>
          </p:cNvPr>
          <p:cNvSpPr>
            <a:spLocks noGrp="1"/>
          </p:cNvSpPr>
          <p:nvPr>
            <p:ph type="title"/>
          </p:nvPr>
        </p:nvSpPr>
        <p:spPr/>
        <p:txBody>
          <a:bodyPr/>
          <a:lstStyle/>
          <a:p>
            <a:r>
              <a:rPr lang="en-US">
                <a:latin typeface="Century Gothic" panose="020B0502020202020204" pitchFamily="34" charset="0"/>
              </a:rPr>
              <a:t>Answer the questions below.</a:t>
            </a:r>
          </a:p>
        </p:txBody>
      </p:sp>
      <p:sp>
        <p:nvSpPr>
          <p:cNvPr id="3" name="TextBox 2">
            <a:extLst>
              <a:ext uri="{FF2B5EF4-FFF2-40B4-BE49-F238E27FC236}">
                <a16:creationId xmlns:a16="http://schemas.microsoft.com/office/drawing/2014/main" id="{BE4F3523-268C-D64A-BE91-11249F4811AA}"/>
              </a:ext>
            </a:extLst>
          </p:cNvPr>
          <p:cNvSpPr txBox="1"/>
          <p:nvPr/>
        </p:nvSpPr>
        <p:spPr>
          <a:xfrm>
            <a:off x="540000" y="996078"/>
            <a:ext cx="9414757" cy="1938992"/>
          </a:xfrm>
          <a:prstGeom prst="rect">
            <a:avLst/>
          </a:prstGeom>
          <a:noFill/>
        </p:spPr>
        <p:txBody>
          <a:bodyPr wrap="none" rtlCol="0">
            <a:spAutoFit/>
          </a:bodyPr>
          <a:lstStyle/>
          <a:p>
            <a:pPr marL="457200" indent="-457200">
              <a:buAutoNum type="arabicPeriod"/>
            </a:pPr>
            <a:r>
              <a:rPr lang="en-GB" sz="2400" dirty="0">
                <a:latin typeface="Century Gothic" panose="020B0502020202020204" pitchFamily="34" charset="0"/>
              </a:rPr>
              <a:t>Define reduction.</a:t>
            </a:r>
          </a:p>
          <a:p>
            <a:pPr marL="342900" indent="-342900">
              <a:buFont typeface="Wingdings" pitchFamily="2" charset="2"/>
              <a:buChar char="q"/>
            </a:pPr>
            <a:r>
              <a:rPr lang="en-GB" sz="2400" dirty="0">
                <a:latin typeface="Century Gothic" panose="020B0502020202020204" pitchFamily="34" charset="0"/>
              </a:rPr>
              <a:t>A. Reduction is the loss of oxygen or the gain of electrons</a:t>
            </a:r>
          </a:p>
          <a:p>
            <a:pPr marL="342900" indent="-342900">
              <a:buFont typeface="Wingdings" pitchFamily="2" charset="2"/>
              <a:buChar char="q"/>
            </a:pPr>
            <a:r>
              <a:rPr lang="en-GB" sz="2400" dirty="0">
                <a:latin typeface="Century Gothic" panose="020B0502020202020204" pitchFamily="34" charset="0"/>
              </a:rPr>
              <a:t>B. Reduction is the loss of oxygen or the loss of electrons</a:t>
            </a:r>
          </a:p>
          <a:p>
            <a:pPr marL="342900" indent="-342900">
              <a:buFont typeface="Wingdings" pitchFamily="2" charset="2"/>
              <a:buChar char="q"/>
            </a:pPr>
            <a:r>
              <a:rPr lang="en-GB" sz="2400" dirty="0">
                <a:latin typeface="Century Gothic" panose="020B0502020202020204" pitchFamily="34" charset="0"/>
              </a:rPr>
              <a:t>C. Reduction is the gain of oxygen or the gain of electrons</a:t>
            </a:r>
          </a:p>
          <a:p>
            <a:pPr marL="342900" indent="-342900">
              <a:buFont typeface="Wingdings" pitchFamily="2" charset="2"/>
              <a:buChar char="q"/>
            </a:pPr>
            <a:r>
              <a:rPr lang="en-GB" sz="2400" dirty="0">
                <a:latin typeface="Century Gothic" panose="020B0502020202020204" pitchFamily="34" charset="0"/>
              </a:rPr>
              <a:t>D. Reduction is the gain of oxygen or the loss of electrons.</a:t>
            </a:r>
          </a:p>
        </p:txBody>
      </p:sp>
      <p:sp>
        <p:nvSpPr>
          <p:cNvPr id="4" name="TextBox 3">
            <a:extLst>
              <a:ext uri="{FF2B5EF4-FFF2-40B4-BE49-F238E27FC236}">
                <a16:creationId xmlns:a16="http://schemas.microsoft.com/office/drawing/2014/main" id="{49D9FD6F-2370-714D-B4BC-9DA02B16D063}"/>
              </a:ext>
            </a:extLst>
          </p:cNvPr>
          <p:cNvSpPr txBox="1"/>
          <p:nvPr/>
        </p:nvSpPr>
        <p:spPr>
          <a:xfrm>
            <a:off x="540001" y="3214718"/>
            <a:ext cx="10889999" cy="2308324"/>
          </a:xfrm>
          <a:prstGeom prst="rect">
            <a:avLst/>
          </a:prstGeom>
          <a:noFill/>
        </p:spPr>
        <p:txBody>
          <a:bodyPr wrap="square" rtlCol="0">
            <a:spAutoFit/>
          </a:bodyPr>
          <a:lstStyle/>
          <a:p>
            <a:r>
              <a:rPr lang="en-GB" sz="2400" dirty="0">
                <a:latin typeface="Century Gothic" panose="020B0502020202020204" pitchFamily="34" charset="0"/>
              </a:rPr>
              <a:t>2. Magnesium reacts with copper (II) sulfate in a displacement reaction. The chemical equation for this reaction is Mg(s) + CuSO</a:t>
            </a:r>
            <a:r>
              <a:rPr lang="en-GB" sz="2400" baseline="-25000" dirty="0">
                <a:latin typeface="Century Gothic" panose="020B0502020202020204" pitchFamily="34" charset="0"/>
              </a:rPr>
              <a:t>4</a:t>
            </a:r>
            <a:r>
              <a:rPr lang="en-GB" sz="2400" dirty="0">
                <a:latin typeface="Century Gothic" panose="020B0502020202020204" pitchFamily="34" charset="0"/>
              </a:rPr>
              <a:t>(aq) -&gt; MgSO</a:t>
            </a:r>
            <a:r>
              <a:rPr lang="en-GB" sz="2400" baseline="-25000" dirty="0">
                <a:latin typeface="Century Gothic" panose="020B0502020202020204" pitchFamily="34" charset="0"/>
              </a:rPr>
              <a:t>4</a:t>
            </a:r>
            <a:r>
              <a:rPr lang="en-GB" sz="2400" dirty="0">
                <a:latin typeface="Century Gothic" panose="020B0502020202020204" pitchFamily="34" charset="0"/>
              </a:rPr>
              <a:t>(aq) + Cu(s). What is the ionic equation for this reaction?</a:t>
            </a:r>
          </a:p>
          <a:p>
            <a:pPr marL="342900" indent="-342900">
              <a:buFont typeface="Wingdings" pitchFamily="2" charset="2"/>
              <a:buChar char="q"/>
            </a:pPr>
            <a:r>
              <a:rPr lang="en-GB" sz="2400" dirty="0">
                <a:latin typeface="Century Gothic" panose="020B0502020202020204" pitchFamily="34" charset="0"/>
              </a:rPr>
              <a:t>A. Mg(s) + Cu</a:t>
            </a:r>
            <a:r>
              <a:rPr lang="en-GB" sz="2400" baseline="30000" dirty="0">
                <a:latin typeface="Century Gothic" panose="020B0502020202020204" pitchFamily="34" charset="0"/>
              </a:rPr>
              <a:t>2+(</a:t>
            </a:r>
            <a:r>
              <a:rPr lang="en-GB" sz="2400" dirty="0">
                <a:latin typeface="Century Gothic" panose="020B0502020202020204" pitchFamily="34" charset="0"/>
              </a:rPr>
              <a:t>aq) + SO</a:t>
            </a:r>
            <a:r>
              <a:rPr lang="en-GB" sz="2400" baseline="-25000" dirty="0">
                <a:latin typeface="Century Gothic" panose="020B0502020202020204" pitchFamily="34" charset="0"/>
              </a:rPr>
              <a:t>4</a:t>
            </a:r>
            <a:r>
              <a:rPr lang="en-GB" sz="2400" baseline="30000" dirty="0">
                <a:latin typeface="Century Gothic" panose="020B0502020202020204" pitchFamily="34" charset="0"/>
              </a:rPr>
              <a:t>2-</a:t>
            </a:r>
            <a:r>
              <a:rPr lang="en-GB" sz="2400" dirty="0">
                <a:latin typeface="Century Gothic" panose="020B0502020202020204" pitchFamily="34" charset="0"/>
              </a:rPr>
              <a:t>(aq)-&gt; Mg</a:t>
            </a:r>
            <a:r>
              <a:rPr lang="en-GB" sz="2400" baseline="30000" dirty="0">
                <a:latin typeface="Century Gothic" panose="020B0502020202020204" pitchFamily="34" charset="0"/>
              </a:rPr>
              <a:t>2+(</a:t>
            </a:r>
            <a:r>
              <a:rPr lang="en-GB" sz="2400" dirty="0">
                <a:latin typeface="Century Gothic" panose="020B0502020202020204" pitchFamily="34" charset="0"/>
              </a:rPr>
              <a:t>aq) + SO</a:t>
            </a:r>
            <a:r>
              <a:rPr lang="en-GB" sz="2400" baseline="-25000" dirty="0">
                <a:latin typeface="Century Gothic" panose="020B0502020202020204" pitchFamily="34" charset="0"/>
              </a:rPr>
              <a:t>4</a:t>
            </a:r>
            <a:r>
              <a:rPr lang="en-GB" sz="2400" baseline="30000" dirty="0">
                <a:latin typeface="Century Gothic" panose="020B0502020202020204" pitchFamily="34" charset="0"/>
              </a:rPr>
              <a:t>2-</a:t>
            </a:r>
            <a:r>
              <a:rPr lang="en-GB" sz="2400" dirty="0">
                <a:latin typeface="Century Gothic" panose="020B0502020202020204" pitchFamily="34" charset="0"/>
              </a:rPr>
              <a:t>(aq)+ Cu(s)</a:t>
            </a:r>
          </a:p>
          <a:p>
            <a:pPr marL="342900" indent="-342900">
              <a:buFont typeface="Wingdings" pitchFamily="2" charset="2"/>
              <a:buChar char="q"/>
            </a:pPr>
            <a:r>
              <a:rPr lang="en-GB" sz="2400" dirty="0">
                <a:latin typeface="Century Gothic" panose="020B0502020202020204" pitchFamily="34" charset="0"/>
              </a:rPr>
              <a:t>B. Mg(s) + Cu</a:t>
            </a:r>
            <a:r>
              <a:rPr lang="en-GB" sz="2400" baseline="30000" dirty="0">
                <a:latin typeface="Century Gothic" panose="020B0502020202020204" pitchFamily="34" charset="0"/>
              </a:rPr>
              <a:t>2+(</a:t>
            </a:r>
            <a:r>
              <a:rPr lang="en-GB" sz="2400" dirty="0">
                <a:latin typeface="Century Gothic" panose="020B0502020202020204" pitchFamily="34" charset="0"/>
              </a:rPr>
              <a:t>aq) → Mg</a:t>
            </a:r>
            <a:r>
              <a:rPr lang="en-GB" sz="2400" baseline="30000" dirty="0">
                <a:latin typeface="Century Gothic" panose="020B0502020202020204" pitchFamily="34" charset="0"/>
              </a:rPr>
              <a:t>2+</a:t>
            </a:r>
            <a:r>
              <a:rPr lang="en-GB" sz="2400" dirty="0">
                <a:latin typeface="Century Gothic" panose="020B0502020202020204" pitchFamily="34" charset="0"/>
              </a:rPr>
              <a:t>(aq) + Cu(s)</a:t>
            </a:r>
          </a:p>
          <a:p>
            <a:pPr marL="342900" indent="-342900">
              <a:buFont typeface="Wingdings" pitchFamily="2" charset="2"/>
              <a:buChar char="q"/>
            </a:pPr>
            <a:r>
              <a:rPr lang="en-GB" sz="2400" dirty="0">
                <a:latin typeface="Century Gothic" panose="020B0502020202020204" pitchFamily="34" charset="0"/>
              </a:rPr>
              <a:t>C. 2Mg(s) + Cu</a:t>
            </a:r>
            <a:r>
              <a:rPr lang="en-GB" sz="2400" baseline="30000" dirty="0">
                <a:latin typeface="Century Gothic" panose="020B0502020202020204" pitchFamily="34" charset="0"/>
              </a:rPr>
              <a:t>2+(</a:t>
            </a:r>
            <a:r>
              <a:rPr lang="en-GB" sz="2400" dirty="0">
                <a:latin typeface="Century Gothic" panose="020B0502020202020204" pitchFamily="34" charset="0"/>
              </a:rPr>
              <a:t>aq) → Mg</a:t>
            </a:r>
            <a:r>
              <a:rPr lang="en-GB" sz="2400" baseline="30000" dirty="0">
                <a:latin typeface="Century Gothic" panose="020B0502020202020204" pitchFamily="34" charset="0"/>
              </a:rPr>
              <a:t>2+</a:t>
            </a:r>
            <a:r>
              <a:rPr lang="en-GB" sz="2400" dirty="0">
                <a:latin typeface="Century Gothic" panose="020B0502020202020204" pitchFamily="34" charset="0"/>
              </a:rPr>
              <a:t>(aq) + 2Cu(s)</a:t>
            </a:r>
          </a:p>
        </p:txBody>
      </p:sp>
      <p:sp>
        <p:nvSpPr>
          <p:cNvPr id="6" name="TextBox 5">
            <a:extLst>
              <a:ext uri="{FF2B5EF4-FFF2-40B4-BE49-F238E27FC236}">
                <a16:creationId xmlns:a16="http://schemas.microsoft.com/office/drawing/2014/main" id="{414A8B36-6BDF-BE4B-8892-9B947E7C3878}"/>
              </a:ext>
            </a:extLst>
          </p:cNvPr>
          <p:cNvSpPr txBox="1"/>
          <p:nvPr/>
        </p:nvSpPr>
        <p:spPr>
          <a:xfrm>
            <a:off x="540000" y="1209216"/>
            <a:ext cx="530915" cy="646331"/>
          </a:xfrm>
          <a:prstGeom prst="rect">
            <a:avLst/>
          </a:prstGeom>
          <a:noFill/>
        </p:spPr>
        <p:txBody>
          <a:bodyPr wrap="none" rtlCol="0">
            <a:spAutoFit/>
          </a:bodyPr>
          <a:lstStyle/>
          <a:p>
            <a:r>
              <a:rPr lang="en-GB" sz="3600" b="1" dirty="0">
                <a:solidFill>
                  <a:srgbClr val="0070C0"/>
                </a:solidFill>
              </a:rPr>
              <a:t>✓</a:t>
            </a:r>
          </a:p>
        </p:txBody>
      </p:sp>
      <p:sp>
        <p:nvSpPr>
          <p:cNvPr id="7" name="TextBox 6">
            <a:extLst>
              <a:ext uri="{FF2B5EF4-FFF2-40B4-BE49-F238E27FC236}">
                <a16:creationId xmlns:a16="http://schemas.microsoft.com/office/drawing/2014/main" id="{35D929A0-231D-1240-9D4E-D34941075FB6}"/>
              </a:ext>
            </a:extLst>
          </p:cNvPr>
          <p:cNvSpPr txBox="1"/>
          <p:nvPr/>
        </p:nvSpPr>
        <p:spPr>
          <a:xfrm>
            <a:off x="540000" y="4489195"/>
            <a:ext cx="530915" cy="646331"/>
          </a:xfrm>
          <a:prstGeom prst="rect">
            <a:avLst/>
          </a:prstGeom>
          <a:noFill/>
        </p:spPr>
        <p:txBody>
          <a:bodyPr wrap="none" rtlCol="0">
            <a:spAutoFit/>
          </a:bodyPr>
          <a:lstStyle/>
          <a:p>
            <a:r>
              <a:rPr lang="en-GB" sz="3600" b="1" dirty="0">
                <a:solidFill>
                  <a:srgbClr val="0070C0"/>
                </a:solidFill>
              </a:rPr>
              <a:t>✓</a:t>
            </a:r>
          </a:p>
        </p:txBody>
      </p:sp>
    </p:spTree>
    <p:extLst>
      <p:ext uri="{BB962C8B-B14F-4D97-AF65-F5344CB8AC3E}">
        <p14:creationId xmlns:p14="http://schemas.microsoft.com/office/powerpoint/2010/main" val="12424157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312B80-6F91-F846-B16D-491D27C6968A}"/>
              </a:ext>
            </a:extLst>
          </p:cNvPr>
          <p:cNvSpPr>
            <a:spLocks noGrp="1"/>
          </p:cNvSpPr>
          <p:nvPr>
            <p:ph type="title"/>
          </p:nvPr>
        </p:nvSpPr>
        <p:spPr/>
        <p:txBody>
          <a:bodyPr/>
          <a:lstStyle/>
          <a:p>
            <a:r>
              <a:rPr lang="en-US">
                <a:latin typeface="Century Gothic" panose="020B0502020202020204" pitchFamily="34" charset="0"/>
              </a:rPr>
              <a:t>Answer the questions below.</a:t>
            </a:r>
          </a:p>
        </p:txBody>
      </p:sp>
      <p:sp>
        <p:nvSpPr>
          <p:cNvPr id="3" name="TextBox 2">
            <a:extLst>
              <a:ext uri="{FF2B5EF4-FFF2-40B4-BE49-F238E27FC236}">
                <a16:creationId xmlns:a16="http://schemas.microsoft.com/office/drawing/2014/main" id="{BE4F3523-268C-D64A-BE91-11249F4811AA}"/>
              </a:ext>
            </a:extLst>
          </p:cNvPr>
          <p:cNvSpPr txBox="1"/>
          <p:nvPr/>
        </p:nvSpPr>
        <p:spPr>
          <a:xfrm>
            <a:off x="540000" y="996078"/>
            <a:ext cx="10620000" cy="3046988"/>
          </a:xfrm>
          <a:prstGeom prst="rect">
            <a:avLst/>
          </a:prstGeom>
          <a:noFill/>
        </p:spPr>
        <p:txBody>
          <a:bodyPr wrap="square" rtlCol="0">
            <a:spAutoFit/>
          </a:bodyPr>
          <a:lstStyle/>
          <a:p>
            <a:r>
              <a:rPr lang="en-GB" sz="2400" dirty="0">
                <a:latin typeface="Century Gothic" panose="020B0502020202020204" pitchFamily="34" charset="0"/>
              </a:rPr>
              <a:t>3. Sodium atoms are sometimes oxidised to become positively charged sodium ions. Why is this an oxidation reaction?</a:t>
            </a:r>
          </a:p>
          <a:p>
            <a:pPr marL="342900" indent="-342900">
              <a:buFont typeface="Wingdings" pitchFamily="2" charset="2"/>
              <a:buChar char="q"/>
            </a:pPr>
            <a:r>
              <a:rPr lang="en-GB" sz="2400" dirty="0">
                <a:latin typeface="Century Gothic" panose="020B0502020202020204" pitchFamily="34" charset="0"/>
              </a:rPr>
              <a:t>A. Because oxygen is added to the sodium atoms</a:t>
            </a:r>
          </a:p>
          <a:p>
            <a:pPr marL="342900" indent="-342900">
              <a:buFont typeface="Wingdings" pitchFamily="2" charset="2"/>
              <a:buChar char="q"/>
            </a:pPr>
            <a:r>
              <a:rPr lang="en-GB" sz="2400" dirty="0">
                <a:latin typeface="Century Gothic" panose="020B0502020202020204" pitchFamily="34" charset="0"/>
              </a:rPr>
              <a:t>B. Because oxygen is lost from the sodium atoms</a:t>
            </a:r>
          </a:p>
          <a:p>
            <a:pPr marL="342900" indent="-342900">
              <a:buFont typeface="Wingdings" pitchFamily="2" charset="2"/>
              <a:buChar char="q"/>
            </a:pPr>
            <a:r>
              <a:rPr lang="en-GB" sz="2400" dirty="0">
                <a:latin typeface="Century Gothic" panose="020B0502020202020204" pitchFamily="34" charset="0"/>
              </a:rPr>
              <a:t>C. Because the sodium atoms lose electrons to become positively charged</a:t>
            </a:r>
          </a:p>
          <a:p>
            <a:pPr marL="342900" indent="-342900">
              <a:buFont typeface="Wingdings" pitchFamily="2" charset="2"/>
              <a:buChar char="q"/>
            </a:pPr>
            <a:r>
              <a:rPr lang="en-GB" sz="2400" dirty="0">
                <a:latin typeface="Century Gothic" panose="020B0502020202020204" pitchFamily="34" charset="0"/>
              </a:rPr>
              <a:t>D. Because the sodium atoms gain electrons to become positively charged</a:t>
            </a:r>
          </a:p>
        </p:txBody>
      </p:sp>
      <p:sp>
        <p:nvSpPr>
          <p:cNvPr id="6" name="TextBox 5">
            <a:extLst>
              <a:ext uri="{FF2B5EF4-FFF2-40B4-BE49-F238E27FC236}">
                <a16:creationId xmlns:a16="http://schemas.microsoft.com/office/drawing/2014/main" id="{414A8B36-6BDF-BE4B-8892-9B947E7C3878}"/>
              </a:ext>
            </a:extLst>
          </p:cNvPr>
          <p:cNvSpPr txBox="1"/>
          <p:nvPr/>
        </p:nvSpPr>
        <p:spPr>
          <a:xfrm>
            <a:off x="540000" y="2268595"/>
            <a:ext cx="530915" cy="646331"/>
          </a:xfrm>
          <a:prstGeom prst="rect">
            <a:avLst/>
          </a:prstGeom>
          <a:noFill/>
        </p:spPr>
        <p:txBody>
          <a:bodyPr wrap="none" rtlCol="0">
            <a:spAutoFit/>
          </a:bodyPr>
          <a:lstStyle/>
          <a:p>
            <a:r>
              <a:rPr lang="en-GB" sz="3600" b="1" dirty="0">
                <a:solidFill>
                  <a:srgbClr val="0070C0"/>
                </a:solidFill>
              </a:rPr>
              <a:t>✓</a:t>
            </a:r>
          </a:p>
        </p:txBody>
      </p:sp>
    </p:spTree>
    <p:extLst>
      <p:ext uri="{BB962C8B-B14F-4D97-AF65-F5344CB8AC3E}">
        <p14:creationId xmlns:p14="http://schemas.microsoft.com/office/powerpoint/2010/main" val="1224344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E8756AD595E1543893B9C37A0C9C8FD" ma:contentTypeVersion="21" ma:contentTypeDescription="Create a new document." ma:contentTypeScope="" ma:versionID="64b1032288ab72dc7f2345e0587662ef">
  <xsd:schema xmlns:xsd="http://www.w3.org/2001/XMLSchema" xmlns:xs="http://www.w3.org/2001/XMLSchema" xmlns:p="http://schemas.microsoft.com/office/2006/metadata/properties" xmlns:ns2="65a4e5fc-8c76-4ebf-8d85-4508e738e527" xmlns:ns3="97260271-9b44-431f-a802-d08909452894" targetNamespace="http://schemas.microsoft.com/office/2006/metadata/properties" ma:root="true" ma:fieldsID="aacaa07c85aefd71e1dbb9b2437b615f" ns2:_="" ns3:_="">
    <xsd:import namespace="65a4e5fc-8c76-4ebf-8d85-4508e738e527"/>
    <xsd:import namespace="97260271-9b44-431f-a802-d08909452894"/>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ServiceLocation" minOccurs="0"/>
                <xsd:element ref="ns3:SharedWithUsers" minOccurs="0"/>
                <xsd:element ref="ns3:SharedWithDetails"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2:_Flow_SignoffStatus" minOccurs="0"/>
                <xsd:element ref="ns2:Complete"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5a4e5fc-8c76-4ebf-8d85-4508e738e52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Location" ma:index="15" nillable="true" ma:displayName="Location" ma:internalName="MediaServiceLocatio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9ece25d9-12d7-4481-8120-14121ffe4470" ma:termSetId="09814cd3-568e-fe90-9814-8d621ff8fb84" ma:anchorId="fba54fb3-c3e1-fe81-a776-ca4b69148c4d" ma:open="true" ma:isKeyword="false">
      <xsd:complexType>
        <xsd:sequence>
          <xsd:element ref="pc:Terms" minOccurs="0" maxOccurs="1"/>
        </xsd:sequence>
      </xsd:complexType>
    </xsd:element>
    <xsd:element name="_Flow_SignoffStatus" ma:index="24" nillable="true" ma:displayName="Sign-off status" ma:internalName="Sign_x002d_off_x0020_status">
      <xsd:simpleType>
        <xsd:restriction base="dms:Text"/>
      </xsd:simpleType>
    </xsd:element>
    <xsd:element name="Complete" ma:index="25" nillable="true" ma:displayName="Complete" ma:default="1" ma:format="Dropdown" ma:internalName="Complete">
      <xsd:simpleType>
        <xsd:restriction base="dms:Boolean"/>
      </xsd:simple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element name="MediaServiceBillingMetadata" ma:index="28"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7260271-9b44-431f-a802-d08909452894"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56ab9708-1e81-4924-b61c-30706acb3c8f}" ma:internalName="TaxCatchAll" ma:showField="CatchAllData" ma:web="97260271-9b44-431f-a802-d0890945289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97260271-9b44-431f-a802-d08909452894" xsi:nil="true"/>
    <_Flow_SignoffStatus xmlns="65a4e5fc-8c76-4ebf-8d85-4508e738e527" xsi:nil="true"/>
    <lcf76f155ced4ddcb4097134ff3c332f xmlns="65a4e5fc-8c76-4ebf-8d85-4508e738e527">
      <Terms xmlns="http://schemas.microsoft.com/office/infopath/2007/PartnerControls"/>
    </lcf76f155ced4ddcb4097134ff3c332f>
    <Complete xmlns="65a4e5fc-8c76-4ebf-8d85-4508e738e527">true</Complet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18E27D1-10DA-47F8-B61D-E36F74D7877A}">
  <ds:schemaRefs>
    <ds:schemaRef ds:uri="65a4e5fc-8c76-4ebf-8d85-4508e738e527"/>
    <ds:schemaRef ds:uri="97260271-9b44-431f-a802-d0890945289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32399761-A4E1-4B8C-A6BD-461911EFB2C2}">
  <ds:schemaRefs>
    <ds:schemaRef ds:uri="65a4e5fc-8c76-4ebf-8d85-4508e738e527"/>
    <ds:schemaRef ds:uri="97260271-9b44-431f-a802-d08909452894"/>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1E8B0502-705D-4976-994E-F2B0BB2A2AC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827</TotalTime>
  <Words>4871</Words>
  <Application>Microsoft Macintosh PowerPoint</Application>
  <PresentationFormat>Widescreen</PresentationFormat>
  <Paragraphs>430</Paragraphs>
  <Slides>26</Slides>
  <Notes>26</Notes>
  <HiddenSlides>8</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26</vt:i4>
      </vt:variant>
    </vt:vector>
  </HeadingPairs>
  <TitlesOfParts>
    <vt:vector size="34" baseType="lpstr">
      <vt:lpstr>Aptos</vt:lpstr>
      <vt:lpstr>Aptos Display</vt:lpstr>
      <vt:lpstr>Arial</vt:lpstr>
      <vt:lpstr>Calibri</vt:lpstr>
      <vt:lpstr>Century Gothic</vt:lpstr>
      <vt:lpstr>Georgia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(a) Identify the ions present in each of these formulae (b) State how many of each ion is in the formula</vt:lpstr>
      <vt:lpstr>PowerPoint Presentation</vt:lpstr>
      <vt:lpstr>PowerPoint Presentation</vt:lpstr>
      <vt:lpstr>PowerPoint Presentation</vt:lpstr>
      <vt:lpstr>PowerPoint Presentation</vt:lpstr>
      <vt:lpstr>Write an ionic equation for the chemical reaction below.</vt:lpstr>
      <vt:lpstr>I: Writing ionic equations</vt:lpstr>
      <vt:lpstr>We: Writing ionic equations</vt:lpstr>
      <vt:lpstr>You: Writing ionic equations</vt:lpstr>
      <vt:lpstr>Activity</vt:lpstr>
      <vt:lpstr>Answers – Section A</vt:lpstr>
      <vt:lpstr>Answers – Section A</vt:lpstr>
      <vt:lpstr>Answers – Section B</vt:lpstr>
      <vt:lpstr>Answers – Section B</vt:lpstr>
      <vt:lpstr>Answers – Section B</vt:lpstr>
      <vt:lpstr>Answers – Section C</vt:lpstr>
      <vt:lpstr>Answers – Section C</vt:lpstr>
      <vt:lpstr>Answers – Section C</vt:lpstr>
      <vt:lpstr>Answer the questions below.</vt:lpstr>
      <vt:lpstr>Answer the questions below.</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Nick Myint (Chobham)</dc:creator>
  <cp:lastModifiedBy>Maria Sharif</cp:lastModifiedBy>
  <cp:revision>37</cp:revision>
  <dcterms:created xsi:type="dcterms:W3CDTF">2025-08-22T20:39:15Z</dcterms:created>
  <dcterms:modified xsi:type="dcterms:W3CDTF">2025-12-01T18:35:20Z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0x0101009E8756AD595E1543893B9C37A0C9C8FD</vt:lpwstr>
  </property>
  <property fmtid="{D5CDD505-2E9C-101B-9397-08002B2CF9AE}" pid="3" name="MediaServiceImageTags">
    <vt:lpwstr/>
  </property>
</Properties>
</file>