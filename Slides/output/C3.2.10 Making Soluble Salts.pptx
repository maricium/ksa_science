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72" r:id="rId5"/>
    <p:sldId id="281" r:id="rId6"/>
    <p:sldId id="280" r:id="rId7"/>
    <p:sldId id="273" r:id="rId8"/>
    <p:sldId id="1421" r:id="rId9"/>
    <p:sldId id="1419" r:id="rId10"/>
    <p:sldId id="275" r:id="rId11"/>
    <p:sldId id="282" r:id="rId12"/>
    <p:sldId id="283" r:id="rId13"/>
    <p:sldId id="284" r:id="rId14"/>
    <p:sldId id="277" r:id="rId15"/>
    <p:sldId id="279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965"/>
    <p:restoredTop sz="82643"/>
  </p:normalViewPr>
  <p:slideViewPr>
    <p:cSldViewPr snapToGrid="0">
      <p:cViewPr varScale="1">
        <p:scale>
          <a:sx n="92" d="100"/>
          <a:sy n="92" d="100"/>
        </p:scale>
        <p:origin x="2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Making Soluble Salts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Making Soluble Salts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Making Soluble Salts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Making Soluble Salts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Sunday,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Markscheme not available.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3C7AB-13C5-9B68-798E-96A62E56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AF24-DDD8-96F6-696F-A142E350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MWB Quiz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3F28C-E0AF-80A2-9AB0-F062BBC6B840}"/>
              </a:ext>
            </a:extLst>
          </p:cNvPr>
          <p:cNvSpPr txBox="1"/>
          <p:nvPr/>
        </p:nvSpPr>
        <p:spPr>
          <a:xfrm>
            <a:off x="96253" y="1690688"/>
            <a:ext cx="119994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name of an organism that eats other organisms?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used to increase the yield of a farmer’s field?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an extreme food shortage?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having enough food to feed a population?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process of minerals moving through the soil due to rain fall?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3EEE5-50D2-CF13-19F8-36FB9E31BE05}"/>
              </a:ext>
            </a:extLst>
          </p:cNvPr>
          <p:cNvSpPr/>
          <p:nvPr/>
        </p:nvSpPr>
        <p:spPr>
          <a:xfrm>
            <a:off x="164122" y="2527424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D0941-492C-FFA0-D283-86775E3927C1}"/>
              </a:ext>
            </a:extLst>
          </p:cNvPr>
          <p:cNvSpPr/>
          <p:nvPr/>
        </p:nvSpPr>
        <p:spPr>
          <a:xfrm>
            <a:off x="152400" y="3336312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80CEE-A717-5268-34EA-A8A09F12B810}"/>
              </a:ext>
            </a:extLst>
          </p:cNvPr>
          <p:cNvSpPr/>
          <p:nvPr/>
        </p:nvSpPr>
        <p:spPr>
          <a:xfrm>
            <a:off x="140676" y="4262437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8538A-1F9F-7292-28CF-393809579CDC}"/>
              </a:ext>
            </a:extLst>
          </p:cNvPr>
          <p:cNvSpPr/>
          <p:nvPr/>
        </p:nvSpPr>
        <p:spPr>
          <a:xfrm>
            <a:off x="140676" y="5188563"/>
            <a:ext cx="11744055" cy="7667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4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0805-1F4D-8ABE-929D-493E027B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7CE0-5774-BAA3-AD2B-BA960276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MWB Quiz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40502-DAB7-E403-631B-BF6E7FE693E4}"/>
              </a:ext>
            </a:extLst>
          </p:cNvPr>
          <p:cNvSpPr txBox="1"/>
          <p:nvPr/>
        </p:nvSpPr>
        <p:spPr>
          <a:xfrm>
            <a:off x="1" y="1690687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name of an organism that eats other organisms?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Predator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accent3"/>
              </a:solidFill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used to increase the yield of a farmer’s field?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Fertiliser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an extreme food shortage?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Famine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having enough food to feed a population?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Food security 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>
              <a:solidFill>
                <a:schemeClr val="accent3"/>
              </a:solidFill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process of minerals moving through the soil due to rain fall?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Leaching</a:t>
            </a:r>
            <a:r>
              <a:rPr lang="en-US" sz="2800" dirty="0">
                <a:solidFill>
                  <a:schemeClr val="accent3"/>
                </a:solidFill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18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17/04/2024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Making Soluble Salts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C3.2.10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C3.2.1 Prior Knowledge Review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C3.2.2 Relative Formula Mass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C3.2.3 Percentage by Mass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C3.2.4 Conservation of Mass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C3.2.5 Balancing Equations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C3.2.6 Uncertainty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C3.2.7 Introducing Concentration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C3.2.8 Concentration Calculations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C3.2.9 Soluble Salts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C3.2.10 Making Soluble Salts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C3.2.11 Making Soluble Salts 2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Which of the following is a precaution when preparing a soluble salt?</a:t>
            </a:r>
          </a:p>
          <a:p>
            <a:r>
              <a:rPr sz="2100">
                <a:latin typeface="Century Gothic"/>
              </a:rPr>
              <a:t>A. Concentrated acid is corrosive.</a:t>
            </a:r>
          </a:p>
          <a:p>
            <a:r>
              <a:rPr sz="2100">
                <a:latin typeface="Century Gothic"/>
              </a:rPr>
              <a:t>B. Allow hot glassware to cool before touching it.</a:t>
            </a:r>
          </a:p>
          <a:p>
            <a:r>
              <a:rPr sz="2100">
                <a:latin typeface="Century Gothic"/>
              </a:rPr>
              <a:t>C. Concentrated acid can cause chemical burns.</a:t>
            </a:r>
          </a:p>
          <a:p/>
          <a:p>
            <a:r>
              <a:rPr sz="2100">
                <a:latin typeface="Century Gothic"/>
              </a:rPr>
              <a:t>After which process/technique are you left with a copper oxide residue?</a:t>
            </a:r>
          </a:p>
          <a:p>
            <a:r>
              <a:rPr sz="2100">
                <a:latin typeface="Century Gothic"/>
              </a:rPr>
              <a:t>A. crystallisation</a:t>
            </a:r>
          </a:p>
          <a:p>
            <a:r>
              <a:rPr sz="2100">
                <a:latin typeface="Century Gothic"/>
              </a:rPr>
              <a:t>B. evaporation</a:t>
            </a:r>
          </a:p>
          <a:p>
            <a:r>
              <a:rPr sz="2100">
                <a:latin typeface="Century Gothic"/>
              </a:rPr>
              <a:t>C. filtration</a:t>
            </a:r>
          </a:p>
          <a:p/>
          <a:p>
            <a:r>
              <a:rPr sz="2100">
                <a:latin typeface="Century Gothic"/>
              </a:rPr>
              <a:t>Once the copper sulfate solution is prepared, why do we evaporate off some water using the Bunsen burner?</a:t>
            </a:r>
          </a:p>
          <a:p>
            <a:r>
              <a:rPr sz="2100">
                <a:latin typeface="Century Gothic"/>
              </a:rPr>
              <a:t>A. to make the solution stronger</a:t>
            </a:r>
          </a:p>
          <a:p>
            <a:r>
              <a:rPr sz="2100">
                <a:latin typeface="Century Gothic"/>
              </a:rPr>
              <a:t>B. to make the reaction happen faster</a:t>
            </a:r>
          </a:p>
          <a:p>
            <a:r>
              <a:rPr sz="2100">
                <a:latin typeface="Century Gothic"/>
              </a:rPr>
              <a:t>C. to make the solution more concentrated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Props1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461</Words>
  <Application>Microsoft Macintosh PowerPoint</Application>
  <PresentationFormat>Widescreen</PresentationFormat>
  <Paragraphs>92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MWB Quiz</vt:lpstr>
      <vt:lpstr>MWB 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37</cp:revision>
  <dcterms:created xsi:type="dcterms:W3CDTF">2025-08-22T20:39:15Z</dcterms:created>
  <dcterms:modified xsi:type="dcterms:W3CDTF">2026-01-18T20:07:34Z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